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Lst>
  <p:notesMasterIdLst>
    <p:notesMasterId r:id="rId45"/>
  </p:notesMasterIdLst>
  <p:sldIdLst>
    <p:sldId id="256" r:id="rId14"/>
    <p:sldId id="257" r:id="rId15"/>
    <p:sldId id="294" r:id="rId16"/>
    <p:sldId id="296" r:id="rId17"/>
    <p:sldId id="291" r:id="rId18"/>
    <p:sldId id="292" r:id="rId19"/>
    <p:sldId id="323" r:id="rId20"/>
    <p:sldId id="277" r:id="rId21"/>
    <p:sldId id="307" r:id="rId22"/>
    <p:sldId id="316" r:id="rId23"/>
    <p:sldId id="317" r:id="rId24"/>
    <p:sldId id="318" r:id="rId25"/>
    <p:sldId id="319" r:id="rId26"/>
    <p:sldId id="298" r:id="rId27"/>
    <p:sldId id="299" r:id="rId28"/>
    <p:sldId id="301" r:id="rId29"/>
    <p:sldId id="309" r:id="rId30"/>
    <p:sldId id="302" r:id="rId31"/>
    <p:sldId id="320" r:id="rId32"/>
    <p:sldId id="310" r:id="rId33"/>
    <p:sldId id="311" r:id="rId34"/>
    <p:sldId id="312" r:id="rId35"/>
    <p:sldId id="313" r:id="rId36"/>
    <p:sldId id="314" r:id="rId37"/>
    <p:sldId id="315" r:id="rId38"/>
    <p:sldId id="306" r:id="rId39"/>
    <p:sldId id="293" r:id="rId40"/>
    <p:sldId id="304" r:id="rId41"/>
    <p:sldId id="305" r:id="rId42"/>
    <p:sldId id="321" r:id="rId43"/>
    <p:sldId id="29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404D"/>
    <a:srgbClr val="194774"/>
    <a:srgbClr val="DCEAF7"/>
    <a:srgbClr val="597495"/>
    <a:srgbClr val="215F9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94660"/>
  </p:normalViewPr>
  <p:slideViewPr>
    <p:cSldViewPr snapToGrid="0">
      <p:cViewPr varScale="1">
        <p:scale>
          <a:sx n="78" d="100"/>
          <a:sy n="78" d="100"/>
        </p:scale>
        <p:origin x="240" y="62"/>
      </p:cViewPr>
      <p:guideLst/>
    </p:cSldViewPr>
  </p:slideViewPr>
  <p:notesTextViewPr>
    <p:cViewPr>
      <p:scale>
        <a:sx n="3" d="2"/>
        <a:sy n="3" d="2"/>
      </p:scale>
      <p:origin x="0" y="0"/>
    </p:cViewPr>
  </p:notesTextViewPr>
  <p:notesViewPr>
    <p:cSldViewPr snapToGrid="0">
      <p:cViewPr varScale="1">
        <p:scale>
          <a:sx n="62" d="100"/>
          <a:sy n="62" d="100"/>
        </p:scale>
        <p:origin x="3226" y="5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11.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presProps" Target="presProps.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300" b="0" i="0" u="none" strike="noStrike">
                <a:solidFill>
                  <a:srgbClr val="1A1D26"/>
                </a:solidFill>
                <a:latin typeface="Calibri"/>
              </a:defRPr>
            </a:pPr>
            <a:r>
              <a:rPr lang="en-US" sz="1300" b="0" i="0" u="none" strike="noStrike">
                <a:solidFill>
                  <a:srgbClr val="1A1D26"/>
                </a:solidFill>
                <a:latin typeface="Calibri"/>
              </a:rPr>
              <a:t>Per-epoch training loss</a:t>
            </a:r>
          </a:p>
        </c:rich>
      </c:tx>
      <c:overlay val="0"/>
    </c:title>
    <c:autoTitleDeleted val="0"/>
    <c:plotArea>
      <c:layout/>
      <c:lineChart>
        <c:grouping val="standard"/>
        <c:varyColors val="0"/>
        <c:ser>
          <c:idx val="0"/>
          <c:order val="0"/>
          <c:tx>
            <c:strRef>
              <c:f>Sheet1!$B$1</c:f>
              <c:strCache>
                <c:ptCount val="1"/>
                <c:pt idx="0">
                  <c:v>Train loss (sum BCE)</c:v>
                </c:pt>
              </c:strCache>
            </c:strRef>
          </c:tx>
          <c:spPr>
            <a:ln w="31750" cap="flat">
              <a:solidFill>
                <a:srgbClr val="0EA89C"/>
              </a:solidFill>
              <a:prstDash val="solid"/>
              <a:round/>
            </a:ln>
            <a:effectLst/>
          </c:spPr>
          <c:marker>
            <c:symbol val="none"/>
          </c:marker>
          <c:cat>
            <c:strRef>
              <c:f>Sheet1!$A$2:$A$61</c:f>
              <c:strCache>
                <c:ptCount val="60"/>
                <c:pt idx="0">
                  <c:v>0</c:v>
                </c:pt>
                <c:pt idx="5">
                  <c:v>5</c:v>
                </c:pt>
                <c:pt idx="10">
                  <c:v>10</c:v>
                </c:pt>
                <c:pt idx="15">
                  <c:v>15</c:v>
                </c:pt>
                <c:pt idx="20">
                  <c:v>20</c:v>
                </c:pt>
                <c:pt idx="25">
                  <c:v>25</c:v>
                </c:pt>
                <c:pt idx="30">
                  <c:v>30</c:v>
                </c:pt>
                <c:pt idx="35">
                  <c:v>35</c:v>
                </c:pt>
                <c:pt idx="40">
                  <c:v>40</c:v>
                </c:pt>
                <c:pt idx="45">
                  <c:v>45</c:v>
                </c:pt>
                <c:pt idx="50">
                  <c:v>50</c:v>
                </c:pt>
                <c:pt idx="55">
                  <c:v>55</c:v>
                </c:pt>
              </c:strCache>
            </c:strRef>
          </c:cat>
          <c:val>
            <c:numRef>
              <c:f>Sheet1!$B$2:$B$61</c:f>
              <c:numCache>
                <c:formatCode>General</c:formatCode>
                <c:ptCount val="60"/>
                <c:pt idx="0">
                  <c:v>17937.776699999999</c:v>
                </c:pt>
                <c:pt idx="1">
                  <c:v>14190.683800000001</c:v>
                </c:pt>
                <c:pt idx="2">
                  <c:v>12939.762000000001</c:v>
                </c:pt>
                <c:pt idx="3">
                  <c:v>12369.193499999999</c:v>
                </c:pt>
                <c:pt idx="4">
                  <c:v>11918.575199999999</c:v>
                </c:pt>
                <c:pt idx="5">
                  <c:v>11539.450800000001</c:v>
                </c:pt>
                <c:pt idx="6">
                  <c:v>11305.3068</c:v>
                </c:pt>
                <c:pt idx="7">
                  <c:v>11138.265100000001</c:v>
                </c:pt>
                <c:pt idx="8">
                  <c:v>10785.9609</c:v>
                </c:pt>
                <c:pt idx="9">
                  <c:v>10509.4247</c:v>
                </c:pt>
                <c:pt idx="10">
                  <c:v>10477.184800000001</c:v>
                </c:pt>
                <c:pt idx="11">
                  <c:v>10219.533799999999</c:v>
                </c:pt>
                <c:pt idx="12">
                  <c:v>10032.193600000001</c:v>
                </c:pt>
                <c:pt idx="13">
                  <c:v>9825.6028000000006</c:v>
                </c:pt>
                <c:pt idx="14">
                  <c:v>9500.4531999999999</c:v>
                </c:pt>
                <c:pt idx="15">
                  <c:v>9312.2386999999999</c:v>
                </c:pt>
                <c:pt idx="16">
                  <c:v>9293.5704999999998</c:v>
                </c:pt>
                <c:pt idx="17">
                  <c:v>9846.1208000000006</c:v>
                </c:pt>
                <c:pt idx="18">
                  <c:v>8979.4802999999993</c:v>
                </c:pt>
                <c:pt idx="19">
                  <c:v>8665.4696000000004</c:v>
                </c:pt>
                <c:pt idx="20">
                  <c:v>8627.6402999999991</c:v>
                </c:pt>
                <c:pt idx="21">
                  <c:v>8401.4876000000004</c:v>
                </c:pt>
                <c:pt idx="22">
                  <c:v>8323.9958999999999</c:v>
                </c:pt>
                <c:pt idx="23">
                  <c:v>8317.0660000000007</c:v>
                </c:pt>
                <c:pt idx="24">
                  <c:v>8466.3281999999999</c:v>
                </c:pt>
                <c:pt idx="25">
                  <c:v>8344.7922999999992</c:v>
                </c:pt>
                <c:pt idx="26">
                  <c:v>7985.4059999999999</c:v>
                </c:pt>
                <c:pt idx="27">
                  <c:v>7875.0082000000002</c:v>
                </c:pt>
                <c:pt idx="28">
                  <c:v>8008.1004999999996</c:v>
                </c:pt>
                <c:pt idx="29">
                  <c:v>7856.8</c:v>
                </c:pt>
                <c:pt idx="30">
                  <c:v>7543.5228999999999</c:v>
                </c:pt>
                <c:pt idx="31">
                  <c:v>7198.5019000000002</c:v>
                </c:pt>
                <c:pt idx="32">
                  <c:v>7098.0326999999997</c:v>
                </c:pt>
                <c:pt idx="33">
                  <c:v>7024.2691000000004</c:v>
                </c:pt>
                <c:pt idx="34">
                  <c:v>6980.1003000000001</c:v>
                </c:pt>
                <c:pt idx="35">
                  <c:v>6938.1517999999996</c:v>
                </c:pt>
                <c:pt idx="36">
                  <c:v>6917.9648999999999</c:v>
                </c:pt>
                <c:pt idx="37">
                  <c:v>6873.8226999999997</c:v>
                </c:pt>
                <c:pt idx="38">
                  <c:v>6834.2606999999998</c:v>
                </c:pt>
                <c:pt idx="39">
                  <c:v>6797.8157000000001</c:v>
                </c:pt>
                <c:pt idx="40">
                  <c:v>6777.9002</c:v>
                </c:pt>
                <c:pt idx="41">
                  <c:v>6740.4975000000004</c:v>
                </c:pt>
                <c:pt idx="42">
                  <c:v>6715.1963999999998</c:v>
                </c:pt>
                <c:pt idx="43">
                  <c:v>6690.8465999999999</c:v>
                </c:pt>
                <c:pt idx="44">
                  <c:v>6653.4287000000004</c:v>
                </c:pt>
                <c:pt idx="45">
                  <c:v>6592.567</c:v>
                </c:pt>
                <c:pt idx="46">
                  <c:v>6577.0715</c:v>
                </c:pt>
                <c:pt idx="47">
                  <c:v>6572.9624999999996</c:v>
                </c:pt>
                <c:pt idx="48">
                  <c:v>6567.8701000000001</c:v>
                </c:pt>
                <c:pt idx="49">
                  <c:v>6562.8735999999999</c:v>
                </c:pt>
                <c:pt idx="50">
                  <c:v>6559.7048000000004</c:v>
                </c:pt>
                <c:pt idx="51">
                  <c:v>6555.5609999999997</c:v>
                </c:pt>
                <c:pt idx="52">
                  <c:v>6550.3743000000004</c:v>
                </c:pt>
                <c:pt idx="53">
                  <c:v>6548.4237000000003</c:v>
                </c:pt>
                <c:pt idx="54">
                  <c:v>6544.8834999999999</c:v>
                </c:pt>
                <c:pt idx="55">
                  <c:v>6539.8937999999998</c:v>
                </c:pt>
                <c:pt idx="56">
                  <c:v>6536.3094000000001</c:v>
                </c:pt>
                <c:pt idx="57">
                  <c:v>6534.5205999999998</c:v>
                </c:pt>
                <c:pt idx="58">
                  <c:v>6530.3154000000004</c:v>
                </c:pt>
                <c:pt idx="59">
                  <c:v>6526.5691999999999</c:v>
                </c:pt>
              </c:numCache>
            </c:numRef>
          </c:val>
          <c:smooth val="0"/>
          <c:extLst>
            <c:ext xmlns:c16="http://schemas.microsoft.com/office/drawing/2014/chart" uri="{C3380CC4-5D6E-409C-BE32-E72D297353CC}">
              <c16:uniqueId val="{00000000-F92B-49DB-9B77-49ED8B0C43A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EEF0"/>
              </a:solidFill>
              <a:prstDash val="solid"/>
              <a:round/>
            </a:ln>
          </c:spPr>
        </c:majorGridlines>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Loss (sum BCE, 200 imgs)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dirty="0">
                <a:solidFill>
                  <a:schemeClr val="dk1"/>
                </a:solidFill>
                <a:latin typeface="Aptos"/>
              </a:rPr>
              <a:t>Click to move the slide</a:t>
            </a:r>
          </a:p>
        </p:txBody>
      </p:sp>
      <p:sp>
        <p:nvSpPr>
          <p:cNvPr id="7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7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79" name="PlaceHolder 4"/>
          <p:cNvSpPr>
            <a:spLocks noGrp="1"/>
          </p:cNvSpPr>
          <p:nvPr>
            <p:ph type="dt" idx="40"/>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80" name="PlaceHolder 5"/>
          <p:cNvSpPr>
            <a:spLocks noGrp="1"/>
          </p:cNvSpPr>
          <p:nvPr>
            <p:ph type="ftr" idx="41"/>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81" name="PlaceHolder 6"/>
          <p:cNvSpPr>
            <a:spLocks noGrp="1"/>
          </p:cNvSpPr>
          <p:nvPr>
            <p:ph type="sldNum" idx="42"/>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845B8C1D-40C3-44C0-8AAE-7142FF8C39BA}"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F32D9-A34A-3805-375A-1D1D0AB59869}"/>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8E3E9A6D-E473-AB01-1E1F-CCE8DE1F55F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FF555F42-5990-21F7-E029-D31E84020450}"/>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A4112698-A854-3990-7386-8CDF0FCF9046}"/>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3</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496429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B15B4-C2A8-740C-46A7-01DF97260DA7}"/>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6D616631-6E29-D006-D711-8E146ACA85FA}"/>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D4B0F8D7-80E6-8E1F-FFC1-949A8D4DC0C8}"/>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4376057C-8C05-8254-8562-D1AF38896CB7}"/>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4</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4163612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B994-6E11-99A5-35CC-DC4AE7635738}"/>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EA7CED21-A887-0B9B-5DE5-F8484040B41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D46F6210-CEA6-3A17-4BC6-37EC46657AFF}"/>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F95B9249-55D5-A72B-E743-9D1688F28249}"/>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5</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844104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141D-93D4-F01D-2FDB-C22721C128C0}"/>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1EDE2FC8-ED18-8B24-4656-958BD1BEF5D0}"/>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A4B2F831-54F9-4A97-71F2-0F9C5BAEBA9E}"/>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3F6BC020-8BFF-85ED-6A93-448604E8FE65}"/>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6</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922919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5ED58-D224-1ACA-1FCB-86DF1250015E}"/>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6F007367-71E6-E376-EA54-15889A104E8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C39C8E5A-81D3-30C8-BD40-5555C9D8ACCE}"/>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8F6C3500-3AE7-79D8-25AD-C8652B136300}"/>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7</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416050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C7145-9362-C41B-1ABE-094894C7C4A5}"/>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538F8AFD-7AF2-A220-C222-46AE1B96B880}"/>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3F0AB98E-09F1-CF82-3087-CC736AF80D0D}"/>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132D7EBD-0C7D-F92B-A364-313A8C2997B4}"/>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8</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55830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B64CB-40FB-B2B1-5115-FDC26FE70031}"/>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22F943B9-377B-A182-CBD2-33FCAD152C35}"/>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D025F457-3A9D-EA77-3398-BAF4B203CBF0}"/>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E86050C7-1D52-F19A-EC6E-BA25D63D1373}"/>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9</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295052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6885-FE66-DEC8-158C-F673F287C937}"/>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D611E28A-9FB8-CC58-951D-B862CFEE5D80}"/>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68EF4911-50A7-A491-2596-67504DE8B34E}"/>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1F9C8E2A-3627-BE9E-BF91-57B3CD00FB2E}"/>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10</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101130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A9FD6-9DBD-A28F-9718-64165EB4E0E6}"/>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662BC4CF-D9B4-FDC3-D624-04DBE38F5497}"/>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EAD4DF83-F283-FA90-C0FE-4A179430B731}"/>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E9ED2CEA-0D1E-86C2-9654-2DD41454D160}"/>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11</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694947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933B-1754-FB05-C2B0-E21254D4710B}"/>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D1A0ACEA-E7F6-274E-8D99-4892BB4F8A46}"/>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AD4C68E6-11BC-94AE-94F8-5F981F081A89}"/>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7E221464-A102-DEBE-D047-0B0B11936B19}"/>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12</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8607974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D8DF8-0B9A-F84C-D212-824DE4921202}"/>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51EEDBBD-DB5E-5DDD-21F5-FF5D8196A950}"/>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18316AC5-EC84-7677-47D0-53B02F3B900B}"/>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2CA7E410-4D30-8388-7F82-6BE29D7BBD17}"/>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13</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562257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0FD15-4B0A-E15A-0B92-360B7A15CFCF}"/>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9E4134C1-7BBD-60CA-7106-80710D477F15}"/>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31EBA05F-5558-0077-6BB1-029367F2337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38B0BC45-6B3F-E161-93B0-7EAC4EF75B5B}"/>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14</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54752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5FC54-A367-D025-B765-EFF8FB3FE86E}"/>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75A069EC-B3ED-9EC9-F47D-5729893040C1}"/>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9E7C3F0B-3433-C165-8083-E08A0E4E8689}"/>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F212B598-D08B-BB81-A30A-D999D4C7D1D7}"/>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15</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930416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29CE-C5BA-0BEA-ED1D-E476F58282FE}"/>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2AF12062-0E40-77BE-183D-0F641E5B2FF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EFE33435-8BBB-9396-35CF-16098C9959E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F3BDB2AC-EDB9-66E2-793D-D052E450A28D}"/>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16</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4241484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B9A2-F2A4-801B-E4F2-290EC2FE1742}"/>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798817F4-A2B4-BB13-651B-554C5700BC0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DFB44B5E-F608-8695-734B-0DE348140CB6}"/>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DCA368B2-8CA2-E025-02D2-1DFE13145F7D}"/>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17</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711803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F581-F69F-8CF5-DFA6-D4C16CD1D097}"/>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5FA952B3-DAB3-2DD8-4F3E-C1F76956B7FC}"/>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544664BD-FCD6-47EB-8E53-0267A959F8A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D9A7EDE3-D8E9-9378-5ECF-105C339F97D9}"/>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18</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988486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97118-2B5C-F17D-4F83-3CF0C7AE52B0}"/>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32B6EBDF-310C-43DE-4217-F73CD5A07040}"/>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5544A191-D2EC-9AD2-FB98-A2D491935D0D}"/>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FACCF764-9868-74E5-A04F-4A28749A50F6}"/>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19</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449799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B6A6B-08CE-1848-0D16-AF2DCC9B1F91}"/>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22E90A15-0B64-DA30-E8C1-54B9E5993961}"/>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358420DC-3AD2-0746-7D68-E48B5F0C8EE8}"/>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A44544C5-0DF4-B0F5-F7C8-68F2CBF0C89A}"/>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20</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560374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1EF3E-9276-B26A-00D9-A529065534E9}"/>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8FEA4860-375F-5479-6EED-1CB6CF8E6452}"/>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983DF48A-EB79-81BF-31E7-AB042B164F59}"/>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EDA0B7F8-EEA1-CD45-D78C-D0E03503A09A}"/>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21</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262503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E5674-C4B7-5BB9-3009-E07DBF6D3A4A}"/>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CF941E85-89BA-41B7-14C8-6DF7F6C8C204}"/>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0204A3C4-367F-D492-49CF-34318AE2159A}"/>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A421A2BB-7259-485D-D7FA-241BB0119AD9}"/>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22</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082063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5F622-C0F6-2B4A-11D3-1B84C9A29650}"/>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F520C06B-9B2B-02F5-ECDB-47CA14FDE784}"/>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039D30C1-819F-56D4-903A-C3D78B7C8EF0}"/>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7E3212EE-5656-AB94-0D0D-40D3E0E23BE4}"/>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23</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246924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D015F-23D4-9282-6D1D-196D0355A1E5}"/>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623594FF-04AB-9845-3ACA-F1E85DF56301}"/>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920A9B11-652E-5226-6FB1-0B74612090C2}"/>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ACEAB791-7F90-A305-19FB-BFBCFE3BA8F6}"/>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24</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757375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DAD9C-3941-EA72-CC51-56CDD91608E3}"/>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0DE83A1E-23E7-45C3-C4E6-E7550632FEED}"/>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53337510-4AF8-2250-3C13-2C6FC84A989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8D09ACA3-EB11-EEE4-B816-B30EA29AB6C6}"/>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25</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075136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477D2-C62D-76B8-D91C-5A85FD867160}"/>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3297F540-93B3-9743-3580-BE42FA10D2E6}"/>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87CFD28C-28EA-38C6-D599-9EB9257C7F36}"/>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FBC627EE-87FB-444C-CF9F-F03B63CCD6DB}"/>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26</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7988542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47FD-1857-B84D-B521-9F1A9F0524F0}"/>
            </a:ext>
          </a:extLst>
        </p:cNvPr>
        <p:cNvGrpSpPr/>
        <p:nvPr/>
      </p:nvGrpSpPr>
      <p:grpSpPr>
        <a:xfrm>
          <a:off x="0" y="0"/>
          <a:ext cx="0" cy="0"/>
          <a:chOff x="0" y="0"/>
          <a:chExt cx="0" cy="0"/>
        </a:xfrm>
      </p:grpSpPr>
      <p:sp>
        <p:nvSpPr>
          <p:cNvPr id="370" name="PlaceHolder 1">
            <a:extLst>
              <a:ext uri="{FF2B5EF4-FFF2-40B4-BE49-F238E27FC236}">
                <a16:creationId xmlns:a16="http://schemas.microsoft.com/office/drawing/2014/main" id="{5D5EBEB7-BAA5-E297-38F4-3BC766F76DF6}"/>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71" name="PlaceHolder 2">
            <a:extLst>
              <a:ext uri="{FF2B5EF4-FFF2-40B4-BE49-F238E27FC236}">
                <a16:creationId xmlns:a16="http://schemas.microsoft.com/office/drawing/2014/main" id="{5B17BEB1-1319-701C-C88F-EECC6C18437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72" name="PlaceHolder 3">
            <a:extLst>
              <a:ext uri="{FF2B5EF4-FFF2-40B4-BE49-F238E27FC236}">
                <a16:creationId xmlns:a16="http://schemas.microsoft.com/office/drawing/2014/main" id="{BB37961F-E6CB-2FC3-8ADB-346234E97305}"/>
              </a:ext>
            </a:extLst>
          </p:cNvPr>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347782E-6CFF-4B93-A383-2052F9234CD3}" type="slidenum">
              <a:rPr lang="en-US" sz="1200" b="0" strike="noStrike" spc="-1">
                <a:solidFill>
                  <a:srgbClr val="000000"/>
                </a:solidFill>
                <a:latin typeface="Aptos"/>
                <a:ea typeface="+mn-ea"/>
              </a:rPr>
              <a:t>27</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0210917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829D2-8C5C-610C-BBB5-F307C75FD27F}"/>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CE9E9894-7896-24C6-EA48-6CAE85043A92}"/>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45FCDFF2-431B-E001-F06B-59E1D1222D04}"/>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13EADFB3-289A-05A8-82E3-0E40CF9A1984}"/>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28</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1153547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189E2-7640-F942-5BB2-90ABB3A3B0FF}"/>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478006B4-48A7-0E0C-85B2-3C88C5497125}"/>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B2C0E3AE-F4FE-4A35-91F4-8F3D8CFCDAFC}"/>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CA77CE8E-30FF-3C12-FC6B-D7E007D2169E}"/>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29</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366892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35577-79DC-1D42-FC1B-B52A755A72FE}"/>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7DF1F8C3-65F4-45D5-D75C-DB4B1E8EFF7B}"/>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B12D129A-62ED-E4D2-EFED-80E42BB8249E}"/>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2BC32D0E-761A-01DC-3FFF-21A9FB18B11E}"/>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30</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2826179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04E6-C385-CADC-64BA-AFFABC6E5B60}"/>
            </a:ext>
          </a:extLst>
        </p:cNvPr>
        <p:cNvGrpSpPr/>
        <p:nvPr/>
      </p:nvGrpSpPr>
      <p:grpSpPr>
        <a:xfrm>
          <a:off x="0" y="0"/>
          <a:ext cx="0" cy="0"/>
          <a:chOff x="0" y="0"/>
          <a:chExt cx="0" cy="0"/>
        </a:xfrm>
      </p:grpSpPr>
      <p:sp>
        <p:nvSpPr>
          <p:cNvPr id="331" name="PlaceHolder 1">
            <a:extLst>
              <a:ext uri="{FF2B5EF4-FFF2-40B4-BE49-F238E27FC236}">
                <a16:creationId xmlns:a16="http://schemas.microsoft.com/office/drawing/2014/main" id="{CBC7368C-A209-761A-D22F-F59A05B42004}"/>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332" name="PlaceHolder 2">
            <a:extLst>
              <a:ext uri="{FF2B5EF4-FFF2-40B4-BE49-F238E27FC236}">
                <a16:creationId xmlns:a16="http://schemas.microsoft.com/office/drawing/2014/main" id="{BD9C0FAE-5F8E-4A1F-DD0A-DF1C2E7974A1}"/>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333" name="PlaceHolder 3">
            <a:extLst>
              <a:ext uri="{FF2B5EF4-FFF2-40B4-BE49-F238E27FC236}">
                <a16:creationId xmlns:a16="http://schemas.microsoft.com/office/drawing/2014/main" id="{694847F7-A90D-F3BF-12FF-5FE7030F6984}"/>
              </a:ext>
            </a:extLst>
          </p:cNvPr>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rgbClr val="000000"/>
                </a:solidFill>
                <a:latin typeface="Aptos"/>
                <a:ea typeface="+mn-ea"/>
              </a:defRPr>
            </a:lvl1pPr>
          </a:lstStyle>
          <a:p>
            <a:pPr indent="0" algn="r" defTabSz="914400">
              <a:lnSpc>
                <a:spcPct val="100000"/>
              </a:lnSpc>
              <a:buNone/>
              <a:tabLst>
                <a:tab pos="0" algn="l"/>
              </a:tabLst>
            </a:pPr>
            <a:fld id="{5FAA89DA-00DA-465A-A26E-C33AD330690A}" type="slidenum">
              <a:rPr lang="en-US" sz="1200" b="0" strike="noStrike" spc="-1">
                <a:solidFill>
                  <a:srgbClr val="000000"/>
                </a:solidFill>
                <a:latin typeface="Aptos"/>
                <a:ea typeface="+mn-ea"/>
              </a:rPr>
              <a:t>31</a:t>
            </a:fld>
            <a:endParaRPr lang="en-US" sz="1200" b="0" strike="noStrike" spc="-1">
              <a:solidFill>
                <a:srgbClr val="000000"/>
              </a:solidFill>
              <a:latin typeface="Times New Roman"/>
            </a:endParaRPr>
          </a:p>
        </p:txBody>
      </p:sp>
    </p:spTree>
    <p:extLst>
      <p:ext uri="{BB962C8B-B14F-4D97-AF65-F5344CB8AC3E}">
        <p14:creationId xmlns:p14="http://schemas.microsoft.com/office/powerpoint/2010/main" val="3985345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1C38FF13-AC79-40B7-BB5E-50F1E645AD8B}"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873A0213-26E6-4026-889E-75C1A6C58C92}"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C08ADB5B-72DA-4315-96D3-9C37FF9847D1}"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2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136BD986-B40B-46EB-B7FF-86BB92BE59DE}"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2F4E19B1-468E-4F26-A755-9CBB735615F6}"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3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4AE219C0-052A-4550-9B41-8729689F03B3}"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802166C7-B628-4853-AEE8-CC2360EDB818}"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2CB8845F-D872-4A30-B810-5F5944A57757}"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C500F2EC-2973-4B48-B834-4DCB28A928B9}"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CDC567FB-5CEE-4FB4-971C-96604BDE3775}"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FE0A9185-199D-4677-A372-A5AA47ED999E}"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71"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7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35"/>
          </p:nvPr>
        </p:nvSpPr>
        <p:spPr/>
        <p:txBody>
          <a:bodyPr/>
          <a:lstStyle/>
          <a:p>
            <a:r>
              <a:t>Footer</a:t>
            </a:r>
          </a:p>
        </p:txBody>
      </p:sp>
      <p:sp>
        <p:nvSpPr>
          <p:cNvPr id="5" name="PlaceHolder 4"/>
          <p:cNvSpPr>
            <a:spLocks noGrp="1"/>
          </p:cNvSpPr>
          <p:nvPr>
            <p:ph type="sldNum" idx="36"/>
          </p:nvPr>
        </p:nvSpPr>
        <p:spPr/>
        <p:txBody>
          <a:bodyPr/>
          <a:lstStyle/>
          <a:p>
            <a:fld id="{9020BA4D-9076-4000-882E-01F014FA1AE2}" type="slidenum">
              <a:t>‹#›</a:t>
            </a:fld>
            <a:endParaRPr/>
          </a:p>
        </p:txBody>
      </p:sp>
      <p:sp>
        <p:nvSpPr>
          <p:cNvPr id="6" name="PlaceHolder 5"/>
          <p:cNvSpPr>
            <a:spLocks noGrp="1"/>
          </p:cNvSpPr>
          <p:nvPr>
            <p:ph type="dt" idx="34"/>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lstStyle/>
          <a:p>
            <a:r>
              <a:t>Footer</a:t>
            </a:r>
          </a:p>
        </p:txBody>
      </p:sp>
      <p:sp>
        <p:nvSpPr>
          <p:cNvPr id="3" name="PlaceHolder 2"/>
          <p:cNvSpPr>
            <a:spLocks noGrp="1"/>
          </p:cNvSpPr>
          <p:nvPr>
            <p:ph type="sldNum" idx="39"/>
          </p:nvPr>
        </p:nvSpPr>
        <p:spPr/>
        <p:txBody>
          <a:bodyPr/>
          <a:lstStyle/>
          <a:p>
            <a:fld id="{5490420B-D265-4DF2-AABD-CCA61AF68EFF}" type="slidenum">
              <a:t>‹#›</a:t>
            </a:fld>
            <a:endParaRPr/>
          </a:p>
        </p:txBody>
      </p:sp>
      <p:sp>
        <p:nvSpPr>
          <p:cNvPr id="4" name="PlaceHolder 3"/>
          <p:cNvSpPr>
            <a:spLocks noGrp="1"/>
          </p:cNvSpPr>
          <p:nvPr>
            <p:ph type="dt" idx="3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 </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 </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BEB85A3-008F-41A5-8C2F-9AFA3FB19DDD}"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8E690E7F-9864-4E2B-A988-FB788980B228}"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338AAC73-4C82-4B81-8AE0-CB6CA8296BF5}"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976F5008-2985-404A-99D7-D29DAF27E29F}"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strike="noStrike" spc="-1">
                <a:solidFill>
                  <a:schemeClr val="dk1">
                    <a:tint val="82000"/>
                  </a:schemeClr>
                </a:solidFill>
                <a:latin typeface="Aptos"/>
              </a:rPr>
              <a:t>Click to edit Master text styles</a:t>
            </a:r>
            <a:endParaRPr lang="en-US" sz="2400" b="0" strike="noStrike" spc="-1">
              <a:solidFill>
                <a:schemeClr val="dk1"/>
              </a:solidFill>
              <a:latin typeface="Aptos"/>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2B5DC5C7-CBE8-4CFC-B493-D7D55B8B411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95B38273-D3AE-4AA7-86D7-7A63E5256D6D}"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251C29A7-B7D0-4C13-A059-C76A6E227D09}"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56CA3FF9-D8E6-4A36-A5B9-C3D05F1CDA5F}"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626B1BD-9E7E-4BD0-8FD8-B15C6E6D0987}"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8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4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Fifth level</a:t>
            </a: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57"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58"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9"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9EC469F-345A-4566-B12E-087C575C8A23}"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61"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32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32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32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3200" b="0" strike="noStrike" spc="-1">
                <a:solidFill>
                  <a:schemeClr val="dk1"/>
                </a:solidFill>
                <a:latin typeface="Aptos"/>
              </a:rPr>
              <a:t>Seventh Outline Level</a:t>
            </a:r>
          </a:p>
        </p:txBody>
      </p:sp>
      <p:sp>
        <p:nvSpPr>
          <p:cNvPr id="6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63"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64"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5"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F9ADF92A-9B7A-4923-8F03-375D545531C1}"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E9EEF4"/>
        </a:solidFill>
        <a:effectLst/>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67" name="PlaceHolder 2"/>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68" name="PlaceHolder 3"/>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9" name="PlaceHolder 4"/>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A1A8DEBC-9C55-4FD6-9D70-A08AAB86B9BB}"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7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E9EEF4"/>
        </a:solidFill>
        <a:effectLst/>
      </p:bgPr>
    </p:bg>
    <p:spTree>
      <p:nvGrpSpPr>
        <p:cNvPr id="1" name=""/>
        <p:cNvGrpSpPr/>
        <p:nvPr/>
      </p:nvGrpSpPr>
      <p:grpSpPr>
        <a:xfrm>
          <a:off x="0" y="0"/>
          <a:ext cx="0" cy="0"/>
          <a:chOff x="0" y="0"/>
          <a:chExt cx="0" cy="0"/>
        </a:xfrm>
      </p:grpSpPr>
      <p:sp>
        <p:nvSpPr>
          <p:cNvPr id="73" name="PlaceHolder 1"/>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74" name="PlaceHolder 2"/>
          <p:cNvSpPr>
            <a:spLocks noGrp="1"/>
          </p:cNvSpPr>
          <p:nvPr>
            <p:ph type="ftr" idx="3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75" name="PlaceHolder 3"/>
          <p:cNvSpPr>
            <a:spLocks noGrp="1"/>
          </p:cNvSpPr>
          <p:nvPr>
            <p:ph type="sldNum" idx="3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5A55B50A-7531-462A-99C6-F786876D98E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doi.org/10.1109/ICCV48922.2021.00507" TargetMode="External"/><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hyperlink" Target="https://doi.org/10.1109/ICCV48922.2021.0050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hyperlink" Target="https://doi.org/10.1109/ICCV48922.2021.00507"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hyperlink" Target="https://doi.org/10.1109/ICCV48922.2021.00507" TargetMode="External"/><Relationship Id="rId5" Type="http://schemas.openxmlformats.org/officeDocument/2006/relationships/image" Target="../media/image9.png"/><Relationship Id="rId4" Type="http://schemas.openxmlformats.org/officeDocument/2006/relationships/image" Target="../media/image9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doi.org/10.1109/ICCV48922.2021.00507"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doi.org/10.1109/ICCV48922.2021.00507"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hyperlink" Target="vcl.ucsd.edu/hed/HED-BSDS.tar" TargetMode="External"/><Relationship Id="rId4" Type="http://schemas.openxmlformats.org/officeDocument/2006/relationships/hyperlink" Target="https://doi.org/10.1109/ICCV48922.2021.00507"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5.jpg"/><Relationship Id="rId4" Type="http://schemas.openxmlformats.org/officeDocument/2006/relationships/hyperlink" Target="https://doi.org/10.1109/ICCV48922.2021.00507"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6.jpg"/><Relationship Id="rId4" Type="http://schemas.openxmlformats.org/officeDocument/2006/relationships/hyperlink" Target="https://doi.org/10.1109/ICCV48922.2021.00507"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chart" Target="../charts/chart1.xml"/><Relationship Id="rId4" Type="http://schemas.openxmlformats.org/officeDocument/2006/relationships/hyperlink" Target="https://doi.org/10.1109/ICCV48922.2021.00507"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hyperlink" Target="https://doi.org/10.1109/ICCV48922.2021.00507"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4.jpg"/><Relationship Id="rId5" Type="http://schemas.openxmlformats.org/officeDocument/2006/relationships/image" Target="../media/image2.png"/><Relationship Id="rId4" Type="http://schemas.openxmlformats.org/officeDocument/2006/relationships/image" Target="../media/image23.jpg"/></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26.jpg"/><Relationship Id="rId4" Type="http://schemas.openxmlformats.org/officeDocument/2006/relationships/image" Target="../media/image25.jpg"/></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109/ICCV48922.2021.00507" TargetMode="External"/><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hyperlink" Target="https://doi.org/10.1109/ICCV48922.2021.005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Picture 8" descr="Digital Transformation - Global"/>
          <p:cNvPicPr/>
          <p:nvPr/>
        </p:nvPicPr>
        <p:blipFill>
          <a:blip r:embed="rId2"/>
          <a:stretch/>
        </p:blipFill>
        <p:spPr>
          <a:xfrm>
            <a:off x="0" y="0"/>
            <a:ext cx="12191760" cy="6857640"/>
          </a:xfrm>
          <a:prstGeom prst="rect">
            <a:avLst/>
          </a:prstGeom>
          <a:ln w="0">
            <a:noFill/>
          </a:ln>
        </p:spPr>
      </p:pic>
      <p:grpSp>
        <p:nvGrpSpPr>
          <p:cNvPr id="83" name="Group 8"/>
          <p:cNvGrpSpPr/>
          <p:nvPr/>
        </p:nvGrpSpPr>
        <p:grpSpPr>
          <a:xfrm>
            <a:off x="285840" y="1740877"/>
            <a:ext cx="5209920" cy="2862443"/>
            <a:chOff x="285840" y="2390760"/>
            <a:chExt cx="5209920" cy="2212560"/>
          </a:xfrm>
        </p:grpSpPr>
        <p:sp>
          <p:nvSpPr>
            <p:cNvPr id="84" name="Rectangle: Rounded Corners 9"/>
            <p:cNvSpPr/>
            <p:nvPr/>
          </p:nvSpPr>
          <p:spPr>
            <a:xfrm>
              <a:off x="285840" y="2390760"/>
              <a:ext cx="5209920" cy="2123640"/>
            </a:xfrm>
            <a:prstGeom prst="roundRect">
              <a:avLst>
                <a:gd name="adj" fmla="val 16667"/>
              </a:avLst>
            </a:prstGeom>
            <a:solidFill>
              <a:schemeClr val="tx1">
                <a:lumMod val="65000"/>
                <a:lumOff val="35000"/>
                <a:alpha val="50000"/>
              </a:scheme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ptos"/>
              </a:endParaRPr>
            </a:p>
          </p:txBody>
        </p:sp>
        <p:sp>
          <p:nvSpPr>
            <p:cNvPr id="85" name="Title 1"/>
            <p:cNvSpPr/>
            <p:nvPr/>
          </p:nvSpPr>
          <p:spPr>
            <a:xfrm>
              <a:off x="285840" y="2390760"/>
              <a:ext cx="5209920" cy="221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fontScale="82777" lnSpcReduction="20000"/>
            </a:bodyPr>
            <a:lstStyle/>
            <a:p>
              <a:pPr algn="ctr" defTabSz="914400">
                <a:lnSpc>
                  <a:spcPct val="90000"/>
                </a:lnSpc>
              </a:pPr>
              <a:r>
                <a:rPr lang="en-US" sz="8900" b="0" strike="noStrike" spc="-1" dirty="0">
                  <a:solidFill>
                    <a:schemeClr val="accent1">
                      <a:lumMod val="20000"/>
                      <a:lumOff val="80000"/>
                    </a:schemeClr>
                  </a:solidFill>
                  <a:latin typeface="Rockwell"/>
                  <a:ea typeface="Microsoft GothicNeo"/>
                </a:rPr>
                <a:t>PiDiNet</a:t>
              </a:r>
            </a:p>
            <a:p>
              <a:pPr algn="ctr" defTabSz="914400">
                <a:lnSpc>
                  <a:spcPct val="90000"/>
                </a:lnSpc>
              </a:pPr>
              <a:r>
                <a:rPr lang="en-US" sz="3000" b="0" strike="noStrike" spc="-1" dirty="0">
                  <a:solidFill>
                    <a:schemeClr val="accent1">
                      <a:lumMod val="20000"/>
                      <a:lumOff val="80000"/>
                    </a:schemeClr>
                  </a:solidFill>
                  <a:latin typeface="Arial"/>
                </a:rPr>
                <a:t>Pixel Difference Networks for Efficient Edge Detection</a:t>
              </a:r>
            </a:p>
            <a:p>
              <a:pPr algn="ctr" defTabSz="914400">
                <a:lnSpc>
                  <a:spcPct val="90000"/>
                </a:lnSpc>
              </a:pPr>
              <a:r>
                <a:rPr lang="en-US" sz="2400" dirty="0">
                  <a:solidFill>
                    <a:srgbClr val="2D404D"/>
                  </a:solidFill>
                </a:rPr>
                <a:t>---</a:t>
              </a:r>
              <a:br>
                <a:rPr sz="4000" dirty="0"/>
              </a:br>
              <a:r>
                <a:rPr lang="en-US" sz="2200" b="0" u="sng" strike="noStrike" spc="-1" dirty="0">
                  <a:solidFill>
                    <a:schemeClr val="lt1"/>
                  </a:solidFill>
                  <a:uFillTx/>
                  <a:latin typeface="Rockwell"/>
                  <a:ea typeface="Microsoft GothicNeo"/>
                </a:rPr>
                <a:t>Group Members</a:t>
              </a:r>
              <a:endParaRPr lang="en-US" sz="2200" b="0" strike="noStrike" spc="-1" dirty="0">
                <a:solidFill>
                  <a:srgbClr val="000000"/>
                </a:solidFill>
                <a:latin typeface="Arial"/>
              </a:endParaRPr>
            </a:p>
            <a:p>
              <a:pPr algn="ctr" defTabSz="914400">
                <a:lnSpc>
                  <a:spcPct val="90000"/>
                </a:lnSpc>
              </a:pPr>
              <a:endParaRPr lang="en-US" sz="1700" b="0" strike="noStrike" spc="-1" dirty="0">
                <a:solidFill>
                  <a:srgbClr val="000000"/>
                </a:solidFill>
                <a:latin typeface="Arial"/>
              </a:endParaRPr>
            </a:p>
            <a:p>
              <a:pPr algn="ctr" defTabSz="914400">
                <a:lnSpc>
                  <a:spcPct val="90000"/>
                </a:lnSpc>
              </a:pPr>
              <a:r>
                <a:rPr lang="en-US" sz="2200" b="0" strike="noStrike" spc="-1" dirty="0">
                  <a:solidFill>
                    <a:schemeClr val="lt1"/>
                  </a:solidFill>
                  <a:latin typeface="Rockwell"/>
                  <a:ea typeface="Microsoft GothicNeo"/>
                </a:rPr>
                <a:t>Fahad Ali Aslam </a:t>
              </a:r>
              <a:endParaRPr lang="en-US" sz="2200" b="0" strike="noStrike" spc="-1" dirty="0">
                <a:solidFill>
                  <a:srgbClr val="000000"/>
                </a:solidFill>
                <a:latin typeface="Arial"/>
              </a:endParaRPr>
            </a:p>
            <a:p>
              <a:pPr algn="ctr" defTabSz="914400">
                <a:lnSpc>
                  <a:spcPct val="90000"/>
                </a:lnSpc>
              </a:pPr>
              <a:r>
                <a:rPr lang="en-US" sz="2200" b="0" strike="noStrike" spc="-1" dirty="0">
                  <a:solidFill>
                    <a:schemeClr val="lt1"/>
                  </a:solidFill>
                  <a:latin typeface="Rockwell"/>
                  <a:ea typeface="Microsoft GothicNeo"/>
                </a:rPr>
                <a:t>Omer Zeeshan </a:t>
              </a:r>
              <a:endParaRPr lang="en-US" sz="2200" b="0" strike="noStrike" spc="-1" dirty="0">
                <a:solidFill>
                  <a:srgbClr val="000000"/>
                </a:solidFill>
                <a:latin typeface="Arial"/>
              </a:endParaRPr>
            </a:p>
            <a:p>
              <a:pPr algn="ctr" defTabSz="914400">
                <a:lnSpc>
                  <a:spcPct val="90000"/>
                </a:lnSpc>
              </a:pPr>
              <a:r>
                <a:rPr lang="en-US" sz="2200" b="0" strike="noStrike" spc="-1" dirty="0">
                  <a:solidFill>
                    <a:schemeClr val="lt1"/>
                  </a:solidFill>
                  <a:latin typeface="Rockwell"/>
                  <a:ea typeface="Microsoft GothicNeo"/>
                </a:rPr>
                <a:t>Salman Ahmad</a:t>
              </a:r>
              <a:endParaRPr lang="en-US" sz="2200" b="0" strike="noStrike" spc="-1" dirty="0">
                <a:solidFill>
                  <a:srgbClr val="000000"/>
                </a:solidFill>
                <a:latin typeface="Arial"/>
              </a:endParaRPr>
            </a:p>
          </p:txBody>
        </p:sp>
      </p:grpSp>
      <p:pic>
        <p:nvPicPr>
          <p:cNvPr id="86" name="Picture 2" descr="Nust Logo - CrystalPng"/>
          <p:cNvPicPr/>
          <p:nvPr/>
        </p:nvPicPr>
        <p:blipFill>
          <a:blip r:embed="rId3"/>
          <a:stretch/>
        </p:blipFill>
        <p:spPr>
          <a:xfrm>
            <a:off x="10707120" y="0"/>
            <a:ext cx="1306080" cy="1306080"/>
          </a:xfrm>
          <a:prstGeom prst="rect">
            <a:avLst/>
          </a:prstGeom>
          <a:ln w="0">
            <a:noFill/>
          </a:ln>
        </p:spPr>
      </p:pic>
      <p:pic>
        <p:nvPicPr>
          <p:cNvPr id="87" name="Picture 3"/>
          <p:cNvPicPr/>
          <p:nvPr/>
        </p:nvPicPr>
        <p:blipFill>
          <a:blip r:embed="rId4"/>
          <a:stretch/>
        </p:blipFill>
        <p:spPr>
          <a:xfrm>
            <a:off x="10555560" y="6006600"/>
            <a:ext cx="1609200" cy="851040"/>
          </a:xfrm>
          <a:prstGeom prst="rect">
            <a:avLst/>
          </a:prstGeom>
          <a:ln w="0">
            <a:noFill/>
          </a:ln>
        </p:spPr>
      </p:pic>
      <p:pic>
        <p:nvPicPr>
          <p:cNvPr id="88" name="Google Shape;85;p13" descr="image.png"/>
          <p:cNvPicPr/>
          <p:nvPr/>
        </p:nvPicPr>
        <p:blipFill>
          <a:blip r:embed="rId5"/>
          <a:stretch/>
        </p:blipFill>
        <p:spPr>
          <a:xfrm>
            <a:off x="228600" y="6400800"/>
            <a:ext cx="3133440" cy="294840"/>
          </a:xfrm>
          <a:prstGeom prst="rect">
            <a:avLst/>
          </a:prstGeom>
          <a:ln w="0">
            <a:noFill/>
          </a:ln>
        </p:spPr>
      </p:pic>
      <p:sp>
        <p:nvSpPr>
          <p:cNvPr id="89" name="Google Shape;89;p13"/>
          <p:cNvSpPr/>
          <p:nvPr/>
        </p:nvSpPr>
        <p:spPr>
          <a:xfrm>
            <a:off x="4136328" y="6477497"/>
            <a:ext cx="3133440" cy="184666"/>
          </a:xfrm>
          <a:prstGeom prst="rect">
            <a:avLst/>
          </a:prstGeom>
          <a:noFill/>
          <a:ln w="0">
            <a:noFill/>
          </a:ln>
        </p:spPr>
        <p:style>
          <a:lnRef idx="0">
            <a:scrgbClr r="0" g="0" b="0"/>
          </a:lnRef>
          <a:fillRef idx="0">
            <a:scrgbClr r="0" g="0" b="0"/>
          </a:fillRef>
          <a:effectRef idx="0">
            <a:scrgbClr r="0" g="0" b="0"/>
          </a:effectRef>
          <a:fontRef idx="minor"/>
        </p:style>
        <p:txBody>
          <a:bodyPr wrap="square" lIns="0" tIns="0" rIns="0" bIns="0" anchor="t">
            <a:spAutoFit/>
          </a:bodyPr>
          <a:lstStyle/>
          <a:p>
            <a:pPr>
              <a:lnSpc>
                <a:spcPct val="100000"/>
              </a:lnSpc>
              <a:tabLst>
                <a:tab pos="0" algn="l"/>
              </a:tabLst>
            </a:pPr>
            <a:r>
              <a:rPr lang="en-US" sz="1200" b="1" strike="noStrike" spc="-1" dirty="0">
                <a:solidFill>
                  <a:srgbClr val="FFFFFF"/>
                </a:solidFill>
                <a:latin typeface="DM Sans"/>
                <a:ea typeface="DM Sans"/>
              </a:rPr>
              <a:t>Instructor: Dr. Muhammad Jameel Nawaz</a:t>
            </a:r>
            <a:endParaRPr lang="en-US" sz="1200" b="1" strike="noStrike" spc="-1" dirty="0">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26">
            <a:extLst>
              <a:ext uri="{FF2B5EF4-FFF2-40B4-BE49-F238E27FC236}">
                <a16:creationId xmlns:a16="http://schemas.microsoft.com/office/drawing/2014/main" id="{53EB09FB-5DD8-DCA2-0D33-6C9342D3CCBD}"/>
              </a:ext>
            </a:extLst>
          </p:cNvPr>
          <p:cNvSpPr/>
          <p:nvPr/>
        </p:nvSpPr>
        <p:spPr>
          <a:xfrm>
            <a:off x="7113549" y="3346189"/>
            <a:ext cx="4938531" cy="2570892"/>
          </a:xfrm>
          <a:prstGeom prst="roundRect">
            <a:avLst>
              <a:gd name="adj" fmla="val 5432"/>
            </a:avLst>
          </a:prstGeom>
          <a:solidFill>
            <a:schemeClr val="tx2">
              <a:lumMod val="10000"/>
              <a:lumOff val="90000"/>
              <a:alpha val="50000"/>
            </a:schemeClr>
          </a:solidFill>
          <a:ln w="6350">
            <a:solidFill>
              <a:srgbClr val="0E2841">
                <a:lumMod val="75000"/>
                <a:lumOff val="25000"/>
              </a:srgb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sp>
        <p:nvSpPr>
          <p:cNvPr id="90" name="Oval 74"/>
          <p:cNvSpPr/>
          <p:nvPr/>
        </p:nvSpPr>
        <p:spPr>
          <a:xfrm>
            <a:off x="3466440" y="-5830920"/>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p:cNvGrpSpPr/>
          <p:nvPr/>
        </p:nvGrpSpPr>
        <p:grpSpPr>
          <a:xfrm>
            <a:off x="0" y="6390360"/>
            <a:ext cx="12191760" cy="467280"/>
            <a:chOff x="0" y="6390360"/>
            <a:chExt cx="12191760" cy="467280"/>
          </a:xfrm>
        </p:grpSpPr>
        <p:sp>
          <p:nvSpPr>
            <p:cNvPr id="92" name="Rectangle 111"/>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a:t>
              </a:fld>
              <a:endParaRPr lang="en-US" sz="1200" b="0" strike="noStrike" spc="-1">
                <a:solidFill>
                  <a:srgbClr val="000000"/>
                </a:solidFill>
                <a:latin typeface="Arial"/>
              </a:endParaRPr>
            </a:p>
          </p:txBody>
        </p:sp>
        <p:sp>
          <p:nvSpPr>
            <p:cNvPr id="94" name="TextBox 113"/>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Pixel Difference Networks for Efficient Edge Detection</a:t>
            </a:r>
            <a:endParaRPr kumimoji="0" lang="en-US" sz="3200" b="1" i="0" u="none" strike="noStrike" kern="1200" cap="none" spc="-1" normalizeH="0" baseline="0" noProof="0" dirty="0">
              <a:ln>
                <a:noFill/>
              </a:ln>
              <a:solidFill>
                <a:srgbClr val="000000"/>
              </a:solidFill>
              <a:effectLst/>
              <a:uLnTx/>
              <a:uFillTx/>
              <a:latin typeface="Aptos Display"/>
              <a:ea typeface="+mn-ea"/>
              <a:cs typeface="+mn-cs"/>
            </a:endParaRPr>
          </a:p>
        </p:txBody>
      </p:sp>
      <p:pic>
        <p:nvPicPr>
          <p:cNvPr id="99" name="Picture 2" descr="Nust Logo - CrystalPng"/>
          <p:cNvPicPr/>
          <p:nvPr/>
        </p:nvPicPr>
        <p:blipFill>
          <a:blip r:embed="rId3"/>
          <a:stretch/>
        </p:blipFill>
        <p:spPr>
          <a:xfrm>
            <a:off x="11068200" y="-11520"/>
            <a:ext cx="1123560" cy="1123560"/>
          </a:xfrm>
          <a:prstGeom prst="rect">
            <a:avLst/>
          </a:prstGeom>
          <a:ln w="0">
            <a:noFill/>
          </a:ln>
        </p:spPr>
      </p:pic>
      <p:sp>
        <p:nvSpPr>
          <p:cNvPr id="6" name="TextBox 5">
            <a:extLst>
              <a:ext uri="{FF2B5EF4-FFF2-40B4-BE49-F238E27FC236}">
                <a16:creationId xmlns:a16="http://schemas.microsoft.com/office/drawing/2014/main" id="{57B3433A-F5A0-07EE-B375-A996EDEAED65}"/>
              </a:ext>
            </a:extLst>
          </p:cNvPr>
          <p:cNvSpPr txBox="1"/>
          <p:nvPr/>
        </p:nvSpPr>
        <p:spPr>
          <a:xfrm>
            <a:off x="439372" y="1327528"/>
            <a:ext cx="6266514" cy="1718868"/>
          </a:xfrm>
          <a:prstGeom prst="rect">
            <a:avLst/>
          </a:prstGeom>
          <a:noFill/>
        </p:spPr>
        <p:txBody>
          <a:bodyPr wrap="square">
            <a:spAutoFit/>
          </a:bodyPr>
          <a:lstStyle/>
          <a:p>
            <a:pPr algn="just">
              <a:lnSpc>
                <a:spcPct val="150000"/>
              </a:lnSpc>
            </a:pPr>
            <a:r>
              <a:rPr lang="en-US" sz="2400" b="1" u="none" strike="noStrike" dirty="0">
                <a:effectLst>
                  <a:outerShdw blurRad="38100" dist="38100" dir="2700000" algn="tl">
                    <a:srgbClr val="000000">
                      <a:alpha val="43137"/>
                    </a:srgbClr>
                  </a:outerShdw>
                </a:effectLst>
                <a:latin typeface="+mj-lt"/>
              </a:rPr>
              <a:t>PiDiNet</a:t>
            </a:r>
            <a:r>
              <a:rPr lang="en-US" sz="1600" b="1" u="none" strike="noStrike" dirty="0">
                <a:effectLst>
                  <a:outerShdw blurRad="38100" dist="38100" dir="2700000" algn="tl">
                    <a:srgbClr val="000000">
                      <a:alpha val="43137"/>
                    </a:srgbClr>
                  </a:outerShdw>
                </a:effectLst>
                <a:latin typeface="+mj-lt"/>
              </a:rPr>
              <a:t> </a:t>
            </a:r>
            <a:r>
              <a:rPr lang="en-US" sz="1600" u="none" strike="noStrike" dirty="0">
                <a:effectLst>
                  <a:outerShdw blurRad="38100" dist="38100" dir="2700000" algn="tl">
                    <a:srgbClr val="000000">
                      <a:alpha val="43137"/>
                    </a:srgbClr>
                  </a:outerShdw>
                </a:effectLst>
                <a:latin typeface="+mj-lt"/>
              </a:rPr>
              <a:t>adopts novel pixel difference convolutions that integrate the </a:t>
            </a:r>
            <a:r>
              <a:rPr lang="en-US" sz="1600" b="1" u="none" strike="noStrike" dirty="0">
                <a:effectLst>
                  <a:outerShdw blurRad="38100" dist="38100" dir="2700000" algn="tl">
                    <a:srgbClr val="000000">
                      <a:alpha val="43137"/>
                    </a:srgbClr>
                  </a:outerShdw>
                </a:effectLst>
                <a:latin typeface="+mj-lt"/>
              </a:rPr>
              <a:t>traditional edge detection operators</a:t>
            </a:r>
            <a:r>
              <a:rPr lang="en-US" sz="1600" u="none" strike="noStrike" dirty="0">
                <a:effectLst>
                  <a:outerShdw blurRad="38100" dist="38100" dir="2700000" algn="tl">
                    <a:srgbClr val="000000">
                      <a:alpha val="43137"/>
                    </a:srgbClr>
                  </a:outerShdw>
                </a:effectLst>
                <a:latin typeface="+mj-lt"/>
              </a:rPr>
              <a:t> into the </a:t>
            </a:r>
            <a:r>
              <a:rPr lang="en-US" sz="1600" b="1" u="none" strike="noStrike" dirty="0">
                <a:effectLst>
                  <a:outerShdw blurRad="38100" dist="38100" dir="2700000" algn="tl">
                    <a:srgbClr val="000000">
                      <a:alpha val="43137"/>
                    </a:srgbClr>
                  </a:outerShdw>
                </a:effectLst>
                <a:latin typeface="+mj-lt"/>
              </a:rPr>
              <a:t>popular convolutional operations</a:t>
            </a:r>
            <a:r>
              <a:rPr lang="en-US" sz="1600" u="none" strike="noStrike" dirty="0">
                <a:effectLst>
                  <a:outerShdw blurRad="38100" dist="38100" dir="2700000" algn="tl">
                    <a:srgbClr val="000000">
                      <a:alpha val="43137"/>
                    </a:srgbClr>
                  </a:outerShdw>
                </a:effectLst>
                <a:latin typeface="+mj-lt"/>
              </a:rPr>
              <a:t> in modern CNNs for enhanced performance on the task, which enjoys the best of both worlds.</a:t>
            </a:r>
            <a:endParaRPr lang="en-US" sz="2000" dirty="0">
              <a:latin typeface="+mj-lt"/>
            </a:endParaRPr>
          </a:p>
        </p:txBody>
      </p:sp>
      <p:grpSp>
        <p:nvGrpSpPr>
          <p:cNvPr id="11" name="Group 10">
            <a:extLst>
              <a:ext uri="{FF2B5EF4-FFF2-40B4-BE49-F238E27FC236}">
                <a16:creationId xmlns:a16="http://schemas.microsoft.com/office/drawing/2014/main" id="{E3835BE5-439F-D2CC-647A-58D479236438}"/>
              </a:ext>
            </a:extLst>
          </p:cNvPr>
          <p:cNvGrpSpPr/>
          <p:nvPr/>
        </p:nvGrpSpPr>
        <p:grpSpPr>
          <a:xfrm>
            <a:off x="7113549" y="1458316"/>
            <a:ext cx="1493976" cy="1430138"/>
            <a:chOff x="439371" y="4656406"/>
            <a:chExt cx="1493976" cy="1430138"/>
          </a:xfrm>
        </p:grpSpPr>
        <p:sp>
          <p:nvSpPr>
            <p:cNvPr id="7" name="Shape 1">
              <a:extLst>
                <a:ext uri="{FF2B5EF4-FFF2-40B4-BE49-F238E27FC236}">
                  <a16:creationId xmlns:a16="http://schemas.microsoft.com/office/drawing/2014/main" id="{1B9FBBBB-8310-38B4-5EDF-9A1C42C65596}"/>
                </a:ext>
              </a:extLst>
            </p:cNvPr>
            <p:cNvSpPr/>
            <p:nvPr/>
          </p:nvSpPr>
          <p:spPr>
            <a:xfrm>
              <a:off x="439372" y="4656406"/>
              <a:ext cx="1493975" cy="1429646"/>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8" name="Text 3">
              <a:extLst>
                <a:ext uri="{FF2B5EF4-FFF2-40B4-BE49-F238E27FC236}">
                  <a16:creationId xmlns:a16="http://schemas.microsoft.com/office/drawing/2014/main" id="{E53C12A5-4305-5830-D9F3-FF0347226F0D}"/>
                </a:ext>
              </a:extLst>
            </p:cNvPr>
            <p:cNvSpPr/>
            <p:nvPr/>
          </p:nvSpPr>
          <p:spPr>
            <a:xfrm>
              <a:off x="439371" y="5622858"/>
              <a:ext cx="1493975" cy="463686"/>
            </a:xfrm>
            <a:prstGeom prst="rect">
              <a:avLst/>
            </a:prstGeom>
            <a:noFill/>
            <a:ln/>
          </p:spPr>
          <p:txBody>
            <a:bodyPr wrap="square" rtlCol="0" anchor="ctr"/>
            <a:lstStyle/>
            <a:p>
              <a:pPr marL="0" indent="0" algn="ctr">
                <a:lnSpc>
                  <a:spcPct val="130000"/>
                </a:lnSpc>
                <a:buNone/>
              </a:pPr>
              <a:r>
                <a:rPr lang="en-US" sz="900" dirty="0">
                  <a:solidFill>
                    <a:schemeClr val="tx1">
                      <a:lumMod val="50000"/>
                      <a:lumOff val="50000"/>
                    </a:schemeClr>
                  </a:solidFill>
                  <a:latin typeface="+mj-lt"/>
                  <a:ea typeface="Calibri" pitchFamily="34" charset="-122"/>
                  <a:cs typeface="Calibri" pitchFamily="34" charset="-120"/>
                </a:rPr>
                <a:t>Berkeley Segmentation Dataset </a:t>
              </a:r>
              <a:r>
                <a:rPr lang="en-US" sz="800" dirty="0">
                  <a:solidFill>
                    <a:schemeClr val="tx1">
                      <a:lumMod val="50000"/>
                      <a:lumOff val="50000"/>
                    </a:schemeClr>
                  </a:solidFill>
                  <a:latin typeface="+mj-lt"/>
                  <a:ea typeface="Calibri" pitchFamily="34" charset="-122"/>
                  <a:cs typeface="Calibri" pitchFamily="34" charset="-120"/>
                </a:rPr>
                <a:t>(500 Natural  Images)</a:t>
              </a:r>
              <a:endParaRPr lang="en-US" sz="900" dirty="0">
                <a:solidFill>
                  <a:schemeClr val="tx1">
                    <a:lumMod val="50000"/>
                    <a:lumOff val="50000"/>
                  </a:schemeClr>
                </a:solidFill>
                <a:latin typeface="+mj-lt"/>
              </a:endParaRPr>
            </a:p>
          </p:txBody>
        </p:sp>
        <p:pic>
          <p:nvPicPr>
            <p:cNvPr id="9" name="Image 0" descr="Images with solid fill">
              <a:extLst>
                <a:ext uri="{FF2B5EF4-FFF2-40B4-BE49-F238E27FC236}">
                  <a16:creationId xmlns:a16="http://schemas.microsoft.com/office/drawing/2014/main" id="{AD231EA2-7DB4-28CA-B096-DA5F22DAF21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34899" y="4719320"/>
              <a:ext cx="502920" cy="502920"/>
            </a:xfrm>
            <a:prstGeom prst="rect">
              <a:avLst/>
            </a:prstGeom>
          </p:spPr>
        </p:pic>
        <p:sp>
          <p:nvSpPr>
            <p:cNvPr id="10" name="Text 2">
              <a:extLst>
                <a:ext uri="{FF2B5EF4-FFF2-40B4-BE49-F238E27FC236}">
                  <a16:creationId xmlns:a16="http://schemas.microsoft.com/office/drawing/2014/main" id="{DE878430-5703-F721-203E-80FF22500F56}"/>
                </a:ext>
              </a:extLst>
            </p:cNvPr>
            <p:cNvSpPr/>
            <p:nvPr/>
          </p:nvSpPr>
          <p:spPr>
            <a:xfrm>
              <a:off x="691059" y="5267960"/>
              <a:ext cx="990600" cy="320040"/>
            </a:xfrm>
            <a:prstGeom prst="rect">
              <a:avLst/>
            </a:prstGeom>
            <a:noFill/>
            <a:ln/>
          </p:spPr>
          <p:txBody>
            <a:bodyPr wrap="square" rtlCol="0" anchor="ctr"/>
            <a:lstStyle/>
            <a:p>
              <a:pPr marL="0" indent="0" algn="ctr">
                <a:buNone/>
              </a:pPr>
              <a:r>
                <a:rPr lang="en-US" sz="1400" b="1" dirty="0">
                  <a:effectLst>
                    <a:outerShdw blurRad="38100" dist="38100" dir="2700000" algn="tl">
                      <a:srgbClr val="000000">
                        <a:alpha val="43137"/>
                      </a:srgbClr>
                    </a:outerShdw>
                  </a:effectLst>
                  <a:latin typeface="+mj-lt"/>
                  <a:ea typeface="Trebuchet MS" pitchFamily="34" charset="-122"/>
                  <a:cs typeface="Trebuchet MS" pitchFamily="34" charset="-120"/>
                </a:rPr>
                <a:t>BSDS500</a:t>
              </a:r>
              <a:endParaRPr lang="en-US" sz="1400" dirty="0">
                <a:effectLst>
                  <a:outerShdw blurRad="38100" dist="38100" dir="2700000" algn="tl">
                    <a:srgbClr val="000000">
                      <a:alpha val="43137"/>
                    </a:srgbClr>
                  </a:outerShdw>
                </a:effectLst>
                <a:latin typeface="+mj-lt"/>
              </a:endParaRPr>
            </a:p>
          </p:txBody>
        </p:sp>
      </p:grpSp>
      <p:grpSp>
        <p:nvGrpSpPr>
          <p:cNvPr id="27" name="Group 26">
            <a:extLst>
              <a:ext uri="{FF2B5EF4-FFF2-40B4-BE49-F238E27FC236}">
                <a16:creationId xmlns:a16="http://schemas.microsoft.com/office/drawing/2014/main" id="{57BA6BAF-5875-5AD6-2F8E-C837D135CD38}"/>
              </a:ext>
            </a:extLst>
          </p:cNvPr>
          <p:cNvGrpSpPr/>
          <p:nvPr/>
        </p:nvGrpSpPr>
        <p:grpSpPr>
          <a:xfrm>
            <a:off x="8752831" y="1457824"/>
            <a:ext cx="1493976" cy="1430138"/>
            <a:chOff x="439371" y="4656406"/>
            <a:chExt cx="1493976" cy="1430138"/>
          </a:xfrm>
        </p:grpSpPr>
        <p:sp>
          <p:nvSpPr>
            <p:cNvPr id="28" name="Shape 1">
              <a:extLst>
                <a:ext uri="{FF2B5EF4-FFF2-40B4-BE49-F238E27FC236}">
                  <a16:creationId xmlns:a16="http://schemas.microsoft.com/office/drawing/2014/main" id="{E496432E-65F2-FB0E-E304-A35567D87A37}"/>
                </a:ext>
              </a:extLst>
            </p:cNvPr>
            <p:cNvSpPr/>
            <p:nvPr/>
          </p:nvSpPr>
          <p:spPr>
            <a:xfrm>
              <a:off x="439372" y="4656406"/>
              <a:ext cx="1493975" cy="1429646"/>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29" name="Text 3">
              <a:extLst>
                <a:ext uri="{FF2B5EF4-FFF2-40B4-BE49-F238E27FC236}">
                  <a16:creationId xmlns:a16="http://schemas.microsoft.com/office/drawing/2014/main" id="{85591201-E719-49BD-28AF-68C1D59FE49C}"/>
                </a:ext>
              </a:extLst>
            </p:cNvPr>
            <p:cNvSpPr/>
            <p:nvPr/>
          </p:nvSpPr>
          <p:spPr>
            <a:xfrm>
              <a:off x="439371" y="5622858"/>
              <a:ext cx="1493975" cy="463686"/>
            </a:xfrm>
            <a:prstGeom prst="rect">
              <a:avLst/>
            </a:prstGeom>
            <a:noFill/>
            <a:ln/>
          </p:spPr>
          <p:txBody>
            <a:bodyPr wrap="square" rtlCol="0" anchor="ctr"/>
            <a:lstStyle/>
            <a:p>
              <a:pPr marL="0" indent="0" algn="ctr">
                <a:lnSpc>
                  <a:spcPct val="130000"/>
                </a:lnSpc>
                <a:buNone/>
              </a:pPr>
              <a:r>
                <a:rPr lang="en-US" sz="900" dirty="0">
                  <a:solidFill>
                    <a:schemeClr val="tx1">
                      <a:lumMod val="50000"/>
                      <a:lumOff val="50000"/>
                    </a:schemeClr>
                  </a:solidFill>
                  <a:latin typeface="+mj-lt"/>
                  <a:ea typeface="Calibri" pitchFamily="34" charset="-122"/>
                  <a:cs typeface="Calibri" pitchFamily="34" charset="-120"/>
                </a:rPr>
                <a:t>NYU Depth V2</a:t>
              </a:r>
            </a:p>
            <a:p>
              <a:pPr marL="0" indent="0" algn="ctr">
                <a:lnSpc>
                  <a:spcPct val="130000"/>
                </a:lnSpc>
                <a:buNone/>
              </a:pPr>
              <a:r>
                <a:rPr lang="en-US" sz="700" dirty="0">
                  <a:solidFill>
                    <a:schemeClr val="tx1">
                      <a:lumMod val="50000"/>
                      <a:lumOff val="50000"/>
                    </a:schemeClr>
                  </a:solidFill>
                  <a:latin typeface="+mj-lt"/>
                  <a:ea typeface="Calibri" pitchFamily="34" charset="-122"/>
                  <a:cs typeface="Calibri" pitchFamily="34" charset="-120"/>
                </a:rPr>
                <a:t>(Indoor Video Sequences)</a:t>
              </a:r>
              <a:endParaRPr lang="en-US" sz="700" dirty="0">
                <a:solidFill>
                  <a:schemeClr val="tx1">
                    <a:lumMod val="50000"/>
                    <a:lumOff val="50000"/>
                  </a:schemeClr>
                </a:solidFill>
                <a:latin typeface="+mj-lt"/>
              </a:endParaRPr>
            </a:p>
          </p:txBody>
        </p:sp>
        <p:pic>
          <p:nvPicPr>
            <p:cNvPr id="30" name="Image 0" descr="Images with solid fill">
              <a:extLst>
                <a:ext uri="{FF2B5EF4-FFF2-40B4-BE49-F238E27FC236}">
                  <a16:creationId xmlns:a16="http://schemas.microsoft.com/office/drawing/2014/main" id="{F25C246F-FCA8-BC08-485B-FDD03198938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34899" y="4719320"/>
              <a:ext cx="502920" cy="502920"/>
            </a:xfrm>
            <a:prstGeom prst="rect">
              <a:avLst/>
            </a:prstGeom>
          </p:spPr>
        </p:pic>
        <p:sp>
          <p:nvSpPr>
            <p:cNvPr id="31" name="Text 2">
              <a:extLst>
                <a:ext uri="{FF2B5EF4-FFF2-40B4-BE49-F238E27FC236}">
                  <a16:creationId xmlns:a16="http://schemas.microsoft.com/office/drawing/2014/main" id="{5C895146-EBEA-D551-BC72-2A4E3D760529}"/>
                </a:ext>
              </a:extLst>
            </p:cNvPr>
            <p:cNvSpPr/>
            <p:nvPr/>
          </p:nvSpPr>
          <p:spPr>
            <a:xfrm>
              <a:off x="691059" y="5267960"/>
              <a:ext cx="990600" cy="320040"/>
            </a:xfrm>
            <a:prstGeom prst="rect">
              <a:avLst/>
            </a:prstGeom>
            <a:noFill/>
            <a:ln/>
          </p:spPr>
          <p:txBody>
            <a:bodyPr wrap="square" rtlCol="0" anchor="ctr"/>
            <a:lstStyle/>
            <a:p>
              <a:pPr marL="0" indent="0" algn="ctr">
                <a:buNone/>
              </a:pPr>
              <a:r>
                <a:rPr lang="en-US" sz="1400" b="1" dirty="0">
                  <a:effectLst>
                    <a:outerShdw blurRad="38100" dist="38100" dir="2700000" algn="tl">
                      <a:srgbClr val="000000">
                        <a:alpha val="43137"/>
                      </a:srgbClr>
                    </a:outerShdw>
                  </a:effectLst>
                  <a:latin typeface="+mj-lt"/>
                  <a:ea typeface="Trebuchet MS" pitchFamily="34" charset="-122"/>
                  <a:cs typeface="Trebuchet MS" pitchFamily="34" charset="-120"/>
                </a:rPr>
                <a:t>NYUD</a:t>
              </a:r>
              <a:endParaRPr lang="en-US" sz="1400" dirty="0">
                <a:effectLst>
                  <a:outerShdw blurRad="38100" dist="38100" dir="2700000" algn="tl">
                    <a:srgbClr val="000000">
                      <a:alpha val="43137"/>
                    </a:srgbClr>
                  </a:outerShdw>
                </a:effectLst>
                <a:latin typeface="+mj-lt"/>
              </a:endParaRPr>
            </a:p>
          </p:txBody>
        </p:sp>
      </p:grpSp>
      <p:grpSp>
        <p:nvGrpSpPr>
          <p:cNvPr id="32" name="Group 31">
            <a:extLst>
              <a:ext uri="{FF2B5EF4-FFF2-40B4-BE49-F238E27FC236}">
                <a16:creationId xmlns:a16="http://schemas.microsoft.com/office/drawing/2014/main" id="{2C52E677-2746-FC21-F52B-5C3DB758F42D}"/>
              </a:ext>
            </a:extLst>
          </p:cNvPr>
          <p:cNvGrpSpPr/>
          <p:nvPr/>
        </p:nvGrpSpPr>
        <p:grpSpPr>
          <a:xfrm>
            <a:off x="10384458" y="1457332"/>
            <a:ext cx="1493976" cy="1430138"/>
            <a:chOff x="439371" y="4656406"/>
            <a:chExt cx="1493976" cy="1430138"/>
          </a:xfrm>
        </p:grpSpPr>
        <p:sp>
          <p:nvSpPr>
            <p:cNvPr id="33" name="Shape 1">
              <a:extLst>
                <a:ext uri="{FF2B5EF4-FFF2-40B4-BE49-F238E27FC236}">
                  <a16:creationId xmlns:a16="http://schemas.microsoft.com/office/drawing/2014/main" id="{7F4A03D8-8DF8-0F0D-4DB0-12546A3CDA3F}"/>
                </a:ext>
              </a:extLst>
            </p:cNvPr>
            <p:cNvSpPr/>
            <p:nvPr/>
          </p:nvSpPr>
          <p:spPr>
            <a:xfrm>
              <a:off x="439372" y="4656406"/>
              <a:ext cx="1493975" cy="1429646"/>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34" name="Text 3">
              <a:extLst>
                <a:ext uri="{FF2B5EF4-FFF2-40B4-BE49-F238E27FC236}">
                  <a16:creationId xmlns:a16="http://schemas.microsoft.com/office/drawing/2014/main" id="{01E0F9F0-D8C4-8ADE-F0AD-1B3F45E262DA}"/>
                </a:ext>
              </a:extLst>
            </p:cNvPr>
            <p:cNvSpPr/>
            <p:nvPr/>
          </p:nvSpPr>
          <p:spPr>
            <a:xfrm>
              <a:off x="439371" y="5622858"/>
              <a:ext cx="1493975" cy="463686"/>
            </a:xfrm>
            <a:prstGeom prst="rect">
              <a:avLst/>
            </a:prstGeom>
            <a:noFill/>
            <a:ln/>
          </p:spPr>
          <p:txBody>
            <a:bodyPr wrap="square" rtlCol="0" anchor="ctr"/>
            <a:lstStyle/>
            <a:p>
              <a:pPr marL="0" indent="0" algn="ctr">
                <a:lnSpc>
                  <a:spcPct val="130000"/>
                </a:lnSpc>
                <a:buNone/>
              </a:pPr>
              <a:r>
                <a:rPr lang="en-US" sz="900" dirty="0">
                  <a:solidFill>
                    <a:schemeClr val="tx1">
                      <a:lumMod val="50000"/>
                      <a:lumOff val="50000"/>
                    </a:schemeClr>
                  </a:solidFill>
                  <a:latin typeface="+mj-lt"/>
                  <a:ea typeface="Calibri" pitchFamily="34" charset="-122"/>
                  <a:cs typeface="Calibri" pitchFamily="34" charset="-120"/>
                </a:rPr>
                <a:t> Multicue Dataset for Boundary Detection </a:t>
              </a:r>
            </a:p>
            <a:p>
              <a:pPr marL="0" indent="0" algn="ctr">
                <a:lnSpc>
                  <a:spcPct val="130000"/>
                </a:lnSpc>
                <a:buNone/>
              </a:pPr>
              <a:r>
                <a:rPr lang="en-US" sz="700" dirty="0">
                  <a:solidFill>
                    <a:schemeClr val="tx1">
                      <a:lumMod val="50000"/>
                      <a:lumOff val="50000"/>
                    </a:schemeClr>
                  </a:solidFill>
                  <a:latin typeface="+mj-lt"/>
                  <a:ea typeface="Calibri" pitchFamily="34" charset="-122"/>
                  <a:cs typeface="Calibri" pitchFamily="34" charset="-120"/>
                </a:rPr>
                <a:t>(early visual cues i.e. luminance)</a:t>
              </a:r>
              <a:endParaRPr lang="en-US" sz="700" dirty="0">
                <a:solidFill>
                  <a:schemeClr val="tx1">
                    <a:lumMod val="50000"/>
                    <a:lumOff val="50000"/>
                  </a:schemeClr>
                </a:solidFill>
                <a:latin typeface="+mj-lt"/>
              </a:endParaRPr>
            </a:p>
          </p:txBody>
        </p:sp>
        <p:pic>
          <p:nvPicPr>
            <p:cNvPr id="35" name="Image 0" descr="Images with solid fill">
              <a:extLst>
                <a:ext uri="{FF2B5EF4-FFF2-40B4-BE49-F238E27FC236}">
                  <a16:creationId xmlns:a16="http://schemas.microsoft.com/office/drawing/2014/main" id="{909BFACF-BB3A-682C-56FF-569178EE30D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34899" y="4719320"/>
              <a:ext cx="502920" cy="502920"/>
            </a:xfrm>
            <a:prstGeom prst="rect">
              <a:avLst/>
            </a:prstGeom>
          </p:spPr>
        </p:pic>
        <p:sp>
          <p:nvSpPr>
            <p:cNvPr id="36" name="Text 2">
              <a:extLst>
                <a:ext uri="{FF2B5EF4-FFF2-40B4-BE49-F238E27FC236}">
                  <a16:creationId xmlns:a16="http://schemas.microsoft.com/office/drawing/2014/main" id="{3E197F4E-C52D-EFA5-2E86-934AABA1B6AA}"/>
                </a:ext>
              </a:extLst>
            </p:cNvPr>
            <p:cNvSpPr/>
            <p:nvPr/>
          </p:nvSpPr>
          <p:spPr>
            <a:xfrm>
              <a:off x="691059" y="5267960"/>
              <a:ext cx="990600" cy="320040"/>
            </a:xfrm>
            <a:prstGeom prst="rect">
              <a:avLst/>
            </a:prstGeom>
            <a:noFill/>
            <a:ln/>
          </p:spPr>
          <p:txBody>
            <a:bodyPr wrap="square" rtlCol="0" anchor="ctr"/>
            <a:lstStyle/>
            <a:p>
              <a:pPr marL="0" indent="0" algn="ctr">
                <a:buNone/>
              </a:pPr>
              <a:r>
                <a:rPr lang="en-US" sz="1400" b="1" dirty="0">
                  <a:effectLst>
                    <a:outerShdw blurRad="38100" dist="38100" dir="2700000" algn="tl">
                      <a:srgbClr val="000000">
                        <a:alpha val="43137"/>
                      </a:srgbClr>
                    </a:outerShdw>
                  </a:effectLst>
                  <a:latin typeface="+mj-lt"/>
                  <a:ea typeface="Trebuchet MS" pitchFamily="34" charset="-122"/>
                  <a:cs typeface="Trebuchet MS" pitchFamily="34" charset="-120"/>
                </a:rPr>
                <a:t>MDBD</a:t>
              </a:r>
              <a:endParaRPr lang="en-US" sz="1400" dirty="0">
                <a:effectLst>
                  <a:outerShdw blurRad="38100" dist="38100" dir="2700000" algn="tl">
                    <a:srgbClr val="000000">
                      <a:alpha val="43137"/>
                    </a:srgbClr>
                  </a:outerShdw>
                </a:effectLst>
                <a:latin typeface="+mj-lt"/>
              </a:endParaRPr>
            </a:p>
          </p:txBody>
        </p:sp>
      </p:grpSp>
      <p:sp>
        <p:nvSpPr>
          <p:cNvPr id="39" name="Rectangle 38">
            <a:extLst>
              <a:ext uri="{FF2B5EF4-FFF2-40B4-BE49-F238E27FC236}">
                <a16:creationId xmlns:a16="http://schemas.microsoft.com/office/drawing/2014/main" id="{63CB5CB4-2461-5657-7E7D-23CAD9C5D847}"/>
              </a:ext>
            </a:extLst>
          </p:cNvPr>
          <p:cNvSpPr/>
          <p:nvPr/>
        </p:nvSpPr>
        <p:spPr>
          <a:xfrm>
            <a:off x="7113549" y="1066634"/>
            <a:ext cx="3455617" cy="399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200" b="1" dirty="0">
                <a:solidFill>
                  <a:schemeClr val="accent3"/>
                </a:solidFill>
                <a:latin typeface="Montserrat" panose="00000500000000000000" pitchFamily="50" charset="0"/>
              </a:rPr>
              <a:t>Dataset Used</a:t>
            </a:r>
            <a:endParaRPr lang="en-GB" sz="1200" dirty="0">
              <a:solidFill>
                <a:schemeClr val="accent3"/>
              </a:solidFill>
              <a:latin typeface="Montserrat" panose="00000500000000000000" pitchFamily="50" charset="0"/>
            </a:endParaRPr>
          </a:p>
        </p:txBody>
      </p:sp>
      <p:cxnSp>
        <p:nvCxnSpPr>
          <p:cNvPr id="40" name="Straight Connector 39">
            <a:extLst>
              <a:ext uri="{FF2B5EF4-FFF2-40B4-BE49-F238E27FC236}">
                <a16:creationId xmlns:a16="http://schemas.microsoft.com/office/drawing/2014/main" id="{8E5DD6A5-8E89-CFB9-1623-08A5B8039EA1}"/>
              </a:ext>
            </a:extLst>
          </p:cNvPr>
          <p:cNvCxnSpPr>
            <a:cxnSpLocks/>
          </p:cNvCxnSpPr>
          <p:nvPr/>
        </p:nvCxnSpPr>
        <p:spPr>
          <a:xfrm>
            <a:off x="7113549" y="1362723"/>
            <a:ext cx="4938531" cy="0"/>
          </a:xfrm>
          <a:prstGeom prst="line">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5330FEEF-CCEC-6ED5-CE69-CDC521B28CB5}"/>
              </a:ext>
            </a:extLst>
          </p:cNvPr>
          <p:cNvPicPr>
            <a:picLocks noChangeAspect="1"/>
          </p:cNvPicPr>
          <p:nvPr/>
        </p:nvPicPr>
        <p:blipFill>
          <a:blip r:embed="rId5"/>
          <a:stretch>
            <a:fillRect/>
          </a:stretch>
        </p:blipFill>
        <p:spPr>
          <a:xfrm>
            <a:off x="915152" y="3163396"/>
            <a:ext cx="5174132" cy="3043286"/>
          </a:xfrm>
          <a:prstGeom prst="rect">
            <a:avLst/>
          </a:prstGeom>
        </p:spPr>
      </p:pic>
      <p:sp>
        <p:nvSpPr>
          <p:cNvPr id="48" name="TextBox 47">
            <a:extLst>
              <a:ext uri="{FF2B5EF4-FFF2-40B4-BE49-F238E27FC236}">
                <a16:creationId xmlns:a16="http://schemas.microsoft.com/office/drawing/2014/main" id="{D66CBA3B-3006-8DF0-4ABA-9865F3CB3224}"/>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6"/>
              </a:rPr>
              <a:t>10.1109/ICCV48922.2021.00507</a:t>
            </a:r>
            <a:endParaRPr lang="en-US" sz="1100" dirty="0">
              <a:latin typeface="+mj-lt"/>
            </a:endParaRPr>
          </a:p>
        </p:txBody>
      </p:sp>
      <p:sp>
        <p:nvSpPr>
          <p:cNvPr id="57" name="TextBox 56">
            <a:extLst>
              <a:ext uri="{FF2B5EF4-FFF2-40B4-BE49-F238E27FC236}">
                <a16:creationId xmlns:a16="http://schemas.microsoft.com/office/drawing/2014/main" id="{8B971554-7223-3B87-42B6-88CEF4881DD1}"/>
              </a:ext>
            </a:extLst>
          </p:cNvPr>
          <p:cNvSpPr txBox="1"/>
          <p:nvPr/>
        </p:nvSpPr>
        <p:spPr>
          <a:xfrm>
            <a:off x="7191527" y="3456552"/>
            <a:ext cx="4938531" cy="2215991"/>
          </a:xfrm>
          <a:prstGeom prst="rect">
            <a:avLst/>
          </a:prstGeom>
          <a:noFill/>
        </p:spPr>
        <p:txBody>
          <a:bodyPr wrap="square">
            <a:spAutoFit/>
          </a:bodyPr>
          <a:lstStyle/>
          <a:p>
            <a:pPr>
              <a:spcAft>
                <a:spcPts val="900"/>
              </a:spcAft>
              <a:defRPr sz="1800">
                <a:solidFill>
                  <a:srgbClr val="303C49"/>
                </a:solidFill>
              </a:defRPr>
            </a:pPr>
            <a:r>
              <a:rPr lang="en-US" sz="1200" b="1" dirty="0"/>
              <a:t>Goal: </a:t>
            </a:r>
          </a:p>
          <a:p>
            <a:pPr algn="just">
              <a:spcAft>
                <a:spcPts val="900"/>
              </a:spcAft>
              <a:defRPr sz="1800">
                <a:solidFill>
                  <a:srgbClr val="303C49"/>
                </a:solidFill>
              </a:defRPr>
            </a:pPr>
            <a:r>
              <a:rPr lang="en-US" sz="1200" dirty="0"/>
              <a:t>Detect object boundaries accurately while using far less computation, memory and training data than large CNN edge detectors.</a:t>
            </a:r>
          </a:p>
          <a:p>
            <a:pPr>
              <a:spcAft>
                <a:spcPts val="900"/>
              </a:spcAft>
              <a:defRPr sz="1800">
                <a:solidFill>
                  <a:srgbClr val="303C49"/>
                </a:solidFill>
              </a:defRPr>
            </a:pPr>
            <a:r>
              <a:rPr lang="en-US" sz="1200" b="1" dirty="0"/>
              <a:t>Key idea:</a:t>
            </a:r>
          </a:p>
          <a:p>
            <a:pPr algn="just">
              <a:spcAft>
                <a:spcPts val="900"/>
              </a:spcAft>
              <a:defRPr sz="1800">
                <a:solidFill>
                  <a:srgbClr val="303C49"/>
                </a:solidFill>
              </a:defRPr>
            </a:pPr>
            <a:r>
              <a:rPr lang="en-US" sz="1200" dirty="0"/>
              <a:t>Explicitly compute local pixel differences before convolution, injecting gradient/edge cues into learnable CNN features.</a:t>
            </a:r>
          </a:p>
          <a:p>
            <a:pPr algn="just">
              <a:spcAft>
                <a:spcPts val="900"/>
              </a:spcAft>
              <a:defRPr sz="1800">
                <a:solidFill>
                  <a:srgbClr val="303C49"/>
                </a:solidFill>
              </a:defRPr>
            </a:pPr>
            <a:r>
              <a:rPr lang="en-US" sz="1200" dirty="0"/>
              <a:t>PiDiNet combines this operation with a slim backbone, residual shortcuts and an efficient side structure that fuses edge maps from four stages.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A8496-DC00-0DD8-AC66-5270E2E87CB6}"/>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9FBDD6C6-7169-9176-1B9B-2D61D8786C05}"/>
              </a:ext>
            </a:extLst>
          </p:cNvPr>
          <p:cNvSpPr/>
          <p:nvPr/>
        </p:nvSpPr>
        <p:spPr>
          <a:xfrm>
            <a:off x="3466440" y="-5830920"/>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0FF17C07-E337-2E03-89D4-E8C0AA7F0D06}"/>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DD3C7510-E619-18C5-4806-11EFD4D92A4C}"/>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B419DE8F-71A7-68DE-BE6C-BE5F37EEE7F2}"/>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3</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6B584CEA-A6CA-9786-4E9A-7674118607D7}"/>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E96A154A-A410-907B-DAD4-A76FFE5FD353}"/>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Pixel Difference Convolution (PDC)</a:t>
            </a:r>
          </a:p>
        </p:txBody>
      </p:sp>
      <p:pic>
        <p:nvPicPr>
          <p:cNvPr id="99" name="Picture 2" descr="Nust Logo - CrystalPng">
            <a:extLst>
              <a:ext uri="{FF2B5EF4-FFF2-40B4-BE49-F238E27FC236}">
                <a16:creationId xmlns:a16="http://schemas.microsoft.com/office/drawing/2014/main" id="{A779A966-F55B-1E50-B801-65713716BDCF}"/>
              </a:ext>
            </a:extLst>
          </p:cNvPr>
          <p:cNvPicPr/>
          <p:nvPr/>
        </p:nvPicPr>
        <p:blipFill>
          <a:blip r:embed="rId3"/>
          <a:stretch/>
        </p:blipFill>
        <p:spPr>
          <a:xfrm>
            <a:off x="11068200" y="-11520"/>
            <a:ext cx="1123560" cy="1123560"/>
          </a:xfrm>
          <a:prstGeom prst="rect">
            <a:avLst/>
          </a:prstGeom>
          <a:ln w="0">
            <a:noFill/>
          </a:ln>
        </p:spPr>
      </p:pic>
      <p:sp>
        <p:nvSpPr>
          <p:cNvPr id="48" name="TextBox 47">
            <a:extLst>
              <a:ext uri="{FF2B5EF4-FFF2-40B4-BE49-F238E27FC236}">
                <a16:creationId xmlns:a16="http://schemas.microsoft.com/office/drawing/2014/main" id="{75103A7A-E13A-755E-5336-DC9000DBB0AE}"/>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2" name="Rounded Rectangle 4">
            <a:extLst>
              <a:ext uri="{FF2B5EF4-FFF2-40B4-BE49-F238E27FC236}">
                <a16:creationId xmlns:a16="http://schemas.microsoft.com/office/drawing/2014/main" id="{96205FA2-18FB-428E-EC5B-363BBF79FBE0}"/>
              </a:ext>
            </a:extLst>
          </p:cNvPr>
          <p:cNvSpPr/>
          <p:nvPr/>
        </p:nvSpPr>
        <p:spPr>
          <a:xfrm>
            <a:off x="394543" y="1742348"/>
            <a:ext cx="2743200" cy="3337560"/>
          </a:xfrm>
          <a:prstGeom prst="roundRect">
            <a:avLst/>
          </a:prstGeom>
          <a:solidFill>
            <a:srgbClr val="F2F6FA"/>
          </a:solidFill>
          <a:ln w="12700">
            <a:solidFill>
              <a:srgbClr val="DAE3EC"/>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0">
                <a:solidFill>
                  <a:srgbClr val="303C49"/>
                </a:solidFill>
              </a:defRPr>
            </a:pPr>
            <a:r>
              <a:rPr b="1" dirty="0">
                <a:latin typeface="+mj-lt"/>
              </a:rPr>
              <a:t>Vanilla convolution</a:t>
            </a:r>
            <a:br>
              <a:rPr b="1" dirty="0">
                <a:latin typeface="+mj-lt"/>
              </a:rPr>
            </a:br>
            <a:br>
              <a:rPr dirty="0">
                <a:latin typeface="+mj-lt"/>
              </a:rPr>
            </a:br>
            <a:r>
              <a:rPr dirty="0">
                <a:latin typeface="+mj-lt"/>
              </a:rPr>
              <a:t>Local pixels → weighted sum</a:t>
            </a:r>
            <a:br>
              <a:rPr dirty="0">
                <a:latin typeface="+mj-lt"/>
              </a:rPr>
            </a:br>
            <a:br>
              <a:rPr dirty="0">
                <a:latin typeface="+mj-lt"/>
              </a:rPr>
            </a:br>
            <a:r>
              <a:rPr dirty="0">
                <a:latin typeface="+mj-lt"/>
              </a:rPr>
              <a:t>Learns useful patterns,</a:t>
            </a:r>
            <a:br>
              <a:rPr dirty="0">
                <a:latin typeface="+mj-lt"/>
              </a:rPr>
            </a:br>
            <a:r>
              <a:rPr dirty="0">
                <a:latin typeface="+mj-lt"/>
              </a:rPr>
              <a:t>but has no explicit</a:t>
            </a:r>
            <a:br>
              <a:rPr dirty="0">
                <a:latin typeface="+mj-lt"/>
              </a:rPr>
            </a:br>
            <a:r>
              <a:rPr dirty="0">
                <a:latin typeface="+mj-lt"/>
              </a:rPr>
              <a:t>preference for gradients.</a:t>
            </a:r>
          </a:p>
        </p:txBody>
      </p:sp>
      <p:sp>
        <p:nvSpPr>
          <p:cNvPr id="3" name="Rounded Rectangle 5">
            <a:extLst>
              <a:ext uri="{FF2B5EF4-FFF2-40B4-BE49-F238E27FC236}">
                <a16:creationId xmlns:a16="http://schemas.microsoft.com/office/drawing/2014/main" id="{5F2D4CB4-786D-5095-D7CC-8AE73BC876EC}"/>
              </a:ext>
            </a:extLst>
          </p:cNvPr>
          <p:cNvSpPr/>
          <p:nvPr/>
        </p:nvSpPr>
        <p:spPr>
          <a:xfrm>
            <a:off x="3640663" y="1742348"/>
            <a:ext cx="3657600" cy="3337560"/>
          </a:xfrm>
          <a:prstGeom prst="roundRect">
            <a:avLst/>
          </a:prstGeom>
          <a:solidFill>
            <a:schemeClr val="accent2">
              <a:lumMod val="20000"/>
              <a:lumOff val="80000"/>
            </a:schemeClr>
          </a:solidFill>
          <a:ln w="1270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800" b="0">
                <a:solidFill>
                  <a:srgbClr val="303C49"/>
                </a:solidFill>
              </a:defRPr>
            </a:pPr>
            <a:r>
              <a:rPr b="1" dirty="0">
                <a:latin typeface="+mj-lt"/>
              </a:rPr>
              <a:t>PDC</a:t>
            </a:r>
            <a:br>
              <a:rPr dirty="0">
                <a:latin typeface="+mj-lt"/>
              </a:rPr>
            </a:br>
            <a:br>
              <a:rPr dirty="0">
                <a:latin typeface="+mj-lt"/>
              </a:rPr>
            </a:br>
            <a:r>
              <a:rPr dirty="0">
                <a:latin typeface="+mj-lt"/>
              </a:rPr>
              <a:t>1. Select pixel pairs</a:t>
            </a:r>
            <a:br>
              <a:rPr dirty="0">
                <a:latin typeface="+mj-lt"/>
              </a:rPr>
            </a:br>
            <a:r>
              <a:rPr dirty="0">
                <a:latin typeface="+mj-lt"/>
              </a:rPr>
              <a:t>2. Compute differences</a:t>
            </a:r>
            <a:br>
              <a:rPr dirty="0">
                <a:latin typeface="+mj-lt"/>
              </a:rPr>
            </a:br>
            <a:r>
              <a:rPr dirty="0">
                <a:latin typeface="+mj-lt"/>
              </a:rPr>
              <a:t>   (xᵢ − xᵢ′)</a:t>
            </a:r>
            <a:br>
              <a:rPr dirty="0">
                <a:latin typeface="+mj-lt"/>
              </a:rPr>
            </a:br>
            <a:r>
              <a:rPr dirty="0">
                <a:latin typeface="+mj-lt"/>
              </a:rPr>
              <a:t>3. Multiply differences</a:t>
            </a:r>
            <a:br>
              <a:rPr dirty="0">
                <a:latin typeface="+mj-lt"/>
              </a:rPr>
            </a:br>
            <a:r>
              <a:rPr dirty="0">
                <a:latin typeface="+mj-lt"/>
              </a:rPr>
              <a:t>   by learnable weights</a:t>
            </a:r>
            <a:br>
              <a:rPr dirty="0">
                <a:latin typeface="+mj-lt"/>
              </a:rPr>
            </a:br>
            <a:r>
              <a:rPr dirty="0">
                <a:latin typeface="+mj-lt"/>
              </a:rPr>
              <a:t>4. Sum → output feature</a:t>
            </a:r>
          </a:p>
        </p:txBody>
      </p:sp>
      <p:sp>
        <p:nvSpPr>
          <p:cNvPr id="4" name="Rounded Rectangle 6">
            <a:extLst>
              <a:ext uri="{FF2B5EF4-FFF2-40B4-BE49-F238E27FC236}">
                <a16:creationId xmlns:a16="http://schemas.microsoft.com/office/drawing/2014/main" id="{4DB0D5B6-CE2F-CF37-4EC3-5929CBD462C8}"/>
              </a:ext>
            </a:extLst>
          </p:cNvPr>
          <p:cNvSpPr/>
          <p:nvPr/>
        </p:nvSpPr>
        <p:spPr>
          <a:xfrm>
            <a:off x="7709742" y="1742348"/>
            <a:ext cx="3566160" cy="3337560"/>
          </a:xfrm>
          <a:prstGeom prst="roundRect">
            <a:avLst/>
          </a:prstGeom>
          <a:solidFill>
            <a:srgbClr val="F2F6FA"/>
          </a:solidFill>
          <a:ln w="12700">
            <a:solidFill>
              <a:srgbClr val="2768AD"/>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700" b="0">
                <a:solidFill>
                  <a:srgbClr val="303C49"/>
                </a:solidFill>
              </a:defRPr>
            </a:pPr>
            <a:r>
              <a:rPr b="1" dirty="0">
                <a:latin typeface="+mj-lt"/>
              </a:rPr>
              <a:t>Why this helps</a:t>
            </a:r>
            <a:br>
              <a:rPr dirty="0">
                <a:latin typeface="+mj-lt"/>
              </a:rPr>
            </a:br>
            <a:br>
              <a:rPr dirty="0">
                <a:latin typeface="+mj-lt"/>
              </a:rPr>
            </a:br>
            <a:r>
              <a:rPr dirty="0">
                <a:latin typeface="+mj-lt"/>
              </a:rPr>
              <a:t>Pixel differences directly</a:t>
            </a:r>
            <a:br>
              <a:rPr dirty="0">
                <a:latin typeface="+mj-lt"/>
              </a:rPr>
            </a:br>
            <a:r>
              <a:rPr dirty="0">
                <a:latin typeface="+mj-lt"/>
              </a:rPr>
              <a:t>respond to local intensity,</a:t>
            </a:r>
            <a:br>
              <a:rPr dirty="0">
                <a:latin typeface="+mj-lt"/>
              </a:rPr>
            </a:br>
            <a:r>
              <a:rPr dirty="0">
                <a:latin typeface="+mj-lt"/>
              </a:rPr>
              <a:t>color or texture changes.</a:t>
            </a:r>
            <a:br>
              <a:rPr dirty="0">
                <a:latin typeface="+mj-lt"/>
              </a:rPr>
            </a:br>
            <a:br>
              <a:rPr dirty="0">
                <a:latin typeface="+mj-lt"/>
              </a:rPr>
            </a:br>
            <a:r>
              <a:rPr dirty="0">
                <a:latin typeface="+mj-lt"/>
              </a:rPr>
              <a:t>These changes are exactly</a:t>
            </a:r>
            <a:br>
              <a:rPr dirty="0">
                <a:latin typeface="+mj-lt"/>
              </a:rPr>
            </a:br>
            <a:r>
              <a:rPr dirty="0">
                <a:latin typeface="+mj-lt"/>
              </a:rPr>
              <a:t>where edges tend to occur.</a:t>
            </a:r>
          </a:p>
        </p:txBody>
      </p:sp>
      <p:sp>
        <p:nvSpPr>
          <p:cNvPr id="12" name="TextBox 11">
            <a:extLst>
              <a:ext uri="{FF2B5EF4-FFF2-40B4-BE49-F238E27FC236}">
                <a16:creationId xmlns:a16="http://schemas.microsoft.com/office/drawing/2014/main" id="{A4445FFD-E390-9B4E-5757-7AB1641F57D1}"/>
              </a:ext>
            </a:extLst>
          </p:cNvPr>
          <p:cNvSpPr txBox="1"/>
          <p:nvPr/>
        </p:nvSpPr>
        <p:spPr>
          <a:xfrm>
            <a:off x="734734" y="5352674"/>
            <a:ext cx="1996972" cy="523220"/>
          </a:xfrm>
          <a:prstGeom prst="rect">
            <a:avLst/>
          </a:prstGeom>
          <a:noFill/>
        </p:spPr>
        <p:txBody>
          <a:bodyPr wrap="square">
            <a:spAutoFit/>
          </a:bodyPr>
          <a:lstStyle/>
          <a:p>
            <a:pPr algn="ctr"/>
            <a:r>
              <a:rPr lang="en-US" sz="2800" dirty="0"/>
              <a:t>y = </a:t>
            </a:r>
            <a:r>
              <a:rPr lang="el-GR" sz="2800" dirty="0"/>
              <a:t>Σ </a:t>
            </a:r>
            <a:r>
              <a:rPr lang="en-US" sz="2800" dirty="0"/>
              <a:t>wᵢ xᵢ</a:t>
            </a:r>
          </a:p>
        </p:txBody>
      </p:sp>
      <p:sp>
        <p:nvSpPr>
          <p:cNvPr id="14" name="TextBox 13">
            <a:extLst>
              <a:ext uri="{FF2B5EF4-FFF2-40B4-BE49-F238E27FC236}">
                <a16:creationId xmlns:a16="http://schemas.microsoft.com/office/drawing/2014/main" id="{2D1E0535-0960-35D8-8887-607CF1666711}"/>
              </a:ext>
            </a:extLst>
          </p:cNvPr>
          <p:cNvSpPr txBox="1"/>
          <p:nvPr/>
        </p:nvSpPr>
        <p:spPr>
          <a:xfrm>
            <a:off x="3868433" y="5352674"/>
            <a:ext cx="3202060" cy="523220"/>
          </a:xfrm>
          <a:prstGeom prst="rect">
            <a:avLst/>
          </a:prstGeom>
          <a:noFill/>
        </p:spPr>
        <p:txBody>
          <a:bodyPr wrap="square">
            <a:spAutoFit/>
          </a:bodyPr>
          <a:lstStyle/>
          <a:p>
            <a:pPr algn="ctr"/>
            <a:r>
              <a:rPr lang="es-ES" sz="2800" dirty="0"/>
              <a:t>y = Σ wᵢ (xᵢ − xᵢ′)</a:t>
            </a:r>
            <a:endParaRPr lang="en-US" sz="2800" dirty="0"/>
          </a:p>
        </p:txBody>
      </p:sp>
    </p:spTree>
    <p:extLst>
      <p:ext uri="{BB962C8B-B14F-4D97-AF65-F5344CB8AC3E}">
        <p14:creationId xmlns:p14="http://schemas.microsoft.com/office/powerpoint/2010/main" val="351165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C521B-CA52-44C5-28D5-C338E7B8CCF0}"/>
            </a:ext>
          </a:extLst>
        </p:cNvPr>
        <p:cNvGrpSpPr/>
        <p:nvPr/>
      </p:nvGrpSpPr>
      <p:grpSpPr>
        <a:xfrm>
          <a:off x="0" y="0"/>
          <a:ext cx="0" cy="0"/>
          <a:chOff x="0" y="0"/>
          <a:chExt cx="0" cy="0"/>
        </a:xfrm>
      </p:grpSpPr>
      <p:sp>
        <p:nvSpPr>
          <p:cNvPr id="12" name="Oval 74">
            <a:extLst>
              <a:ext uri="{FF2B5EF4-FFF2-40B4-BE49-F238E27FC236}">
                <a16:creationId xmlns:a16="http://schemas.microsoft.com/office/drawing/2014/main" id="{2CDBA5DB-9DE0-2E1A-7436-BB9B85A501CD}"/>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sp>
        <p:nvSpPr>
          <p:cNvPr id="90" name="Oval 74">
            <a:extLst>
              <a:ext uri="{FF2B5EF4-FFF2-40B4-BE49-F238E27FC236}">
                <a16:creationId xmlns:a16="http://schemas.microsoft.com/office/drawing/2014/main" id="{6A791D3C-DB93-34F0-6F94-75B894A24F65}"/>
              </a:ext>
            </a:extLst>
          </p:cNvPr>
          <p:cNvSpPr/>
          <p:nvPr/>
        </p:nvSpPr>
        <p:spPr>
          <a:xfrm>
            <a:off x="3466440" y="-5830920"/>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28F86865-FA15-7806-EEEF-4C2E4C5CBC6D}"/>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FBA57F16-69F5-C096-99EF-A7BA56D5B331}"/>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9EDE303F-DC7F-CE01-3366-F073D74B7BD4}"/>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4</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CEF0CD72-0FDA-35C5-20FF-2B91025E6122}"/>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8618D813-6E5A-F031-40F0-111483760C1D}"/>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Pixel Difference Convolution (PDC)</a:t>
            </a:r>
          </a:p>
        </p:txBody>
      </p:sp>
      <p:pic>
        <p:nvPicPr>
          <p:cNvPr id="99" name="Picture 2" descr="Nust Logo - CrystalPng">
            <a:extLst>
              <a:ext uri="{FF2B5EF4-FFF2-40B4-BE49-F238E27FC236}">
                <a16:creationId xmlns:a16="http://schemas.microsoft.com/office/drawing/2014/main" id="{ADC51272-8FB6-BE27-3E82-7B9B9E5CED79}"/>
              </a:ext>
            </a:extLst>
          </p:cNvPr>
          <p:cNvPicPr/>
          <p:nvPr/>
        </p:nvPicPr>
        <p:blipFill>
          <a:blip r:embed="rId3"/>
          <a:stretch/>
        </p:blipFill>
        <p:spPr>
          <a:xfrm>
            <a:off x="11068200" y="-11520"/>
            <a:ext cx="1123560" cy="1123560"/>
          </a:xfrm>
          <a:prstGeom prst="rect">
            <a:avLst/>
          </a:prstGeom>
          <a:ln w="0">
            <a:noFill/>
          </a:ln>
        </p:spPr>
      </p:pic>
      <p:sp>
        <p:nvSpPr>
          <p:cNvPr id="48" name="TextBox 47">
            <a:extLst>
              <a:ext uri="{FF2B5EF4-FFF2-40B4-BE49-F238E27FC236}">
                <a16:creationId xmlns:a16="http://schemas.microsoft.com/office/drawing/2014/main" id="{3004C372-DFC5-D886-0DEC-93B0B602768B}"/>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5" name="TextBox 3">
            <a:extLst>
              <a:ext uri="{FF2B5EF4-FFF2-40B4-BE49-F238E27FC236}">
                <a16:creationId xmlns:a16="http://schemas.microsoft.com/office/drawing/2014/main" id="{C65EE622-2DE5-0AA5-50D2-E945C54C58A9}"/>
              </a:ext>
            </a:extLst>
          </p:cNvPr>
          <p:cNvSpPr txBox="1"/>
          <p:nvPr/>
        </p:nvSpPr>
        <p:spPr>
          <a:xfrm>
            <a:off x="139680" y="584905"/>
            <a:ext cx="5572963" cy="28469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303C49"/>
                </a:solidFill>
              </a:defRPr>
            </a:pPr>
            <a:r>
              <a:rPr dirty="0"/>
              <a:t>Different pair-selection patterns capture complementary gradient information</a:t>
            </a:r>
          </a:p>
        </p:txBody>
      </p:sp>
      <p:sp>
        <p:nvSpPr>
          <p:cNvPr id="59" name="Rounded Rectangle 54">
            <a:extLst>
              <a:ext uri="{FF2B5EF4-FFF2-40B4-BE49-F238E27FC236}">
                <a16:creationId xmlns:a16="http://schemas.microsoft.com/office/drawing/2014/main" id="{20B55295-41F4-CCAD-82C1-6D18D6743342}"/>
              </a:ext>
            </a:extLst>
          </p:cNvPr>
          <p:cNvSpPr/>
          <p:nvPr/>
        </p:nvSpPr>
        <p:spPr>
          <a:xfrm>
            <a:off x="847344" y="5463540"/>
            <a:ext cx="10469880" cy="530352"/>
          </a:xfrm>
          <a:prstGeom prst="roundRect">
            <a:avLst/>
          </a:prstGeom>
          <a:solidFill>
            <a:srgbClr val="F2F6FA"/>
          </a:solidFill>
          <a:ln w="12700">
            <a:solidFill>
              <a:srgbClr val="DAE3EC"/>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500" b="1">
                <a:solidFill>
                  <a:srgbClr val="303C49"/>
                </a:solidFill>
              </a:defRPr>
            </a:pPr>
            <a:r>
              <a:rPr dirty="0"/>
              <a:t>PiDiNet uses a mixed sequence</a:t>
            </a:r>
            <a:r>
              <a:t>: [</a:t>
            </a:r>
            <a:r>
              <a:rPr dirty="0"/>
              <a:t>CPDC → APDC → RPDC → Vanilla] repeated across the four stages.</a:t>
            </a:r>
          </a:p>
        </p:txBody>
      </p:sp>
      <p:pic>
        <p:nvPicPr>
          <p:cNvPr id="3" name="Picture 2">
            <a:extLst>
              <a:ext uri="{FF2B5EF4-FFF2-40B4-BE49-F238E27FC236}">
                <a16:creationId xmlns:a16="http://schemas.microsoft.com/office/drawing/2014/main" id="{EAA55718-D99F-6952-6F0C-84C2ECC53C7C}"/>
              </a:ext>
            </a:extLst>
          </p:cNvPr>
          <p:cNvPicPr>
            <a:picLocks noChangeAspect="1"/>
          </p:cNvPicPr>
          <p:nvPr/>
        </p:nvPicPr>
        <p:blipFill>
          <a:blip r:embed="rId5"/>
          <a:stretch>
            <a:fillRect/>
          </a:stretch>
        </p:blipFill>
        <p:spPr>
          <a:xfrm>
            <a:off x="2555975" y="990748"/>
            <a:ext cx="7079810" cy="4230350"/>
          </a:xfrm>
          <a:prstGeom prst="rect">
            <a:avLst/>
          </a:prstGeom>
        </p:spPr>
      </p:pic>
    </p:spTree>
    <p:extLst>
      <p:ext uri="{BB962C8B-B14F-4D97-AF65-F5344CB8AC3E}">
        <p14:creationId xmlns:p14="http://schemas.microsoft.com/office/powerpoint/2010/main" val="1812788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D46E8-3E2F-D44F-A5BB-D0EA30411044}"/>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4C4D2C05-7CD2-1A49-2EB0-70756B057361}"/>
              </a:ext>
            </a:extLst>
          </p:cNvPr>
          <p:cNvSpPr/>
          <p:nvPr/>
        </p:nvSpPr>
        <p:spPr>
          <a:xfrm>
            <a:off x="3466440" y="-5830920"/>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AA0D70A3-3C4F-BE2E-9E6F-7759FDD8BC72}"/>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70BFB31F-D192-72F8-0C7C-10C6B78A3FC2}"/>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A44A20F0-26B7-DB3A-E67C-3C38BFE3005A}"/>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5</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533E8311-E4A3-FE1E-42ED-1E1252820F01}"/>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3B9166D8-F48F-782C-6A79-4422F043A644}"/>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PDC vs Vanilla Convolution</a:t>
            </a:r>
            <a:endParaRPr kumimoji="0" lang="en-US" sz="3200" b="1" i="0" u="none" strike="noStrike" kern="1200" cap="none" spc="-1" normalizeH="0" baseline="0" noProof="0" dirty="0">
              <a:ln>
                <a:noFill/>
              </a:ln>
              <a:solidFill>
                <a:srgbClr val="000000"/>
              </a:solidFill>
              <a:effectLst/>
              <a:uLnTx/>
              <a:uFillTx/>
              <a:latin typeface="Aptos Display"/>
              <a:ea typeface="+mn-ea"/>
              <a:cs typeface="+mn-cs"/>
            </a:endParaRPr>
          </a:p>
        </p:txBody>
      </p:sp>
      <p:pic>
        <p:nvPicPr>
          <p:cNvPr id="99" name="Picture 2" descr="Nust Logo - CrystalPng">
            <a:extLst>
              <a:ext uri="{FF2B5EF4-FFF2-40B4-BE49-F238E27FC236}">
                <a16:creationId xmlns:a16="http://schemas.microsoft.com/office/drawing/2014/main" id="{C4BF92AF-EFD0-7F8F-D03B-C434BCF7585C}"/>
              </a:ext>
            </a:extLst>
          </p:cNvPr>
          <p:cNvPicPr/>
          <p:nvPr/>
        </p:nvPicPr>
        <p:blipFill>
          <a:blip r:embed="rId3"/>
          <a:stretch/>
        </p:blipFill>
        <p:spPr>
          <a:xfrm>
            <a:off x="11068200" y="-11520"/>
            <a:ext cx="1123560" cy="1123560"/>
          </a:xfrm>
          <a:prstGeom prst="rect">
            <a:avLst/>
          </a:prstGeom>
          <a:ln w="0">
            <a:noFill/>
          </a:ln>
        </p:spPr>
      </p:pic>
      <p:sp>
        <p:nvSpPr>
          <p:cNvPr id="6" name="TextBox 5">
            <a:extLst>
              <a:ext uri="{FF2B5EF4-FFF2-40B4-BE49-F238E27FC236}">
                <a16:creationId xmlns:a16="http://schemas.microsoft.com/office/drawing/2014/main" id="{8B65016A-81F2-6FE6-76E5-C56898424A13}"/>
              </a:ext>
            </a:extLst>
          </p:cNvPr>
          <p:cNvSpPr txBox="1"/>
          <p:nvPr/>
        </p:nvSpPr>
        <p:spPr>
          <a:xfrm>
            <a:off x="950672" y="979783"/>
            <a:ext cx="9204674" cy="467885"/>
          </a:xfrm>
          <a:prstGeom prst="rect">
            <a:avLst/>
          </a:prstGeom>
          <a:noFill/>
        </p:spPr>
        <p:txBody>
          <a:bodyPr wrap="square">
            <a:spAutoFit/>
          </a:bodyPr>
          <a:lstStyle/>
          <a:p>
            <a:pPr algn="ctr">
              <a:lnSpc>
                <a:spcPct val="150000"/>
              </a:lnSpc>
            </a:pPr>
            <a:r>
              <a:rPr lang="en-US" b="1" u="none" strike="noStrike" dirty="0">
                <a:latin typeface="+mj-lt"/>
              </a:rPr>
              <a:t> PDC can better capture gradient information from the image that facilitates edge detection.</a:t>
            </a:r>
            <a:endParaRPr lang="en-US" sz="1600" dirty="0">
              <a:latin typeface="+mj-lt"/>
            </a:endParaRPr>
          </a:p>
        </p:txBody>
      </p:sp>
      <p:pic>
        <p:nvPicPr>
          <p:cNvPr id="3" name="Picture 2">
            <a:extLst>
              <a:ext uri="{FF2B5EF4-FFF2-40B4-BE49-F238E27FC236}">
                <a16:creationId xmlns:a16="http://schemas.microsoft.com/office/drawing/2014/main" id="{EF3A84BF-C308-F401-F2A3-7E6FD4427FA2}"/>
              </a:ext>
            </a:extLst>
          </p:cNvPr>
          <p:cNvPicPr>
            <a:picLocks noChangeAspect="1"/>
          </p:cNvPicPr>
          <p:nvPr/>
        </p:nvPicPr>
        <p:blipFill>
          <a:blip r:embed="rId4"/>
          <a:stretch>
            <a:fillRect/>
          </a:stretch>
        </p:blipFill>
        <p:spPr>
          <a:xfrm>
            <a:off x="700870" y="1564668"/>
            <a:ext cx="10367330" cy="4504676"/>
          </a:xfrm>
          <a:prstGeom prst="rect">
            <a:avLst/>
          </a:prstGeom>
        </p:spPr>
      </p:pic>
      <p:sp>
        <p:nvSpPr>
          <p:cNvPr id="5" name="TextBox 4">
            <a:extLst>
              <a:ext uri="{FF2B5EF4-FFF2-40B4-BE49-F238E27FC236}">
                <a16:creationId xmlns:a16="http://schemas.microsoft.com/office/drawing/2014/main" id="{136F0C71-30C3-4A21-0A89-C61AB82C8878}"/>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5"/>
              </a:rPr>
              <a:t>10.1109/ICCV48922.2021.00507</a:t>
            </a:r>
            <a:endParaRPr lang="en-US" sz="1100" dirty="0">
              <a:latin typeface="+mj-lt"/>
            </a:endParaRPr>
          </a:p>
        </p:txBody>
      </p:sp>
    </p:spTree>
    <p:extLst>
      <p:ext uri="{BB962C8B-B14F-4D97-AF65-F5344CB8AC3E}">
        <p14:creationId xmlns:p14="http://schemas.microsoft.com/office/powerpoint/2010/main" val="3645979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707AA-8EDF-D924-0FBB-AD88AECC312D}"/>
            </a:ext>
          </a:extLst>
        </p:cNvPr>
        <p:cNvGrpSpPr/>
        <p:nvPr/>
      </p:nvGrpSpPr>
      <p:grpSpPr>
        <a:xfrm>
          <a:off x="0" y="0"/>
          <a:ext cx="0" cy="0"/>
          <a:chOff x="0" y="0"/>
          <a:chExt cx="0" cy="0"/>
        </a:xfrm>
      </p:grpSpPr>
      <p:sp>
        <p:nvSpPr>
          <p:cNvPr id="47" name="Oval 74">
            <a:extLst>
              <a:ext uri="{FF2B5EF4-FFF2-40B4-BE49-F238E27FC236}">
                <a16:creationId xmlns:a16="http://schemas.microsoft.com/office/drawing/2014/main" id="{AE7D3946-C070-AE7D-03B2-633D8AAD2E63}"/>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sp>
        <p:nvSpPr>
          <p:cNvPr id="11" name="Rectangle: Rounded Corners 26">
            <a:extLst>
              <a:ext uri="{FF2B5EF4-FFF2-40B4-BE49-F238E27FC236}">
                <a16:creationId xmlns:a16="http://schemas.microsoft.com/office/drawing/2014/main" id="{A2B4D906-83C2-45B5-1E0A-B71423CC8DAE}"/>
              </a:ext>
            </a:extLst>
          </p:cNvPr>
          <p:cNvSpPr/>
          <p:nvPr/>
        </p:nvSpPr>
        <p:spPr>
          <a:xfrm>
            <a:off x="7726968" y="1112040"/>
            <a:ext cx="3757896" cy="4805041"/>
          </a:xfrm>
          <a:prstGeom prst="roundRect">
            <a:avLst>
              <a:gd name="adj" fmla="val 5432"/>
            </a:avLst>
          </a:prstGeom>
          <a:solidFill>
            <a:schemeClr val="tx2">
              <a:lumMod val="10000"/>
              <a:lumOff val="90000"/>
              <a:alpha val="50000"/>
            </a:schemeClr>
          </a:solidFill>
          <a:ln w="6350">
            <a:solidFill>
              <a:srgbClr val="0E2841">
                <a:lumMod val="75000"/>
                <a:lumOff val="25000"/>
              </a:srgb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grpSp>
        <p:nvGrpSpPr>
          <p:cNvPr id="91" name="Group 110">
            <a:extLst>
              <a:ext uri="{FF2B5EF4-FFF2-40B4-BE49-F238E27FC236}">
                <a16:creationId xmlns:a16="http://schemas.microsoft.com/office/drawing/2014/main" id="{3B225D31-3D64-6E8C-35C7-1F751476D5A7}"/>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22C1A978-9E17-5FBF-0E4D-E4408B68200D}"/>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C859D05D-E701-F949-CE55-146A5576EE93}"/>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6</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33954BC2-4657-C290-8B4D-75D2BCFED9C2}"/>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BF2B6F02-1C42-BAFF-5157-D33085BEC4B8}"/>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Comparison with other Edge Detection Models</a:t>
            </a:r>
            <a:endParaRPr kumimoji="0" lang="en-US" sz="3200" b="1" i="0" u="none" strike="noStrike" kern="1200" cap="none" spc="-1" normalizeH="0" baseline="0" noProof="0" dirty="0">
              <a:ln>
                <a:noFill/>
              </a:ln>
              <a:solidFill>
                <a:srgbClr val="000000"/>
              </a:solidFill>
              <a:effectLst/>
              <a:uLnTx/>
              <a:uFillTx/>
              <a:latin typeface="Aptos Display"/>
              <a:ea typeface="+mn-ea"/>
              <a:cs typeface="+mn-cs"/>
            </a:endParaRPr>
          </a:p>
        </p:txBody>
      </p:sp>
      <p:pic>
        <p:nvPicPr>
          <p:cNvPr id="99" name="Picture 2" descr="Nust Logo - CrystalPng">
            <a:extLst>
              <a:ext uri="{FF2B5EF4-FFF2-40B4-BE49-F238E27FC236}">
                <a16:creationId xmlns:a16="http://schemas.microsoft.com/office/drawing/2014/main" id="{D07751DE-5ED6-C82F-17D5-9C5FEDF18BE2}"/>
              </a:ext>
            </a:extLst>
          </p:cNvPr>
          <p:cNvPicPr/>
          <p:nvPr/>
        </p:nvPicPr>
        <p:blipFill>
          <a:blip r:embed="rId3"/>
          <a:stretch/>
        </p:blipFill>
        <p:spPr>
          <a:xfrm>
            <a:off x="11068200" y="-11520"/>
            <a:ext cx="1123560" cy="1123560"/>
          </a:xfrm>
          <a:prstGeom prst="rect">
            <a:avLst/>
          </a:prstGeom>
          <a:ln w="0">
            <a:noFill/>
          </a:ln>
        </p:spPr>
      </p:pic>
      <p:sp>
        <p:nvSpPr>
          <p:cNvPr id="4" name="TextBox 3">
            <a:extLst>
              <a:ext uri="{FF2B5EF4-FFF2-40B4-BE49-F238E27FC236}">
                <a16:creationId xmlns:a16="http://schemas.microsoft.com/office/drawing/2014/main" id="{5C2E5D93-7379-4710-99DC-258228D4ECFE}"/>
              </a:ext>
            </a:extLst>
          </p:cNvPr>
          <p:cNvSpPr txBox="1"/>
          <p:nvPr/>
        </p:nvSpPr>
        <p:spPr>
          <a:xfrm>
            <a:off x="7915850" y="1199963"/>
            <a:ext cx="3286125" cy="1384995"/>
          </a:xfrm>
          <a:prstGeom prst="rect">
            <a:avLst/>
          </a:prstGeom>
          <a:noFill/>
        </p:spPr>
        <p:txBody>
          <a:bodyPr wrap="square">
            <a:spAutoFit/>
          </a:bodyPr>
          <a:lstStyle/>
          <a:p>
            <a:r>
              <a:rPr lang="en-US" sz="1200" b="1" dirty="0"/>
              <a:t>The Optimal Dataset Scale (ODS) F-measure</a:t>
            </a:r>
          </a:p>
          <a:p>
            <a:r>
              <a:rPr lang="en-US" sz="1200" b="1" dirty="0"/>
              <a:t> </a:t>
            </a:r>
          </a:p>
          <a:p>
            <a:pPr algn="just"/>
            <a:r>
              <a:rPr lang="en-US" sz="1200" dirty="0"/>
              <a:t>is a standard evaluation metric used in computer vision—particularly for edge and contour detection—that applies a single, global binarization threshold across an entire test dataset to maximize the overall F-score.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E9E7979-D119-C53A-6AD2-4B20A2444C8C}"/>
                  </a:ext>
                </a:extLst>
              </p:cNvPr>
              <p:cNvSpPr txBox="1"/>
              <p:nvPr/>
            </p:nvSpPr>
            <p:spPr>
              <a:xfrm>
                <a:off x="7915850" y="2768306"/>
                <a:ext cx="3286125" cy="1765099"/>
              </a:xfrm>
              <a:prstGeom prst="rect">
                <a:avLst/>
              </a:prstGeom>
              <a:noFill/>
            </p:spPr>
            <p:txBody>
              <a:bodyPr wrap="square">
                <a:spAutoFit/>
              </a:bodyPr>
              <a:lstStyle/>
              <a:p>
                <a:r>
                  <a:rPr lang="en-US" sz="1200" b="1" dirty="0"/>
                  <a:t>F-measure Calculation: </a:t>
                </a:r>
              </a:p>
              <a:p>
                <a:endParaRPr lang="en-US" sz="1200" b="1" dirty="0"/>
              </a:p>
              <a:p>
                <a:pPr algn="just"/>
                <a:r>
                  <a:rPr lang="en-US" sz="1200" dirty="0"/>
                  <a:t>At this optimal global threshold, precision (P) and recall (R) are computed based on pixel-level matches between the predicted edge map and human ground-truth annotations</a:t>
                </a:r>
              </a:p>
              <a:p>
                <a:pPr algn="just"/>
                <a:endParaRPr lang="en-US" sz="1200" dirty="0"/>
              </a:p>
              <a:p>
                <a:pPr algn="just"/>
                <a14:m>
                  <m:oMathPara xmlns:m="http://schemas.openxmlformats.org/officeDocument/2006/math">
                    <m:oMath>
                      <m:r>
                        <a:rPr lang="en-US" sz="1200" b="1" i="1" smtClean="0">
                          <a:latin typeface="Cambria Math" panose="02040503050406030204" pitchFamily="18" charset="0"/>
                        </a:rPr>
                        <m:t>𝑭</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2 </m:t>
                          </m:r>
                          <m:r>
                            <a:rPr lang="en-US" sz="1200" b="0" i="1" smtClean="0">
                              <a:latin typeface="Cambria Math" panose="02040503050406030204" pitchFamily="18" charset="0"/>
                            </a:rPr>
                            <m:t>𝑥</m:t>
                          </m:r>
                          <m:r>
                            <a:rPr lang="en-US" sz="1200" b="0" i="1" smtClean="0">
                              <a:latin typeface="Cambria Math" panose="02040503050406030204" pitchFamily="18" charset="0"/>
                            </a:rPr>
                            <m:t> </m:t>
                          </m:r>
                          <m:r>
                            <a:rPr lang="en-US" sz="1200" b="0" i="1" smtClean="0">
                              <a:latin typeface="Cambria Math" panose="02040503050406030204" pitchFamily="18" charset="0"/>
                            </a:rPr>
                            <m:t>𝑃</m:t>
                          </m:r>
                          <m:r>
                            <a:rPr lang="en-US" sz="1200" b="0" i="1" smtClean="0">
                              <a:latin typeface="Cambria Math" panose="02040503050406030204" pitchFamily="18" charset="0"/>
                            </a:rPr>
                            <m:t> </m:t>
                          </m:r>
                          <m:r>
                            <a:rPr lang="en-US" sz="1200" b="0" i="1" smtClean="0">
                              <a:latin typeface="Cambria Math" panose="02040503050406030204" pitchFamily="18" charset="0"/>
                            </a:rPr>
                            <m:t>𝑥</m:t>
                          </m:r>
                          <m:r>
                            <a:rPr lang="en-US" sz="1200" b="0" i="1" smtClean="0">
                              <a:latin typeface="Cambria Math" panose="02040503050406030204" pitchFamily="18" charset="0"/>
                            </a:rPr>
                            <m:t> </m:t>
                          </m:r>
                          <m:r>
                            <a:rPr lang="en-US" sz="1200" b="0" i="1" smtClean="0">
                              <a:latin typeface="Cambria Math" panose="02040503050406030204" pitchFamily="18" charset="0"/>
                            </a:rPr>
                            <m:t>𝑅</m:t>
                          </m:r>
                        </m:num>
                        <m:den>
                          <m:r>
                            <a:rPr lang="en-US" sz="1200" b="0" i="1" smtClean="0">
                              <a:latin typeface="Cambria Math" panose="02040503050406030204" pitchFamily="18" charset="0"/>
                            </a:rPr>
                            <m:t>𝑃</m:t>
                          </m:r>
                          <m:r>
                            <a:rPr lang="en-US" sz="1200" b="0" i="1" smtClean="0">
                              <a:latin typeface="Cambria Math" panose="02040503050406030204" pitchFamily="18" charset="0"/>
                            </a:rPr>
                            <m:t>+</m:t>
                          </m:r>
                          <m:r>
                            <a:rPr lang="en-US" sz="1200" b="0" i="1" smtClean="0">
                              <a:latin typeface="Cambria Math" panose="02040503050406030204" pitchFamily="18" charset="0"/>
                            </a:rPr>
                            <m:t>𝑅</m:t>
                          </m:r>
                        </m:den>
                      </m:f>
                    </m:oMath>
                  </m:oMathPara>
                </a14:m>
                <a:endParaRPr lang="en-US" sz="1200" dirty="0"/>
              </a:p>
            </p:txBody>
          </p:sp>
        </mc:Choice>
        <mc:Fallback xmlns="">
          <p:sp>
            <p:nvSpPr>
              <p:cNvPr id="7" name="TextBox 6">
                <a:extLst>
                  <a:ext uri="{FF2B5EF4-FFF2-40B4-BE49-F238E27FC236}">
                    <a16:creationId xmlns:a16="http://schemas.microsoft.com/office/drawing/2014/main" id="{9E9E7979-D119-C53A-6AD2-4B20A2444C8C}"/>
                  </a:ext>
                </a:extLst>
              </p:cNvPr>
              <p:cNvSpPr txBox="1">
                <a:spLocks noRot="1" noChangeAspect="1" noMove="1" noResize="1" noEditPoints="1" noAdjustHandles="1" noChangeArrowheads="1" noChangeShapeType="1" noTextEdit="1"/>
              </p:cNvSpPr>
              <p:nvPr/>
            </p:nvSpPr>
            <p:spPr>
              <a:xfrm>
                <a:off x="7915850" y="2768306"/>
                <a:ext cx="3286125" cy="1765099"/>
              </a:xfrm>
              <a:prstGeom prst="rect">
                <a:avLst/>
              </a:prstGeom>
              <a:blipFill>
                <a:blip r:embed="rId4"/>
                <a:stretch>
                  <a:fillRect l="-18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66D4B78-229E-E28A-280D-5649C520CFF4}"/>
              </a:ext>
            </a:extLst>
          </p:cNvPr>
          <p:cNvSpPr txBox="1"/>
          <p:nvPr/>
        </p:nvSpPr>
        <p:spPr>
          <a:xfrm>
            <a:off x="7915850" y="4716752"/>
            <a:ext cx="3286125" cy="1200329"/>
          </a:xfrm>
          <a:prstGeom prst="rect">
            <a:avLst/>
          </a:prstGeom>
          <a:noFill/>
        </p:spPr>
        <p:txBody>
          <a:bodyPr wrap="square">
            <a:spAutoFit/>
          </a:bodyPr>
          <a:lstStyle/>
          <a:p>
            <a:r>
              <a:rPr lang="en-US" sz="1200" b="1" dirty="0"/>
              <a:t>Role in Evaluation:</a:t>
            </a:r>
          </a:p>
          <a:p>
            <a:r>
              <a:rPr lang="en-US" sz="1200" b="1" dirty="0"/>
              <a:t> </a:t>
            </a:r>
          </a:p>
          <a:p>
            <a:pPr algn="just"/>
            <a:r>
              <a:rPr lang="en-US" sz="1200" dirty="0"/>
              <a:t>It measures </a:t>
            </a:r>
            <a:r>
              <a:rPr lang="en-US" sz="1200" b="1" dirty="0"/>
              <a:t>how well a generalized edge detector performs across diverse scenes </a:t>
            </a:r>
            <a:r>
              <a:rPr lang="en-US" sz="1200" dirty="0"/>
              <a:t>without fine-tuning the operating threshold per image.</a:t>
            </a:r>
          </a:p>
        </p:txBody>
      </p:sp>
      <p:pic>
        <p:nvPicPr>
          <p:cNvPr id="13" name="Picture 12">
            <a:extLst>
              <a:ext uri="{FF2B5EF4-FFF2-40B4-BE49-F238E27FC236}">
                <a16:creationId xmlns:a16="http://schemas.microsoft.com/office/drawing/2014/main" id="{2EA3DB44-CCF6-CB4B-4BF7-96B435220459}"/>
              </a:ext>
            </a:extLst>
          </p:cNvPr>
          <p:cNvPicPr>
            <a:picLocks noChangeAspect="1"/>
          </p:cNvPicPr>
          <p:nvPr/>
        </p:nvPicPr>
        <p:blipFill>
          <a:blip r:embed="rId5"/>
          <a:stretch>
            <a:fillRect/>
          </a:stretch>
        </p:blipFill>
        <p:spPr>
          <a:xfrm>
            <a:off x="365424" y="1108506"/>
            <a:ext cx="6311590" cy="2972250"/>
          </a:xfrm>
          <a:prstGeom prst="rect">
            <a:avLst/>
          </a:prstGeom>
        </p:spPr>
      </p:pic>
      <p:sp>
        <p:nvSpPr>
          <p:cNvPr id="15" name="Rectangle: Rounded Corners 26">
            <a:extLst>
              <a:ext uri="{FF2B5EF4-FFF2-40B4-BE49-F238E27FC236}">
                <a16:creationId xmlns:a16="http://schemas.microsoft.com/office/drawing/2014/main" id="{C733829A-E397-EA53-DAB9-115606DDC45D}"/>
              </a:ext>
            </a:extLst>
          </p:cNvPr>
          <p:cNvSpPr/>
          <p:nvPr/>
        </p:nvSpPr>
        <p:spPr>
          <a:xfrm>
            <a:off x="4559868" y="2480618"/>
            <a:ext cx="762000" cy="1412821"/>
          </a:xfrm>
          <a:prstGeom prst="roundRect">
            <a:avLst>
              <a:gd name="adj" fmla="val 5432"/>
            </a:avLst>
          </a:prstGeom>
          <a:solidFill>
            <a:srgbClr val="DCEAF7">
              <a:alpha val="30196"/>
            </a:srgbClr>
          </a:solidFill>
          <a:ln w="6350">
            <a:solidFill>
              <a:srgbClr val="0E2841">
                <a:lumMod val="75000"/>
                <a:lumOff val="25000"/>
              </a:srgb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sp>
        <p:nvSpPr>
          <p:cNvPr id="17" name="Rectangle: Rounded Corners 26">
            <a:extLst>
              <a:ext uri="{FF2B5EF4-FFF2-40B4-BE49-F238E27FC236}">
                <a16:creationId xmlns:a16="http://schemas.microsoft.com/office/drawing/2014/main" id="{7B773F5D-6F9E-F14F-3FDE-DA8915D84628}"/>
              </a:ext>
            </a:extLst>
          </p:cNvPr>
          <p:cNvSpPr/>
          <p:nvPr/>
        </p:nvSpPr>
        <p:spPr>
          <a:xfrm>
            <a:off x="1907159" y="2480619"/>
            <a:ext cx="762000" cy="1412821"/>
          </a:xfrm>
          <a:prstGeom prst="roundRect">
            <a:avLst>
              <a:gd name="adj" fmla="val 5432"/>
            </a:avLst>
          </a:prstGeom>
          <a:solidFill>
            <a:schemeClr val="accent6">
              <a:lumMod val="20000"/>
              <a:lumOff val="80000"/>
              <a:alpha val="30196"/>
            </a:schemeClr>
          </a:solidFill>
          <a:ln w="6350">
            <a:solidFill>
              <a:schemeClr val="accent6">
                <a:lumMod val="75000"/>
              </a:scheme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sp>
        <p:nvSpPr>
          <p:cNvPr id="19" name="Rectangle: Rounded Corners 26">
            <a:extLst>
              <a:ext uri="{FF2B5EF4-FFF2-40B4-BE49-F238E27FC236}">
                <a16:creationId xmlns:a16="http://schemas.microsoft.com/office/drawing/2014/main" id="{29CDB11F-2FAD-45F9-064A-562F3B126EA3}"/>
              </a:ext>
            </a:extLst>
          </p:cNvPr>
          <p:cNvSpPr/>
          <p:nvPr/>
        </p:nvSpPr>
        <p:spPr>
          <a:xfrm>
            <a:off x="2763730" y="2480618"/>
            <a:ext cx="762000" cy="1412821"/>
          </a:xfrm>
          <a:prstGeom prst="roundRect">
            <a:avLst>
              <a:gd name="adj" fmla="val 5432"/>
            </a:avLst>
          </a:prstGeom>
          <a:solidFill>
            <a:schemeClr val="accent6">
              <a:lumMod val="20000"/>
              <a:lumOff val="80000"/>
              <a:alpha val="30196"/>
            </a:schemeClr>
          </a:solidFill>
          <a:ln w="6350">
            <a:solidFill>
              <a:schemeClr val="accent6">
                <a:lumMod val="75000"/>
              </a:scheme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sp>
        <p:nvSpPr>
          <p:cNvPr id="21" name="Rectangle: Rounded Corners 26">
            <a:extLst>
              <a:ext uri="{FF2B5EF4-FFF2-40B4-BE49-F238E27FC236}">
                <a16:creationId xmlns:a16="http://schemas.microsoft.com/office/drawing/2014/main" id="{30F2CFB8-C904-805A-AC58-81AE5F05FC41}"/>
              </a:ext>
            </a:extLst>
          </p:cNvPr>
          <p:cNvSpPr/>
          <p:nvPr/>
        </p:nvSpPr>
        <p:spPr>
          <a:xfrm>
            <a:off x="3625063" y="2480618"/>
            <a:ext cx="886417" cy="1412821"/>
          </a:xfrm>
          <a:prstGeom prst="roundRect">
            <a:avLst>
              <a:gd name="adj" fmla="val 5432"/>
            </a:avLst>
          </a:prstGeom>
          <a:solidFill>
            <a:schemeClr val="accent6">
              <a:lumMod val="20000"/>
              <a:lumOff val="80000"/>
              <a:alpha val="30196"/>
            </a:schemeClr>
          </a:solidFill>
          <a:ln w="6350">
            <a:solidFill>
              <a:schemeClr val="accent6">
                <a:lumMod val="75000"/>
              </a:schemeClr>
            </a:solidFill>
            <a:miter/>
          </a:ln>
          <a:effectLst>
            <a:outerShdw blurRad="101520" dist="75858" dir="2700000" algn="t" rotWithShape="0">
              <a:srgbClr val="024F79">
                <a:alpha val="5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strike="noStrike" spc="-1">
              <a:solidFill>
                <a:srgbClr val="FFFFFF"/>
              </a:solidFill>
              <a:latin typeface="Aptos Display"/>
            </a:endParaRPr>
          </a:p>
        </p:txBody>
      </p:sp>
      <p:sp>
        <p:nvSpPr>
          <p:cNvPr id="26" name="Rectangle: Rounded Corners 25">
            <a:extLst>
              <a:ext uri="{FF2B5EF4-FFF2-40B4-BE49-F238E27FC236}">
                <a16:creationId xmlns:a16="http://schemas.microsoft.com/office/drawing/2014/main" id="{34FE554E-5109-49C8-73D9-FAC76047E836}"/>
              </a:ext>
            </a:extLst>
          </p:cNvPr>
          <p:cNvSpPr/>
          <p:nvPr/>
        </p:nvSpPr>
        <p:spPr>
          <a:xfrm>
            <a:off x="355572" y="4607565"/>
            <a:ext cx="1769842" cy="1279017"/>
          </a:xfrm>
          <a:prstGeom prst="roundRect">
            <a:avLst>
              <a:gd name="adj" fmla="val 6883"/>
            </a:avLst>
          </a:prstGeom>
          <a:solidFill>
            <a:sysClr val="window" lastClr="FFFFFF">
              <a:lumMod val="95000"/>
            </a:sysClr>
          </a:solidFill>
          <a:ln w="19050" cap="flat" cmpd="sng" algn="ctr">
            <a:solidFill>
              <a:srgbClr val="002060"/>
            </a:solidFill>
            <a:prstDash val="solid"/>
            <a:miter lim="800000"/>
          </a:ln>
          <a:effectLst>
            <a:outerShdw blurRad="101600" dist="38100" dir="5400000" algn="t" rotWithShape="0">
              <a:srgbClr val="44546A">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ysClr val="window" lastClr="FFFFFF"/>
                </a:solidFill>
                <a:latin typeface="Segoe UI"/>
              </a:defRPr>
            </a:lvl1pPr>
            <a:lvl2pPr marL="457200" algn="l" defTabSz="914400" rtl="0" eaLnBrk="1" latinLnBrk="0" hangingPunct="1">
              <a:defRPr sz="1800" kern="1200">
                <a:solidFill>
                  <a:sysClr val="window" lastClr="FFFFFF"/>
                </a:solidFill>
                <a:latin typeface="Segoe UI"/>
              </a:defRPr>
            </a:lvl2pPr>
            <a:lvl3pPr marL="914400" algn="l" defTabSz="914400" rtl="0" eaLnBrk="1" latinLnBrk="0" hangingPunct="1">
              <a:defRPr sz="1800" kern="1200">
                <a:solidFill>
                  <a:sysClr val="window" lastClr="FFFFFF"/>
                </a:solidFill>
                <a:latin typeface="Segoe UI"/>
              </a:defRPr>
            </a:lvl3pPr>
            <a:lvl4pPr marL="1371600" algn="l" defTabSz="914400" rtl="0" eaLnBrk="1" latinLnBrk="0" hangingPunct="1">
              <a:defRPr sz="1800" kern="1200">
                <a:solidFill>
                  <a:sysClr val="window" lastClr="FFFFFF"/>
                </a:solidFill>
                <a:latin typeface="Segoe UI"/>
              </a:defRPr>
            </a:lvl4pPr>
            <a:lvl5pPr marL="1828800" algn="l" defTabSz="914400" rtl="0" eaLnBrk="1" latinLnBrk="0" hangingPunct="1">
              <a:defRPr sz="1800" kern="1200">
                <a:solidFill>
                  <a:sysClr val="window" lastClr="FFFFFF"/>
                </a:solidFill>
                <a:latin typeface="Segoe UI"/>
              </a:defRPr>
            </a:lvl5pPr>
            <a:lvl6pPr marL="2286000" algn="l" defTabSz="914400" rtl="0" eaLnBrk="1" latinLnBrk="0" hangingPunct="1">
              <a:defRPr sz="1800" kern="1200">
                <a:solidFill>
                  <a:sysClr val="window" lastClr="FFFFFF"/>
                </a:solidFill>
                <a:latin typeface="Segoe UI"/>
              </a:defRPr>
            </a:lvl6pPr>
            <a:lvl7pPr marL="2743200" algn="l" defTabSz="914400" rtl="0" eaLnBrk="1" latinLnBrk="0" hangingPunct="1">
              <a:defRPr sz="1800" kern="1200">
                <a:solidFill>
                  <a:sysClr val="window" lastClr="FFFFFF"/>
                </a:solidFill>
                <a:latin typeface="Segoe UI"/>
              </a:defRPr>
            </a:lvl7pPr>
            <a:lvl8pPr marL="3200400" algn="l" defTabSz="914400" rtl="0" eaLnBrk="1" latinLnBrk="0" hangingPunct="1">
              <a:defRPr sz="1800" kern="1200">
                <a:solidFill>
                  <a:sysClr val="window" lastClr="FFFFFF"/>
                </a:solidFill>
                <a:latin typeface="Segoe UI"/>
              </a:defRPr>
            </a:lvl8pPr>
            <a:lvl9pPr marL="3657600" algn="l" defTabSz="914400" rtl="0" eaLnBrk="1" latinLnBrk="0" hangingPunct="1">
              <a:defRPr sz="1800" kern="1200">
                <a:solidFill>
                  <a:sysClr val="window" lastClr="FFFFFF"/>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Montserrat SemiBold" panose="00000700000000000000" pitchFamily="2" charset="0"/>
            </a:endParaRPr>
          </a:p>
        </p:txBody>
      </p:sp>
      <p:sp>
        <p:nvSpPr>
          <p:cNvPr id="27" name="TextBox 36">
            <a:extLst>
              <a:ext uri="{FF2B5EF4-FFF2-40B4-BE49-F238E27FC236}">
                <a16:creationId xmlns:a16="http://schemas.microsoft.com/office/drawing/2014/main" id="{7DC15273-BEC4-A7D7-5EB4-FC3CA7244BF3}"/>
              </a:ext>
            </a:extLst>
          </p:cNvPr>
          <p:cNvSpPr txBox="1"/>
          <p:nvPr/>
        </p:nvSpPr>
        <p:spPr>
          <a:xfrm>
            <a:off x="355571" y="5341251"/>
            <a:ext cx="1734519" cy="454355"/>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lvl="0" algn="ctr">
              <a:lnSpc>
                <a:spcPts val="1400"/>
              </a:lnSpc>
              <a:spcAft>
                <a:spcPts val="200"/>
              </a:spcAft>
              <a:defRPr/>
            </a:pPr>
            <a:r>
              <a:rPr lang="en-US" sz="900" b="1" dirty="0">
                <a:solidFill>
                  <a:srgbClr val="1B4DA2"/>
                </a:solidFill>
                <a:latin typeface="Montserrat" panose="00000500000000000000" pitchFamily="2" charset="0"/>
              </a:rPr>
              <a:t>Less Parameters</a:t>
            </a:r>
          </a:p>
          <a:p>
            <a:pPr lvl="0" algn="ctr">
              <a:lnSpc>
                <a:spcPts val="1400"/>
              </a:lnSpc>
              <a:spcAft>
                <a:spcPts val="200"/>
              </a:spcAft>
              <a:defRPr/>
            </a:pPr>
            <a:r>
              <a:rPr lang="en-US" sz="800" b="1" dirty="0">
                <a:latin typeface="Montserrat" panose="00000500000000000000" pitchFamily="2" charset="0"/>
              </a:rPr>
              <a:t>Then HED, RCF, BDCN</a:t>
            </a:r>
          </a:p>
        </p:txBody>
      </p:sp>
      <p:sp>
        <p:nvSpPr>
          <p:cNvPr id="28" name="TextBox 37">
            <a:extLst>
              <a:ext uri="{FF2B5EF4-FFF2-40B4-BE49-F238E27FC236}">
                <a16:creationId xmlns:a16="http://schemas.microsoft.com/office/drawing/2014/main" id="{6FE3C8D2-064D-601D-7798-B516511D3A1E}"/>
              </a:ext>
            </a:extLst>
          </p:cNvPr>
          <p:cNvSpPr txBox="1"/>
          <p:nvPr/>
        </p:nvSpPr>
        <p:spPr>
          <a:xfrm>
            <a:off x="351000" y="4738789"/>
            <a:ext cx="1778990" cy="584775"/>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rPr>
              <a:t>22</a:t>
            </a:r>
            <a:r>
              <a:rPr lang="en-US" sz="1200" b="1" dirty="0">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latin typeface="Montserrat" panose="00000500000000000000" pitchFamily="2" charset="0"/>
              </a:rPr>
              <a:t>X</a:t>
            </a:r>
            <a:endParaRPr kumimoji="0" lang="en-US" sz="28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endParaRPr>
          </a:p>
        </p:txBody>
      </p:sp>
      <p:sp>
        <p:nvSpPr>
          <p:cNvPr id="33" name="Rectangle: Rounded Corners 32">
            <a:extLst>
              <a:ext uri="{FF2B5EF4-FFF2-40B4-BE49-F238E27FC236}">
                <a16:creationId xmlns:a16="http://schemas.microsoft.com/office/drawing/2014/main" id="{44E2A4C0-149B-60AC-35A9-C4CB50640485}"/>
              </a:ext>
            </a:extLst>
          </p:cNvPr>
          <p:cNvSpPr/>
          <p:nvPr/>
        </p:nvSpPr>
        <p:spPr>
          <a:xfrm>
            <a:off x="2621873" y="4607565"/>
            <a:ext cx="1769842" cy="1279017"/>
          </a:xfrm>
          <a:prstGeom prst="roundRect">
            <a:avLst>
              <a:gd name="adj" fmla="val 6883"/>
            </a:avLst>
          </a:prstGeom>
          <a:solidFill>
            <a:sysClr val="window" lastClr="FFFFFF">
              <a:lumMod val="95000"/>
            </a:sysClr>
          </a:solidFill>
          <a:ln w="19050" cap="flat" cmpd="sng" algn="ctr">
            <a:solidFill>
              <a:srgbClr val="002060"/>
            </a:solidFill>
            <a:prstDash val="solid"/>
            <a:miter lim="800000"/>
          </a:ln>
          <a:effectLst>
            <a:outerShdw blurRad="101600" dist="38100" dir="5400000" algn="t" rotWithShape="0">
              <a:srgbClr val="44546A">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ysClr val="window" lastClr="FFFFFF"/>
                </a:solidFill>
                <a:latin typeface="Segoe UI"/>
              </a:defRPr>
            </a:lvl1pPr>
            <a:lvl2pPr marL="457200" algn="l" defTabSz="914400" rtl="0" eaLnBrk="1" latinLnBrk="0" hangingPunct="1">
              <a:defRPr sz="1800" kern="1200">
                <a:solidFill>
                  <a:sysClr val="window" lastClr="FFFFFF"/>
                </a:solidFill>
                <a:latin typeface="Segoe UI"/>
              </a:defRPr>
            </a:lvl2pPr>
            <a:lvl3pPr marL="914400" algn="l" defTabSz="914400" rtl="0" eaLnBrk="1" latinLnBrk="0" hangingPunct="1">
              <a:defRPr sz="1800" kern="1200">
                <a:solidFill>
                  <a:sysClr val="window" lastClr="FFFFFF"/>
                </a:solidFill>
                <a:latin typeface="Segoe UI"/>
              </a:defRPr>
            </a:lvl3pPr>
            <a:lvl4pPr marL="1371600" algn="l" defTabSz="914400" rtl="0" eaLnBrk="1" latinLnBrk="0" hangingPunct="1">
              <a:defRPr sz="1800" kern="1200">
                <a:solidFill>
                  <a:sysClr val="window" lastClr="FFFFFF"/>
                </a:solidFill>
                <a:latin typeface="Segoe UI"/>
              </a:defRPr>
            </a:lvl4pPr>
            <a:lvl5pPr marL="1828800" algn="l" defTabSz="914400" rtl="0" eaLnBrk="1" latinLnBrk="0" hangingPunct="1">
              <a:defRPr sz="1800" kern="1200">
                <a:solidFill>
                  <a:sysClr val="window" lastClr="FFFFFF"/>
                </a:solidFill>
                <a:latin typeface="Segoe UI"/>
              </a:defRPr>
            </a:lvl5pPr>
            <a:lvl6pPr marL="2286000" algn="l" defTabSz="914400" rtl="0" eaLnBrk="1" latinLnBrk="0" hangingPunct="1">
              <a:defRPr sz="1800" kern="1200">
                <a:solidFill>
                  <a:sysClr val="window" lastClr="FFFFFF"/>
                </a:solidFill>
                <a:latin typeface="Segoe UI"/>
              </a:defRPr>
            </a:lvl6pPr>
            <a:lvl7pPr marL="2743200" algn="l" defTabSz="914400" rtl="0" eaLnBrk="1" latinLnBrk="0" hangingPunct="1">
              <a:defRPr sz="1800" kern="1200">
                <a:solidFill>
                  <a:sysClr val="window" lastClr="FFFFFF"/>
                </a:solidFill>
                <a:latin typeface="Segoe UI"/>
              </a:defRPr>
            </a:lvl7pPr>
            <a:lvl8pPr marL="3200400" algn="l" defTabSz="914400" rtl="0" eaLnBrk="1" latinLnBrk="0" hangingPunct="1">
              <a:defRPr sz="1800" kern="1200">
                <a:solidFill>
                  <a:sysClr val="window" lastClr="FFFFFF"/>
                </a:solidFill>
                <a:latin typeface="Segoe UI"/>
              </a:defRPr>
            </a:lvl8pPr>
            <a:lvl9pPr marL="3657600" algn="l" defTabSz="914400" rtl="0" eaLnBrk="1" latinLnBrk="0" hangingPunct="1">
              <a:defRPr sz="1800" kern="1200">
                <a:solidFill>
                  <a:sysClr val="window" lastClr="FFFFFF"/>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Montserrat SemiBold" panose="00000700000000000000" pitchFamily="2" charset="0"/>
            </a:endParaRPr>
          </a:p>
        </p:txBody>
      </p:sp>
      <p:sp>
        <p:nvSpPr>
          <p:cNvPr id="35" name="TextBox 36">
            <a:extLst>
              <a:ext uri="{FF2B5EF4-FFF2-40B4-BE49-F238E27FC236}">
                <a16:creationId xmlns:a16="http://schemas.microsoft.com/office/drawing/2014/main" id="{8A25265B-019F-D10A-A3B8-606FD9029335}"/>
              </a:ext>
            </a:extLst>
          </p:cNvPr>
          <p:cNvSpPr txBox="1"/>
          <p:nvPr/>
        </p:nvSpPr>
        <p:spPr>
          <a:xfrm>
            <a:off x="2621872" y="5341251"/>
            <a:ext cx="1734519" cy="457561"/>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lvl="0" algn="ctr">
              <a:lnSpc>
                <a:spcPts val="1400"/>
              </a:lnSpc>
              <a:spcAft>
                <a:spcPts val="200"/>
              </a:spcAft>
              <a:defRPr/>
            </a:pPr>
            <a:r>
              <a:rPr lang="en-US" sz="900" b="1" dirty="0">
                <a:solidFill>
                  <a:srgbClr val="1B4DA2"/>
                </a:solidFill>
                <a:latin typeface="Montserrat" panose="00000500000000000000" pitchFamily="2" charset="0"/>
              </a:rPr>
              <a:t>Less MACs</a:t>
            </a:r>
          </a:p>
          <a:p>
            <a:pPr lvl="0" algn="ctr">
              <a:lnSpc>
                <a:spcPts val="1400"/>
              </a:lnSpc>
              <a:spcAft>
                <a:spcPts val="200"/>
              </a:spcAft>
              <a:defRPr/>
            </a:pPr>
            <a:r>
              <a:rPr lang="en-US" sz="800" b="1" dirty="0">
                <a:latin typeface="Montserrat" panose="00000500000000000000" pitchFamily="2" charset="0"/>
              </a:rPr>
              <a:t>Lower MAC means faster</a:t>
            </a:r>
          </a:p>
        </p:txBody>
      </p:sp>
      <p:sp>
        <p:nvSpPr>
          <p:cNvPr id="37" name="TextBox 37">
            <a:extLst>
              <a:ext uri="{FF2B5EF4-FFF2-40B4-BE49-F238E27FC236}">
                <a16:creationId xmlns:a16="http://schemas.microsoft.com/office/drawing/2014/main" id="{B872F5D4-5440-65AA-48DC-A1282A52A003}"/>
              </a:ext>
            </a:extLst>
          </p:cNvPr>
          <p:cNvSpPr txBox="1"/>
          <p:nvPr/>
        </p:nvSpPr>
        <p:spPr>
          <a:xfrm>
            <a:off x="2617301" y="4738789"/>
            <a:ext cx="1778990" cy="584775"/>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rPr>
              <a:t>4.66</a:t>
            </a:r>
            <a:r>
              <a:rPr lang="en-US" sz="1200" b="1" dirty="0">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latin typeface="Montserrat" panose="00000500000000000000" pitchFamily="2" charset="0"/>
              </a:rPr>
              <a:t>X</a:t>
            </a:r>
            <a:endParaRPr kumimoji="0" lang="en-US" sz="28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endParaRPr>
          </a:p>
        </p:txBody>
      </p:sp>
      <p:sp>
        <p:nvSpPr>
          <p:cNvPr id="39" name="Rectangle: Rounded Corners 38">
            <a:extLst>
              <a:ext uri="{FF2B5EF4-FFF2-40B4-BE49-F238E27FC236}">
                <a16:creationId xmlns:a16="http://schemas.microsoft.com/office/drawing/2014/main" id="{437CEE14-7E48-3514-3AA6-E991A4F7266B}"/>
              </a:ext>
            </a:extLst>
          </p:cNvPr>
          <p:cNvSpPr/>
          <p:nvPr/>
        </p:nvSpPr>
        <p:spPr>
          <a:xfrm>
            <a:off x="4892748" y="4607565"/>
            <a:ext cx="1769842" cy="1279017"/>
          </a:xfrm>
          <a:prstGeom prst="roundRect">
            <a:avLst>
              <a:gd name="adj" fmla="val 6883"/>
            </a:avLst>
          </a:prstGeom>
          <a:solidFill>
            <a:sysClr val="window" lastClr="FFFFFF">
              <a:lumMod val="95000"/>
            </a:sysClr>
          </a:solidFill>
          <a:ln w="19050" cap="flat" cmpd="sng" algn="ctr">
            <a:solidFill>
              <a:srgbClr val="002060"/>
            </a:solidFill>
            <a:prstDash val="solid"/>
            <a:miter lim="800000"/>
          </a:ln>
          <a:effectLst>
            <a:outerShdw blurRad="101600" dist="38100" dir="5400000" algn="t" rotWithShape="0">
              <a:srgbClr val="44546A">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ysClr val="window" lastClr="FFFFFF"/>
                </a:solidFill>
                <a:latin typeface="Segoe UI"/>
              </a:defRPr>
            </a:lvl1pPr>
            <a:lvl2pPr marL="457200" algn="l" defTabSz="914400" rtl="0" eaLnBrk="1" latinLnBrk="0" hangingPunct="1">
              <a:defRPr sz="1800" kern="1200">
                <a:solidFill>
                  <a:sysClr val="window" lastClr="FFFFFF"/>
                </a:solidFill>
                <a:latin typeface="Segoe UI"/>
              </a:defRPr>
            </a:lvl2pPr>
            <a:lvl3pPr marL="914400" algn="l" defTabSz="914400" rtl="0" eaLnBrk="1" latinLnBrk="0" hangingPunct="1">
              <a:defRPr sz="1800" kern="1200">
                <a:solidFill>
                  <a:sysClr val="window" lastClr="FFFFFF"/>
                </a:solidFill>
                <a:latin typeface="Segoe UI"/>
              </a:defRPr>
            </a:lvl3pPr>
            <a:lvl4pPr marL="1371600" algn="l" defTabSz="914400" rtl="0" eaLnBrk="1" latinLnBrk="0" hangingPunct="1">
              <a:defRPr sz="1800" kern="1200">
                <a:solidFill>
                  <a:sysClr val="window" lastClr="FFFFFF"/>
                </a:solidFill>
                <a:latin typeface="Segoe UI"/>
              </a:defRPr>
            </a:lvl4pPr>
            <a:lvl5pPr marL="1828800" algn="l" defTabSz="914400" rtl="0" eaLnBrk="1" latinLnBrk="0" hangingPunct="1">
              <a:defRPr sz="1800" kern="1200">
                <a:solidFill>
                  <a:sysClr val="window" lastClr="FFFFFF"/>
                </a:solidFill>
                <a:latin typeface="Segoe UI"/>
              </a:defRPr>
            </a:lvl5pPr>
            <a:lvl6pPr marL="2286000" algn="l" defTabSz="914400" rtl="0" eaLnBrk="1" latinLnBrk="0" hangingPunct="1">
              <a:defRPr sz="1800" kern="1200">
                <a:solidFill>
                  <a:sysClr val="window" lastClr="FFFFFF"/>
                </a:solidFill>
                <a:latin typeface="Segoe UI"/>
              </a:defRPr>
            </a:lvl6pPr>
            <a:lvl7pPr marL="2743200" algn="l" defTabSz="914400" rtl="0" eaLnBrk="1" latinLnBrk="0" hangingPunct="1">
              <a:defRPr sz="1800" kern="1200">
                <a:solidFill>
                  <a:sysClr val="window" lastClr="FFFFFF"/>
                </a:solidFill>
                <a:latin typeface="Segoe UI"/>
              </a:defRPr>
            </a:lvl7pPr>
            <a:lvl8pPr marL="3200400" algn="l" defTabSz="914400" rtl="0" eaLnBrk="1" latinLnBrk="0" hangingPunct="1">
              <a:defRPr sz="1800" kern="1200">
                <a:solidFill>
                  <a:sysClr val="window" lastClr="FFFFFF"/>
                </a:solidFill>
                <a:latin typeface="Segoe UI"/>
              </a:defRPr>
            </a:lvl8pPr>
            <a:lvl9pPr marL="3657600" algn="l" defTabSz="914400" rtl="0" eaLnBrk="1" latinLnBrk="0" hangingPunct="1">
              <a:defRPr sz="1800" kern="1200">
                <a:solidFill>
                  <a:sysClr val="window" lastClr="FFFFFF"/>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Montserrat SemiBold" panose="00000700000000000000" pitchFamily="2" charset="0"/>
            </a:endParaRPr>
          </a:p>
        </p:txBody>
      </p:sp>
      <p:sp>
        <p:nvSpPr>
          <p:cNvPr id="41" name="TextBox 36">
            <a:extLst>
              <a:ext uri="{FF2B5EF4-FFF2-40B4-BE49-F238E27FC236}">
                <a16:creationId xmlns:a16="http://schemas.microsoft.com/office/drawing/2014/main" id="{62AF3BDB-B562-06AB-2021-3139C845AF71}"/>
              </a:ext>
            </a:extLst>
          </p:cNvPr>
          <p:cNvSpPr txBox="1"/>
          <p:nvPr/>
        </p:nvSpPr>
        <p:spPr>
          <a:xfrm>
            <a:off x="4892747" y="5341251"/>
            <a:ext cx="1734519" cy="457561"/>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lvl="0" algn="ctr">
              <a:lnSpc>
                <a:spcPts val="1400"/>
              </a:lnSpc>
              <a:spcAft>
                <a:spcPts val="200"/>
              </a:spcAft>
              <a:defRPr/>
            </a:pPr>
            <a:r>
              <a:rPr lang="en-US" sz="900" b="1" dirty="0">
                <a:solidFill>
                  <a:srgbClr val="1B4DA2"/>
                </a:solidFill>
                <a:latin typeface="Montserrat" panose="00000500000000000000" pitchFamily="2" charset="0"/>
              </a:rPr>
              <a:t>Improved ODF F measure</a:t>
            </a:r>
          </a:p>
          <a:p>
            <a:pPr lvl="0" algn="ctr">
              <a:lnSpc>
                <a:spcPts val="1400"/>
              </a:lnSpc>
              <a:spcAft>
                <a:spcPts val="200"/>
              </a:spcAft>
              <a:defRPr/>
            </a:pPr>
            <a:r>
              <a:rPr lang="en-US" sz="800" b="1" dirty="0">
                <a:latin typeface="Montserrat" panose="00000500000000000000" pitchFamily="2" charset="0"/>
              </a:rPr>
              <a:t>Except BDCN</a:t>
            </a:r>
          </a:p>
        </p:txBody>
      </p:sp>
      <p:sp>
        <p:nvSpPr>
          <p:cNvPr id="43" name="TextBox 37">
            <a:extLst>
              <a:ext uri="{FF2B5EF4-FFF2-40B4-BE49-F238E27FC236}">
                <a16:creationId xmlns:a16="http://schemas.microsoft.com/office/drawing/2014/main" id="{4D2FB675-E186-89D2-3345-DE36CE6965EA}"/>
              </a:ext>
            </a:extLst>
          </p:cNvPr>
          <p:cNvSpPr txBox="1"/>
          <p:nvPr/>
        </p:nvSpPr>
        <p:spPr>
          <a:xfrm>
            <a:off x="4888176" y="4738789"/>
            <a:ext cx="1778990" cy="584775"/>
          </a:xfrm>
          <a:prstGeom prst="rect">
            <a:avLst/>
          </a:prstGeom>
          <a:noFill/>
        </p:spPr>
        <p:txBody>
          <a:bodyPr wrap="square">
            <a:spAutoFit/>
          </a:bodyPr>
          <a:lstStyle>
            <a:defPPr>
              <a:defRPr lang="en-US"/>
            </a:defPPr>
            <a:lvl1pPr marL="0" algn="l" defTabSz="914400" rtl="0" eaLnBrk="1" latinLnBrk="0" hangingPunct="1">
              <a:defRPr sz="1800" kern="1200">
                <a:solidFill>
                  <a:sysClr val="windowText" lastClr="000000"/>
                </a:solidFill>
                <a:latin typeface="Segoe UI"/>
              </a:defRPr>
            </a:lvl1pPr>
            <a:lvl2pPr marL="457200" algn="l" defTabSz="914400" rtl="0" eaLnBrk="1" latinLnBrk="0" hangingPunct="1">
              <a:defRPr sz="1800" kern="1200">
                <a:solidFill>
                  <a:sysClr val="windowText" lastClr="000000"/>
                </a:solidFill>
                <a:latin typeface="Segoe UI"/>
              </a:defRPr>
            </a:lvl2pPr>
            <a:lvl3pPr marL="914400" algn="l" defTabSz="914400" rtl="0" eaLnBrk="1" latinLnBrk="0" hangingPunct="1">
              <a:defRPr sz="1800" kern="1200">
                <a:solidFill>
                  <a:sysClr val="windowText" lastClr="000000"/>
                </a:solidFill>
                <a:latin typeface="Segoe UI"/>
              </a:defRPr>
            </a:lvl3pPr>
            <a:lvl4pPr marL="1371600" algn="l" defTabSz="914400" rtl="0" eaLnBrk="1" latinLnBrk="0" hangingPunct="1">
              <a:defRPr sz="1800" kern="1200">
                <a:solidFill>
                  <a:sysClr val="windowText" lastClr="000000"/>
                </a:solidFill>
                <a:latin typeface="Segoe UI"/>
              </a:defRPr>
            </a:lvl4pPr>
            <a:lvl5pPr marL="1828800" algn="l" defTabSz="914400" rtl="0" eaLnBrk="1" latinLnBrk="0" hangingPunct="1">
              <a:defRPr sz="1800" kern="1200">
                <a:solidFill>
                  <a:sysClr val="windowText" lastClr="000000"/>
                </a:solidFill>
                <a:latin typeface="Segoe UI"/>
              </a:defRPr>
            </a:lvl5pPr>
            <a:lvl6pPr marL="2286000" algn="l" defTabSz="914400" rtl="0" eaLnBrk="1" latinLnBrk="0" hangingPunct="1">
              <a:defRPr sz="1800" kern="1200">
                <a:solidFill>
                  <a:sysClr val="windowText" lastClr="000000"/>
                </a:solidFill>
                <a:latin typeface="Segoe UI"/>
              </a:defRPr>
            </a:lvl6pPr>
            <a:lvl7pPr marL="2743200" algn="l" defTabSz="914400" rtl="0" eaLnBrk="1" latinLnBrk="0" hangingPunct="1">
              <a:defRPr sz="1800" kern="1200">
                <a:solidFill>
                  <a:sysClr val="windowText" lastClr="000000"/>
                </a:solidFill>
                <a:latin typeface="Segoe UI"/>
              </a:defRPr>
            </a:lvl7pPr>
            <a:lvl8pPr marL="3200400" algn="l" defTabSz="914400" rtl="0" eaLnBrk="1" latinLnBrk="0" hangingPunct="1">
              <a:defRPr sz="1800" kern="1200">
                <a:solidFill>
                  <a:sysClr val="windowText" lastClr="000000"/>
                </a:solidFill>
                <a:latin typeface="Segoe UI"/>
              </a:defRPr>
            </a:lvl8pPr>
            <a:lvl9pPr marL="3657600" algn="l" defTabSz="914400" rtl="0" eaLnBrk="1" latinLnBrk="0" hangingPunct="1">
              <a:defRPr sz="1800" kern="1200">
                <a:solidFill>
                  <a:sysClr val="windowText" lastClr="000000"/>
                </a:solidFill>
                <a:latin typeface="Segoe U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latin typeface="Montserrat" panose="00000500000000000000" pitchFamily="2" charset="0"/>
              </a:rPr>
              <a:t>0</a:t>
            </a:r>
            <a:r>
              <a:rPr kumimoji="0" lang="en-US" sz="32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rPr>
              <a:t>.</a:t>
            </a:r>
            <a:r>
              <a:rPr lang="en-US" sz="3200" b="1" dirty="0">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latin typeface="Montserrat" panose="00000500000000000000" pitchFamily="2" charset="0"/>
              </a:rPr>
              <a:t>807</a:t>
            </a:r>
            <a:endParaRPr kumimoji="0" lang="en-US" sz="2800" b="1" i="0" u="none" strike="noStrike" kern="1200" cap="none" spc="0" normalizeH="0" baseline="0" noProof="0" dirty="0">
              <a:ln>
                <a:noFill/>
              </a:ln>
              <a:gradFill flip="none" rotWithShape="1">
                <a:gsLst>
                  <a:gs pos="0">
                    <a:srgbClr val="5B9BD5">
                      <a:lumMod val="89000"/>
                    </a:srgbClr>
                  </a:gs>
                  <a:gs pos="23000">
                    <a:srgbClr val="5B9BD5">
                      <a:lumMod val="89000"/>
                    </a:srgbClr>
                  </a:gs>
                  <a:gs pos="69000">
                    <a:srgbClr val="5B9BD5">
                      <a:lumMod val="75000"/>
                    </a:srgbClr>
                  </a:gs>
                  <a:gs pos="97000">
                    <a:srgbClr val="5B9BD5">
                      <a:lumMod val="70000"/>
                    </a:srgbClr>
                  </a:gs>
                </a:gsLst>
                <a:path path="circle">
                  <a:fillToRect l="50000" t="50000" r="50000" b="50000"/>
                </a:path>
                <a:tileRect/>
              </a:gradFill>
              <a:effectLst/>
              <a:uLnTx/>
              <a:uFillTx/>
              <a:latin typeface="Montserrat" panose="00000500000000000000" pitchFamily="2" charset="0"/>
            </a:endParaRPr>
          </a:p>
        </p:txBody>
      </p:sp>
      <p:sp>
        <p:nvSpPr>
          <p:cNvPr id="45" name="TextBox 44">
            <a:extLst>
              <a:ext uri="{FF2B5EF4-FFF2-40B4-BE49-F238E27FC236}">
                <a16:creationId xmlns:a16="http://schemas.microsoft.com/office/drawing/2014/main" id="{FDD559C6-5A4F-6892-F5D9-9314885C8956}"/>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6"/>
              </a:rPr>
              <a:t>10.1109/ICCV48922.2021.00507</a:t>
            </a:r>
            <a:endParaRPr lang="en-US" sz="1100" dirty="0">
              <a:latin typeface="+mj-lt"/>
            </a:endParaRPr>
          </a:p>
        </p:txBody>
      </p:sp>
    </p:spTree>
    <p:extLst>
      <p:ext uri="{BB962C8B-B14F-4D97-AF65-F5344CB8AC3E}">
        <p14:creationId xmlns:p14="http://schemas.microsoft.com/office/powerpoint/2010/main" val="2803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B9DF2-B290-83F1-DA28-39CE8BECC544}"/>
            </a:ext>
          </a:extLst>
        </p:cNvPr>
        <p:cNvGrpSpPr/>
        <p:nvPr/>
      </p:nvGrpSpPr>
      <p:grpSpPr>
        <a:xfrm>
          <a:off x="0" y="0"/>
          <a:ext cx="0" cy="0"/>
          <a:chOff x="0" y="0"/>
          <a:chExt cx="0" cy="0"/>
        </a:xfrm>
      </p:grpSpPr>
      <p:sp>
        <p:nvSpPr>
          <p:cNvPr id="47" name="Oval 74">
            <a:extLst>
              <a:ext uri="{FF2B5EF4-FFF2-40B4-BE49-F238E27FC236}">
                <a16:creationId xmlns:a16="http://schemas.microsoft.com/office/drawing/2014/main" id="{FBE312BD-0D7D-0FFA-6D09-07FB191BE1FC}"/>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C871D44D-3E73-9801-8D43-9C98E01E870F}"/>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732016D6-7EAC-5349-782D-E6D488A38369}"/>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E72CA423-5EFE-2C30-D7B1-451D9576DCB9}"/>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7</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48DBDC0D-530C-96DE-5A87-07AF1150DB1C}"/>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6D71A0A3-2D4E-788F-E245-2A0399589FD9}"/>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Comparison with other Edge Detection Models</a:t>
            </a:r>
            <a:endParaRPr kumimoji="0" lang="en-US" sz="3200" b="1" i="0" u="none" strike="noStrike" kern="1200" cap="none" spc="-1" normalizeH="0" baseline="0" noProof="0" dirty="0">
              <a:ln>
                <a:noFill/>
              </a:ln>
              <a:solidFill>
                <a:srgbClr val="000000"/>
              </a:solidFill>
              <a:effectLst/>
              <a:uLnTx/>
              <a:uFillTx/>
              <a:latin typeface="Aptos Display"/>
              <a:ea typeface="+mn-ea"/>
              <a:cs typeface="+mn-cs"/>
            </a:endParaRPr>
          </a:p>
        </p:txBody>
      </p:sp>
      <p:pic>
        <p:nvPicPr>
          <p:cNvPr id="99" name="Picture 2" descr="Nust Logo - CrystalPng">
            <a:extLst>
              <a:ext uri="{FF2B5EF4-FFF2-40B4-BE49-F238E27FC236}">
                <a16:creationId xmlns:a16="http://schemas.microsoft.com/office/drawing/2014/main" id="{D1EB67D7-4D35-073A-4CD6-786DB431A839}"/>
              </a:ext>
            </a:extLst>
          </p:cNvPr>
          <p:cNvPicPr/>
          <p:nvPr/>
        </p:nvPicPr>
        <p:blipFill>
          <a:blip r:embed="rId3"/>
          <a:stretch/>
        </p:blipFill>
        <p:spPr>
          <a:xfrm>
            <a:off x="11068200" y="-11520"/>
            <a:ext cx="1123560" cy="1123560"/>
          </a:xfrm>
          <a:prstGeom prst="rect">
            <a:avLst/>
          </a:prstGeom>
          <a:ln w="0">
            <a:noFill/>
          </a:ln>
        </p:spPr>
      </p:pic>
      <p:sp>
        <p:nvSpPr>
          <p:cNvPr id="45" name="TextBox 44">
            <a:extLst>
              <a:ext uri="{FF2B5EF4-FFF2-40B4-BE49-F238E27FC236}">
                <a16:creationId xmlns:a16="http://schemas.microsoft.com/office/drawing/2014/main" id="{633478BA-495D-B877-04FD-E6B5D114884F}"/>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pic>
        <p:nvPicPr>
          <p:cNvPr id="3" name="Picture 2">
            <a:extLst>
              <a:ext uri="{FF2B5EF4-FFF2-40B4-BE49-F238E27FC236}">
                <a16:creationId xmlns:a16="http://schemas.microsoft.com/office/drawing/2014/main" id="{92A921DB-F539-D3D9-2CEC-16F5CA68A503}"/>
              </a:ext>
            </a:extLst>
          </p:cNvPr>
          <p:cNvPicPr>
            <a:picLocks noChangeAspect="1"/>
          </p:cNvPicPr>
          <p:nvPr/>
        </p:nvPicPr>
        <p:blipFill>
          <a:blip r:embed="rId5"/>
          <a:stretch>
            <a:fillRect/>
          </a:stretch>
        </p:blipFill>
        <p:spPr>
          <a:xfrm>
            <a:off x="740390" y="754002"/>
            <a:ext cx="9875538" cy="2997198"/>
          </a:xfrm>
          <a:prstGeom prst="rect">
            <a:avLst/>
          </a:prstGeom>
        </p:spPr>
      </p:pic>
      <p:pic>
        <p:nvPicPr>
          <p:cNvPr id="6" name="Picture 5">
            <a:extLst>
              <a:ext uri="{FF2B5EF4-FFF2-40B4-BE49-F238E27FC236}">
                <a16:creationId xmlns:a16="http://schemas.microsoft.com/office/drawing/2014/main" id="{AD3151D0-391D-336E-930B-E9B530F37C82}"/>
              </a:ext>
            </a:extLst>
          </p:cNvPr>
          <p:cNvPicPr>
            <a:picLocks noChangeAspect="1"/>
          </p:cNvPicPr>
          <p:nvPr/>
        </p:nvPicPr>
        <p:blipFill>
          <a:blip r:embed="rId6"/>
          <a:stretch>
            <a:fillRect/>
          </a:stretch>
        </p:blipFill>
        <p:spPr>
          <a:xfrm>
            <a:off x="3183840" y="3787518"/>
            <a:ext cx="4988638" cy="2731280"/>
          </a:xfrm>
          <a:prstGeom prst="rect">
            <a:avLst/>
          </a:prstGeom>
        </p:spPr>
      </p:pic>
    </p:spTree>
    <p:extLst>
      <p:ext uri="{BB962C8B-B14F-4D97-AF65-F5344CB8AC3E}">
        <p14:creationId xmlns:p14="http://schemas.microsoft.com/office/powerpoint/2010/main" val="2391367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AEE5B-361E-B6CE-64DF-C9C274CB745E}"/>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C096A245-E676-BA62-C046-93D1FC6144D5}"/>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AD1F4A8D-E2A9-015B-7CF8-8108FE42ADCA}"/>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831945A0-5292-6903-1569-EA9BDEB0AD7B}"/>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82F19696-D9D9-5E18-0985-DA808247F5DB}"/>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8</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3B5613FE-7BBF-BC6E-C363-CA77E335185E}"/>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0CA8E2D1-001F-42FC-E9AD-F2CCF6ACE98D}"/>
              </a:ext>
            </a:extLst>
          </p:cNvPr>
          <p:cNvPicPr/>
          <p:nvPr/>
        </p:nvPicPr>
        <p:blipFill>
          <a:blip r:embed="rId3"/>
          <a:stretch/>
        </p:blipFill>
        <p:spPr>
          <a:xfrm>
            <a:off x="11068200" y="-11520"/>
            <a:ext cx="1123560" cy="1123560"/>
          </a:xfrm>
          <a:prstGeom prst="rect">
            <a:avLst/>
          </a:prstGeom>
          <a:ln w="0">
            <a:noFill/>
          </a:ln>
        </p:spPr>
      </p:pic>
      <p:pic>
        <p:nvPicPr>
          <p:cNvPr id="17" name="Picture 16">
            <a:extLst>
              <a:ext uri="{FF2B5EF4-FFF2-40B4-BE49-F238E27FC236}">
                <a16:creationId xmlns:a16="http://schemas.microsoft.com/office/drawing/2014/main" id="{0AEB4A89-C52B-1FCF-BDFE-B9E6985AF5B3}"/>
              </a:ext>
            </a:extLst>
          </p:cNvPr>
          <p:cNvPicPr>
            <a:picLocks noChangeAspect="1"/>
          </p:cNvPicPr>
          <p:nvPr/>
        </p:nvPicPr>
        <p:blipFill>
          <a:blip r:embed="rId4"/>
          <a:stretch>
            <a:fillRect/>
          </a:stretch>
        </p:blipFill>
        <p:spPr>
          <a:xfrm>
            <a:off x="-83765" y="233083"/>
            <a:ext cx="5143500" cy="6355976"/>
          </a:xfrm>
          <a:prstGeom prst="rect">
            <a:avLst/>
          </a:prstGeom>
        </p:spPr>
      </p:pic>
      <p:pic>
        <p:nvPicPr>
          <p:cNvPr id="9" name="Picture 8">
            <a:extLst>
              <a:ext uri="{FF2B5EF4-FFF2-40B4-BE49-F238E27FC236}">
                <a16:creationId xmlns:a16="http://schemas.microsoft.com/office/drawing/2014/main" id="{928E66DC-9104-3DED-4199-67C9289493F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94441" y="904876"/>
            <a:ext cx="3551228" cy="5114924"/>
          </a:xfrm>
          <a:prstGeom prst="rect">
            <a:avLst/>
          </a:prstGeom>
        </p:spPr>
      </p:pic>
      <p:pic>
        <p:nvPicPr>
          <p:cNvPr id="5138" name="Picture 18">
            <a:extLst>
              <a:ext uri="{FF2B5EF4-FFF2-40B4-BE49-F238E27FC236}">
                <a16:creationId xmlns:a16="http://schemas.microsoft.com/office/drawing/2014/main" id="{304BB16A-0294-8B5A-590B-7F1D36720DB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t="1752" b="1752"/>
          <a:stretch/>
        </p:blipFill>
        <p:spPr bwMode="auto">
          <a:xfrm>
            <a:off x="9904045" y="566990"/>
            <a:ext cx="1048510" cy="56869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5F4D384B-B906-6B59-86A0-C562BAC591F6}"/>
              </a:ext>
            </a:extLst>
          </p:cNvPr>
          <p:cNvSpPr/>
          <p:nvPr/>
        </p:nvSpPr>
        <p:spPr>
          <a:xfrm>
            <a:off x="4654105" y="979411"/>
            <a:ext cx="3455617" cy="399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sz="1200" b="1" dirty="0">
                <a:solidFill>
                  <a:schemeClr val="accent3"/>
                </a:solidFill>
                <a:latin typeface="Montserrat" panose="00000500000000000000" pitchFamily="50" charset="0"/>
              </a:rPr>
              <a:t>KEY Contributions</a:t>
            </a:r>
            <a:endParaRPr lang="en-GB" sz="1200" dirty="0">
              <a:solidFill>
                <a:schemeClr val="accent3"/>
              </a:solidFill>
              <a:latin typeface="Montserrat" panose="00000500000000000000" pitchFamily="50" charset="0"/>
            </a:endParaRPr>
          </a:p>
        </p:txBody>
      </p:sp>
      <p:cxnSp>
        <p:nvCxnSpPr>
          <p:cNvPr id="21" name="Straight Connector 20">
            <a:extLst>
              <a:ext uri="{FF2B5EF4-FFF2-40B4-BE49-F238E27FC236}">
                <a16:creationId xmlns:a16="http://schemas.microsoft.com/office/drawing/2014/main" id="{CE65A717-F145-B42C-C3B4-DF0FF7D17F87}"/>
              </a:ext>
            </a:extLst>
          </p:cNvPr>
          <p:cNvCxnSpPr>
            <a:cxnSpLocks/>
          </p:cNvCxnSpPr>
          <p:nvPr/>
        </p:nvCxnSpPr>
        <p:spPr>
          <a:xfrm>
            <a:off x="6095880" y="1279323"/>
            <a:ext cx="6095880" cy="0"/>
          </a:xfrm>
          <a:prstGeom prst="line">
            <a:avLst/>
          </a:prstGeom>
          <a:ln w="127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5C59CD8D-C29C-9DEE-D1E1-AC2DC91091A2}"/>
              </a:ext>
            </a:extLst>
          </p:cNvPr>
          <p:cNvSpPr/>
          <p:nvPr/>
        </p:nvSpPr>
        <p:spPr>
          <a:xfrm>
            <a:off x="4633642" y="1353483"/>
            <a:ext cx="7433829" cy="4946233"/>
          </a:xfrm>
          <a:prstGeom prst="roundRect">
            <a:avLst>
              <a:gd name="adj" fmla="val 4589"/>
            </a:avLst>
          </a:prstGeom>
          <a:solidFill>
            <a:sysClr val="window" lastClr="FFFFFF"/>
          </a:solidFill>
          <a:ln w="9525" cap="sq" cmpd="sng" algn="ctr">
            <a:solidFill>
              <a:sysClr val="window" lastClr="FFFFFF">
                <a:lumMod val="85000"/>
              </a:sysClr>
            </a:solidFill>
            <a:prstDash val="solid"/>
            <a:miter lim="800000"/>
          </a:ln>
          <a:effectLst>
            <a:outerShdw blurRad="170431" dist="38100" dir="2700000" algn="tl" rotWithShape="0">
              <a:prstClr val="black">
                <a:alpha val="5243"/>
              </a:prstClr>
            </a:outerShdw>
          </a:effectLst>
          <a:scene3d>
            <a:camera prst="orthographicFront"/>
            <a:lightRig rig="threePt" dir="t"/>
          </a:scene3d>
          <a:sp3d>
            <a:bevelT w="152400" h="50800" prst="softRound"/>
          </a:sp3d>
        </p:spPr>
        <p:txBody>
          <a:bodyPr rot="0" spcFirstLastPara="0" vertOverflow="overflow" horzOverflow="overflow" vert="horz" wrap="square" lIns="91440" tIns="27432"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ts val="1500"/>
              </a:lnSpc>
              <a:spcBef>
                <a:spcPts val="0"/>
              </a:spcBef>
              <a:spcAft>
                <a:spcPts val="0"/>
              </a:spcAft>
              <a:buClrTx/>
              <a:buSzTx/>
              <a:buFontTx/>
              <a:buNone/>
              <a:tabLst/>
              <a:defRPr/>
            </a:pPr>
            <a:r>
              <a:rPr kumimoji="0" lang="en-US" sz="1000" b="0" i="0" u="none" strike="noStrike" kern="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grpSp>
        <p:nvGrpSpPr>
          <p:cNvPr id="28" name="Group 27">
            <a:extLst>
              <a:ext uri="{FF2B5EF4-FFF2-40B4-BE49-F238E27FC236}">
                <a16:creationId xmlns:a16="http://schemas.microsoft.com/office/drawing/2014/main" id="{E018555C-A36C-ACD2-2768-AF75E5892541}"/>
              </a:ext>
            </a:extLst>
          </p:cNvPr>
          <p:cNvGrpSpPr/>
          <p:nvPr/>
        </p:nvGrpSpPr>
        <p:grpSpPr>
          <a:xfrm>
            <a:off x="4806914" y="1462813"/>
            <a:ext cx="7026939" cy="784830"/>
            <a:chOff x="7004438" y="651449"/>
            <a:chExt cx="7026939" cy="784830"/>
          </a:xfrm>
        </p:grpSpPr>
        <p:sp>
          <p:nvSpPr>
            <p:cNvPr id="29" name="Rectangle: Rounded Corners 28">
              <a:extLst>
                <a:ext uri="{FF2B5EF4-FFF2-40B4-BE49-F238E27FC236}">
                  <a16:creationId xmlns:a16="http://schemas.microsoft.com/office/drawing/2014/main" id="{30C78C17-3D4D-7B38-65F6-274C85878838}"/>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900" b="1" dirty="0">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path path="circle">
                      <a:fillToRect l="50000" t="50000" r="50000" b="50000"/>
                    </a:path>
                    <a:tileRect/>
                  </a:gradFill>
                  <a:latin typeface="+mj-lt"/>
                </a:rPr>
                <a:t>PiDiNet</a:t>
              </a:r>
            </a:p>
          </p:txBody>
        </p:sp>
        <p:sp>
          <p:nvSpPr>
            <p:cNvPr id="30" name="TextBox 29">
              <a:extLst>
                <a:ext uri="{FF2B5EF4-FFF2-40B4-BE49-F238E27FC236}">
                  <a16:creationId xmlns:a16="http://schemas.microsoft.com/office/drawing/2014/main" id="{424E4977-4E18-38BE-4CF0-DC1F2981ECF9}"/>
                </a:ext>
              </a:extLst>
            </p:cNvPr>
            <p:cNvSpPr txBox="1"/>
            <p:nvPr/>
          </p:nvSpPr>
          <p:spPr>
            <a:xfrm>
              <a:off x="7522591" y="651449"/>
              <a:ext cx="6508786" cy="784830"/>
            </a:xfrm>
            <a:prstGeom prst="rect">
              <a:avLst/>
            </a:prstGeom>
            <a:noFill/>
          </p:spPr>
          <p:txBody>
            <a:bodyPr wrap="square">
              <a:spAutoFit/>
            </a:bodyPr>
            <a:lstStyle/>
            <a:p>
              <a:pPr algn="just"/>
              <a:r>
                <a:rPr lang="en-US" sz="1200" b="1" dirty="0">
                  <a:solidFill>
                    <a:schemeClr val="accent3"/>
                  </a:solidFill>
                </a:rPr>
                <a:t>Re-parameterization trick</a:t>
              </a:r>
            </a:p>
            <a:p>
              <a:pPr algn="just"/>
              <a:r>
                <a:rPr lang="en-US" sz="1100" dirty="0"/>
                <a:t>every PDC is algebraically foldable into a single ordinary convolution kernel after training (no retraining, no approximation), so inference runs as a plain fast CNN despite training with the richer difference-based operators.</a:t>
              </a:r>
            </a:p>
          </p:txBody>
        </p:sp>
      </p:grpSp>
      <p:grpSp>
        <p:nvGrpSpPr>
          <p:cNvPr id="31" name="Group 30">
            <a:extLst>
              <a:ext uri="{FF2B5EF4-FFF2-40B4-BE49-F238E27FC236}">
                <a16:creationId xmlns:a16="http://schemas.microsoft.com/office/drawing/2014/main" id="{FFBC6C47-B455-60C1-E22B-B51C4DE2D424}"/>
              </a:ext>
            </a:extLst>
          </p:cNvPr>
          <p:cNvGrpSpPr/>
          <p:nvPr/>
        </p:nvGrpSpPr>
        <p:grpSpPr>
          <a:xfrm>
            <a:off x="4806914" y="2339866"/>
            <a:ext cx="7026939" cy="615553"/>
            <a:chOff x="7004438" y="716981"/>
            <a:chExt cx="7026939" cy="615553"/>
          </a:xfrm>
        </p:grpSpPr>
        <p:sp>
          <p:nvSpPr>
            <p:cNvPr id="32" name="Rectangle: Rounded Corners 31">
              <a:extLst>
                <a:ext uri="{FF2B5EF4-FFF2-40B4-BE49-F238E27FC236}">
                  <a16:creationId xmlns:a16="http://schemas.microsoft.com/office/drawing/2014/main" id="{A145DE39-2F4A-D9EA-95EA-45A82686CB05}"/>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33" name="TextBox 32">
              <a:extLst>
                <a:ext uri="{FF2B5EF4-FFF2-40B4-BE49-F238E27FC236}">
                  <a16:creationId xmlns:a16="http://schemas.microsoft.com/office/drawing/2014/main" id="{3F055D04-4375-DBD0-0696-110C8E5AE10F}"/>
                </a:ext>
              </a:extLst>
            </p:cNvPr>
            <p:cNvSpPr txBox="1"/>
            <p:nvPr/>
          </p:nvSpPr>
          <p:spPr>
            <a:xfrm>
              <a:off x="7522591" y="716981"/>
              <a:ext cx="6508786" cy="615553"/>
            </a:xfrm>
            <a:prstGeom prst="rect">
              <a:avLst/>
            </a:prstGeom>
            <a:noFill/>
          </p:spPr>
          <p:txBody>
            <a:bodyPr wrap="square">
              <a:spAutoFit/>
            </a:bodyPr>
            <a:lstStyle/>
            <a:p>
              <a:pPr algn="just"/>
              <a:r>
                <a:rPr lang="en-US" sz="1200" b="1" dirty="0">
                  <a:solidFill>
                    <a:schemeClr val="accent3"/>
                  </a:solidFill>
                </a:rPr>
                <a:t>Extreme parameter efficiency</a:t>
              </a:r>
            </a:p>
            <a:p>
              <a:pPr algn="just"/>
              <a:r>
                <a:rPr lang="en-US" sz="1100" dirty="0"/>
                <a:t>The full model uses well under 1M parameters (as low as ~0.07M for the Tiny variant), 10-40x smaller than typical CNN-backbone-based edge detectors like HED/RCF.</a:t>
              </a:r>
            </a:p>
          </p:txBody>
        </p:sp>
      </p:grpSp>
      <p:grpSp>
        <p:nvGrpSpPr>
          <p:cNvPr id="34" name="Group 33">
            <a:extLst>
              <a:ext uri="{FF2B5EF4-FFF2-40B4-BE49-F238E27FC236}">
                <a16:creationId xmlns:a16="http://schemas.microsoft.com/office/drawing/2014/main" id="{04198433-D2AB-F342-38BE-872412BFECB4}"/>
              </a:ext>
            </a:extLst>
          </p:cNvPr>
          <p:cNvGrpSpPr/>
          <p:nvPr/>
        </p:nvGrpSpPr>
        <p:grpSpPr>
          <a:xfrm>
            <a:off x="4806914" y="3104204"/>
            <a:ext cx="7026939" cy="457622"/>
            <a:chOff x="7004438" y="816633"/>
            <a:chExt cx="7026939" cy="457622"/>
          </a:xfrm>
        </p:grpSpPr>
        <p:sp>
          <p:nvSpPr>
            <p:cNvPr id="35" name="Rectangle: Rounded Corners 34">
              <a:extLst>
                <a:ext uri="{FF2B5EF4-FFF2-40B4-BE49-F238E27FC236}">
                  <a16:creationId xmlns:a16="http://schemas.microsoft.com/office/drawing/2014/main" id="{BD6FB9BB-F23B-B466-A041-66214B340323}"/>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36" name="TextBox 35">
              <a:extLst>
                <a:ext uri="{FF2B5EF4-FFF2-40B4-BE49-F238E27FC236}">
                  <a16:creationId xmlns:a16="http://schemas.microsoft.com/office/drawing/2014/main" id="{BA4CBFD2-B516-7479-906E-B20D200DDC98}"/>
                </a:ext>
              </a:extLst>
            </p:cNvPr>
            <p:cNvSpPr txBox="1"/>
            <p:nvPr/>
          </p:nvSpPr>
          <p:spPr>
            <a:xfrm>
              <a:off x="7522591" y="827979"/>
              <a:ext cx="6508786" cy="446276"/>
            </a:xfrm>
            <a:prstGeom prst="rect">
              <a:avLst/>
            </a:prstGeom>
            <a:noFill/>
          </p:spPr>
          <p:txBody>
            <a:bodyPr wrap="square">
              <a:spAutoFit/>
            </a:bodyPr>
            <a:lstStyle/>
            <a:p>
              <a:pPr algn="just"/>
              <a:r>
                <a:rPr lang="en-US" sz="1200" b="1" dirty="0">
                  <a:solidFill>
                    <a:schemeClr val="accent3"/>
                  </a:solidFill>
                </a:rPr>
                <a:t>Trained entirely from scratch</a:t>
              </a:r>
            </a:p>
            <a:p>
              <a:pPr algn="just"/>
              <a:r>
                <a:rPr lang="en-US" sz="1100" dirty="0"/>
                <a:t>No ImageNet or other large-scale pretrained backbone required, unlike prior deep edge detectors.</a:t>
              </a:r>
            </a:p>
          </p:txBody>
        </p:sp>
      </p:grpSp>
      <p:sp>
        <p:nvSpPr>
          <p:cNvPr id="37" name="Rectangle: Rounded Corners 36">
            <a:extLst>
              <a:ext uri="{FF2B5EF4-FFF2-40B4-BE49-F238E27FC236}">
                <a16:creationId xmlns:a16="http://schemas.microsoft.com/office/drawing/2014/main" id="{F9EE5ED5-9A2B-C54B-FF86-7628BD705583}"/>
              </a:ext>
            </a:extLst>
          </p:cNvPr>
          <p:cNvSpPr/>
          <p:nvPr/>
        </p:nvSpPr>
        <p:spPr>
          <a:xfrm>
            <a:off x="8798461" y="566990"/>
            <a:ext cx="898980" cy="583322"/>
          </a:xfrm>
          <a:prstGeom prst="roundRect">
            <a:avLst>
              <a:gd name="adj" fmla="val 2496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b="1" dirty="0">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path path="circle">
                    <a:fillToRect l="50000" t="50000" r="50000" b="50000"/>
                  </a:path>
                  <a:tileRect/>
                </a:gradFill>
                <a:latin typeface="+mj-lt"/>
              </a:rPr>
              <a:t>ICCV 2021</a:t>
            </a:r>
          </a:p>
        </p:txBody>
      </p:sp>
      <p:sp>
        <p:nvSpPr>
          <p:cNvPr id="11" name="TextBox 10">
            <a:extLst>
              <a:ext uri="{FF2B5EF4-FFF2-40B4-BE49-F238E27FC236}">
                <a16:creationId xmlns:a16="http://schemas.microsoft.com/office/drawing/2014/main" id="{97BF3D44-0175-7BE1-0A38-F7D83393A866}"/>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7"/>
              </a:rPr>
              <a:t>10.1109/ICCV48922.2021.00507</a:t>
            </a:r>
            <a:endParaRPr lang="en-US" sz="1100" dirty="0">
              <a:latin typeface="+mj-lt"/>
            </a:endParaRPr>
          </a:p>
        </p:txBody>
      </p:sp>
      <p:sp>
        <p:nvSpPr>
          <p:cNvPr id="95" name="TextBox 9">
            <a:extLst>
              <a:ext uri="{FF2B5EF4-FFF2-40B4-BE49-F238E27FC236}">
                <a16:creationId xmlns:a16="http://schemas.microsoft.com/office/drawing/2014/main" id="{0722F36D-BD03-791C-1AD1-213FBE60DC3A}"/>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Key Contributions</a:t>
            </a:r>
            <a:endParaRPr lang="en-US" sz="3200" b="1" spc="-1" dirty="0">
              <a:solidFill>
                <a:schemeClr val="dk1"/>
              </a:solidFill>
              <a:latin typeface="Aptos Display"/>
            </a:endParaRPr>
          </a:p>
        </p:txBody>
      </p:sp>
      <p:grpSp>
        <p:nvGrpSpPr>
          <p:cNvPr id="2" name="Group 1">
            <a:extLst>
              <a:ext uri="{FF2B5EF4-FFF2-40B4-BE49-F238E27FC236}">
                <a16:creationId xmlns:a16="http://schemas.microsoft.com/office/drawing/2014/main" id="{2F058F7F-DE85-2E2C-7125-754308278E20}"/>
              </a:ext>
            </a:extLst>
          </p:cNvPr>
          <p:cNvGrpSpPr/>
          <p:nvPr/>
        </p:nvGrpSpPr>
        <p:grpSpPr>
          <a:xfrm>
            <a:off x="4806914" y="3682330"/>
            <a:ext cx="7026939" cy="454955"/>
            <a:chOff x="7004438" y="816633"/>
            <a:chExt cx="7026939" cy="454955"/>
          </a:xfrm>
        </p:grpSpPr>
        <p:sp>
          <p:nvSpPr>
            <p:cNvPr id="3" name="Rectangle: Rounded Corners 2">
              <a:extLst>
                <a:ext uri="{FF2B5EF4-FFF2-40B4-BE49-F238E27FC236}">
                  <a16:creationId xmlns:a16="http://schemas.microsoft.com/office/drawing/2014/main" id="{8509286B-6B38-4502-F191-1F0699D9ABF9}"/>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4" name="TextBox 3">
              <a:extLst>
                <a:ext uri="{FF2B5EF4-FFF2-40B4-BE49-F238E27FC236}">
                  <a16:creationId xmlns:a16="http://schemas.microsoft.com/office/drawing/2014/main" id="{E4DF9381-147A-D3B6-35D1-F3B95C9F455C}"/>
                </a:ext>
              </a:extLst>
            </p:cNvPr>
            <p:cNvSpPr txBox="1"/>
            <p:nvPr/>
          </p:nvSpPr>
          <p:spPr>
            <a:xfrm>
              <a:off x="7522591" y="821629"/>
              <a:ext cx="6508786" cy="446276"/>
            </a:xfrm>
            <a:prstGeom prst="rect">
              <a:avLst/>
            </a:prstGeom>
            <a:noFill/>
          </p:spPr>
          <p:txBody>
            <a:bodyPr wrap="square">
              <a:spAutoFit/>
            </a:bodyPr>
            <a:lstStyle/>
            <a:p>
              <a:pPr algn="just"/>
              <a:r>
                <a:rPr lang="en-US" sz="1200" b="1" dirty="0">
                  <a:solidFill>
                    <a:schemeClr val="accent3"/>
                  </a:solidFill>
                </a:rPr>
                <a:t>State-of-the-art accuracy despite the small size</a:t>
              </a:r>
            </a:p>
            <a:p>
              <a:pPr algn="just"/>
              <a:r>
                <a:rPr lang="en-US" sz="1100" dirty="0"/>
                <a:t>0.807 ODS on BSDS500, surpassing the recorded human perception baseline (0.803).</a:t>
              </a:r>
            </a:p>
          </p:txBody>
        </p:sp>
      </p:grpSp>
      <p:grpSp>
        <p:nvGrpSpPr>
          <p:cNvPr id="5" name="Group 4">
            <a:extLst>
              <a:ext uri="{FF2B5EF4-FFF2-40B4-BE49-F238E27FC236}">
                <a16:creationId xmlns:a16="http://schemas.microsoft.com/office/drawing/2014/main" id="{11E66972-3AA4-FC3C-1DD9-5714229709FC}"/>
              </a:ext>
            </a:extLst>
          </p:cNvPr>
          <p:cNvGrpSpPr/>
          <p:nvPr/>
        </p:nvGrpSpPr>
        <p:grpSpPr>
          <a:xfrm>
            <a:off x="4806914" y="4257789"/>
            <a:ext cx="7026939" cy="615553"/>
            <a:chOff x="7004438" y="726379"/>
            <a:chExt cx="7026939" cy="615553"/>
          </a:xfrm>
        </p:grpSpPr>
        <p:sp>
          <p:nvSpPr>
            <p:cNvPr id="6" name="Rectangle: Rounded Corners 5">
              <a:extLst>
                <a:ext uri="{FF2B5EF4-FFF2-40B4-BE49-F238E27FC236}">
                  <a16:creationId xmlns:a16="http://schemas.microsoft.com/office/drawing/2014/main" id="{6E898427-B855-9998-DBF4-A42AF1C33FCA}"/>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7" name="TextBox 6">
              <a:extLst>
                <a:ext uri="{FF2B5EF4-FFF2-40B4-BE49-F238E27FC236}">
                  <a16:creationId xmlns:a16="http://schemas.microsoft.com/office/drawing/2014/main" id="{A4DE7997-8147-C355-138F-B3FDCE5DEDFC}"/>
                </a:ext>
              </a:extLst>
            </p:cNvPr>
            <p:cNvSpPr txBox="1"/>
            <p:nvPr/>
          </p:nvSpPr>
          <p:spPr>
            <a:xfrm>
              <a:off x="7522591" y="726379"/>
              <a:ext cx="6508786" cy="615553"/>
            </a:xfrm>
            <a:prstGeom prst="rect">
              <a:avLst/>
            </a:prstGeom>
            <a:noFill/>
          </p:spPr>
          <p:txBody>
            <a:bodyPr wrap="square">
              <a:spAutoFit/>
            </a:bodyPr>
            <a:lstStyle/>
            <a:p>
              <a:pPr algn="just"/>
              <a:r>
                <a:rPr lang="en-US" sz="1200" b="1" dirty="0">
                  <a:solidFill>
                    <a:schemeClr val="accent3"/>
                  </a:solidFill>
                </a:rPr>
                <a:t>High speed</a:t>
              </a:r>
            </a:p>
            <a:p>
              <a:pPr algn="just"/>
              <a:r>
                <a:rPr lang="en-US" sz="1100" dirty="0"/>
                <a:t>Up to 100+ FPS on GPU (Tiny variant up to 200+ FPS), making it practical for real-time and edge/embedded deployment.</a:t>
              </a:r>
            </a:p>
          </p:txBody>
        </p:sp>
      </p:grpSp>
      <p:grpSp>
        <p:nvGrpSpPr>
          <p:cNvPr id="8" name="Group 7">
            <a:extLst>
              <a:ext uri="{FF2B5EF4-FFF2-40B4-BE49-F238E27FC236}">
                <a16:creationId xmlns:a16="http://schemas.microsoft.com/office/drawing/2014/main" id="{C332F9F3-C4F5-9938-8ACA-308BD9F1FEE3}"/>
              </a:ext>
            </a:extLst>
          </p:cNvPr>
          <p:cNvGrpSpPr/>
          <p:nvPr/>
        </p:nvGrpSpPr>
        <p:grpSpPr>
          <a:xfrm>
            <a:off x="4806914" y="4993846"/>
            <a:ext cx="7026939" cy="454955"/>
            <a:chOff x="7004438" y="816633"/>
            <a:chExt cx="7026939" cy="454955"/>
          </a:xfrm>
        </p:grpSpPr>
        <p:sp>
          <p:nvSpPr>
            <p:cNvPr id="10" name="Rectangle: Rounded Corners 9">
              <a:extLst>
                <a:ext uri="{FF2B5EF4-FFF2-40B4-BE49-F238E27FC236}">
                  <a16:creationId xmlns:a16="http://schemas.microsoft.com/office/drawing/2014/main" id="{45C3D19D-3F0C-F6D3-FCDB-4862F2362246}"/>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12" name="TextBox 11">
              <a:extLst>
                <a:ext uri="{FF2B5EF4-FFF2-40B4-BE49-F238E27FC236}">
                  <a16:creationId xmlns:a16="http://schemas.microsoft.com/office/drawing/2014/main" id="{FE24147D-11FD-989B-67DE-8A9B14A58456}"/>
                </a:ext>
              </a:extLst>
            </p:cNvPr>
            <p:cNvSpPr txBox="1"/>
            <p:nvPr/>
          </p:nvSpPr>
          <p:spPr>
            <a:xfrm>
              <a:off x="7522591" y="821629"/>
              <a:ext cx="6508786" cy="446276"/>
            </a:xfrm>
            <a:prstGeom prst="rect">
              <a:avLst/>
            </a:prstGeom>
            <a:noFill/>
          </p:spPr>
          <p:txBody>
            <a:bodyPr wrap="square">
              <a:spAutoFit/>
            </a:bodyPr>
            <a:lstStyle/>
            <a:p>
              <a:pPr algn="just"/>
              <a:r>
                <a:rPr lang="en-US" sz="1200" b="1" dirty="0">
                  <a:solidFill>
                    <a:schemeClr val="accent3"/>
                  </a:solidFill>
                </a:rPr>
                <a:t>Consistent gains across datasets</a:t>
              </a:r>
            </a:p>
            <a:p>
              <a:pPr algn="just"/>
              <a:r>
                <a:rPr lang="en-US" sz="1100" dirty="0"/>
                <a:t>improvements hold on BSDS500, NYUD, and Multicue, not just one benchmark.</a:t>
              </a:r>
            </a:p>
          </p:txBody>
        </p:sp>
      </p:grpSp>
      <p:grpSp>
        <p:nvGrpSpPr>
          <p:cNvPr id="13" name="Group 12">
            <a:extLst>
              <a:ext uri="{FF2B5EF4-FFF2-40B4-BE49-F238E27FC236}">
                <a16:creationId xmlns:a16="http://schemas.microsoft.com/office/drawing/2014/main" id="{CE2E057D-9F4E-465B-1F78-10F5EBC1469E}"/>
              </a:ext>
            </a:extLst>
          </p:cNvPr>
          <p:cNvGrpSpPr/>
          <p:nvPr/>
        </p:nvGrpSpPr>
        <p:grpSpPr>
          <a:xfrm>
            <a:off x="4806914" y="5569302"/>
            <a:ext cx="7026939" cy="615553"/>
            <a:chOff x="7004438" y="729848"/>
            <a:chExt cx="7026939" cy="615553"/>
          </a:xfrm>
        </p:grpSpPr>
        <p:sp>
          <p:nvSpPr>
            <p:cNvPr id="14" name="Rectangle: Rounded Corners 13">
              <a:extLst>
                <a:ext uri="{FF2B5EF4-FFF2-40B4-BE49-F238E27FC236}">
                  <a16:creationId xmlns:a16="http://schemas.microsoft.com/office/drawing/2014/main" id="{4B8FD56B-2BE1-085A-2337-2AC31EDB68CA}"/>
                </a:ext>
              </a:extLst>
            </p:cNvPr>
            <p:cNvSpPr/>
            <p:nvPr/>
          </p:nvSpPr>
          <p:spPr>
            <a:xfrm>
              <a:off x="7004438" y="816633"/>
              <a:ext cx="457200" cy="454955"/>
            </a:xfrm>
            <a:prstGeom prst="roundRect">
              <a:avLst>
                <a:gd name="adj" fmla="val 24966"/>
              </a:avLst>
            </a:prstGeom>
            <a:solidFill>
              <a:schemeClr val="bg1">
                <a:lumMod val="95000"/>
              </a:schemeClr>
            </a:solidFill>
            <a:ln w="6350">
              <a:solidFill>
                <a:schemeClr val="accent2">
                  <a:lumMod val="75000"/>
                </a:schemeClr>
              </a:solidFill>
            </a:ln>
            <a:effectLst>
              <a:outerShdw blurRad="215900" dist="152400" dir="8100000" algn="tr" rotWithShape="0">
                <a:schemeClr val="accent1">
                  <a:lumMod val="50000"/>
                  <a:alpha val="2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gradFill flip="none" rotWithShape="1">
                    <a:gsLst>
                      <a:gs pos="0">
                        <a:srgbClr val="37A6FA">
                          <a:lumMod val="75000"/>
                          <a:shade val="30000"/>
                          <a:satMod val="115000"/>
                        </a:srgbClr>
                      </a:gs>
                      <a:gs pos="50000">
                        <a:srgbClr val="37A6FA">
                          <a:lumMod val="75000"/>
                          <a:shade val="67500"/>
                          <a:satMod val="115000"/>
                        </a:srgbClr>
                      </a:gs>
                      <a:gs pos="100000">
                        <a:srgbClr val="37A6FA">
                          <a:lumMod val="75000"/>
                          <a:shade val="100000"/>
                          <a:satMod val="115000"/>
                        </a:srgbClr>
                      </a:gs>
                    </a:gsLst>
                    <a:path path="circle">
                      <a:fillToRect l="50000" t="50000" r="50000" b="50000"/>
                    </a:path>
                    <a:tileRect/>
                  </a:gradFill>
                  <a:effectLst/>
                  <a:uLnTx/>
                  <a:uFillTx/>
                  <a:latin typeface="Aptos Display" panose="02110004020202020204"/>
                  <a:ea typeface="+mn-ea"/>
                  <a:cs typeface="+mn-cs"/>
                </a:rPr>
                <a:t>PiDiNet</a:t>
              </a:r>
            </a:p>
          </p:txBody>
        </p:sp>
        <p:sp>
          <p:nvSpPr>
            <p:cNvPr id="15" name="TextBox 14">
              <a:extLst>
                <a:ext uri="{FF2B5EF4-FFF2-40B4-BE49-F238E27FC236}">
                  <a16:creationId xmlns:a16="http://schemas.microsoft.com/office/drawing/2014/main" id="{947B5206-2115-E8F8-81D2-8E4506AC4DA4}"/>
                </a:ext>
              </a:extLst>
            </p:cNvPr>
            <p:cNvSpPr txBox="1"/>
            <p:nvPr/>
          </p:nvSpPr>
          <p:spPr>
            <a:xfrm>
              <a:off x="7522591" y="729848"/>
              <a:ext cx="6508786" cy="615553"/>
            </a:xfrm>
            <a:prstGeom prst="rect">
              <a:avLst/>
            </a:prstGeom>
            <a:noFill/>
          </p:spPr>
          <p:txBody>
            <a:bodyPr wrap="square">
              <a:spAutoFit/>
            </a:bodyPr>
            <a:lstStyle/>
            <a:p>
              <a:pPr algn="just"/>
              <a:r>
                <a:rPr lang="en-US" sz="1200" b="1" dirty="0">
                  <a:solidFill>
                    <a:schemeClr val="accent3"/>
                  </a:solidFill>
                </a:rPr>
                <a:t>Bridges classical and deep learning edge detection</a:t>
              </a:r>
            </a:p>
            <a:p>
              <a:pPr algn="just"/>
              <a:r>
                <a:rPr lang="en-US" sz="1100" dirty="0"/>
                <a:t>revives and validates ideas from traditional operators (Canny/Sobel/LBP) inside a modern trainable deep learning framework, an angle largely ignored by prior deep detectors.</a:t>
              </a:r>
            </a:p>
          </p:txBody>
        </p:sp>
      </p:grpSp>
    </p:spTree>
    <p:extLst>
      <p:ext uri="{BB962C8B-B14F-4D97-AF65-F5344CB8AC3E}">
        <p14:creationId xmlns:p14="http://schemas.microsoft.com/office/powerpoint/2010/main" val="2402196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E3F0-001E-24CE-6D75-79D1282C573B}"/>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2D469596-A241-431B-4020-4CB630918DE2}"/>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19DC1993-C737-7CB5-33FF-42704653912D}"/>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26A2B570-8686-822F-860C-5FAA3C3CC447}"/>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6E8238C5-5D28-F3AC-FC39-32B5D96116CD}"/>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9</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6EA4BA35-F02C-DFF1-E77C-20E3E8808387}"/>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7BDA4EF9-8B6E-E1EE-2AAE-1D6158DDE8B6}"/>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FFFB2DFC-529D-0910-84C2-A6E99581EA58}"/>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30D3B675-982E-C652-C3C9-C71FA2E3AAD7}"/>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Training Environment</a:t>
            </a:r>
            <a:endParaRPr lang="en-US" sz="3200" b="1" spc="-1" dirty="0">
              <a:solidFill>
                <a:schemeClr val="dk1"/>
              </a:solidFill>
              <a:latin typeface="Aptos Display"/>
            </a:endParaRPr>
          </a:p>
        </p:txBody>
      </p:sp>
      <p:sp>
        <p:nvSpPr>
          <p:cNvPr id="4" name="Shape 2">
            <a:extLst>
              <a:ext uri="{FF2B5EF4-FFF2-40B4-BE49-F238E27FC236}">
                <a16:creationId xmlns:a16="http://schemas.microsoft.com/office/drawing/2014/main" id="{504CBD92-8325-EFD0-A62C-C639D23347BA}"/>
              </a:ext>
            </a:extLst>
          </p:cNvPr>
          <p:cNvSpPr/>
          <p:nvPr/>
        </p:nvSpPr>
        <p:spPr>
          <a:xfrm>
            <a:off x="1724297" y="1042374"/>
            <a:ext cx="82296" cy="685800"/>
          </a:xfrm>
          <a:prstGeom prst="roundRect">
            <a:avLst/>
          </a:prstGeom>
          <a:solidFill>
            <a:schemeClr val="accent3"/>
          </a:solidFill>
          <a:ln/>
        </p:spPr>
        <p:txBody>
          <a:bodyPr/>
          <a:lstStyle/>
          <a:p>
            <a:endParaRPr lang="en-US"/>
          </a:p>
        </p:txBody>
      </p:sp>
      <p:sp>
        <p:nvSpPr>
          <p:cNvPr id="8" name="Text 3">
            <a:extLst>
              <a:ext uri="{FF2B5EF4-FFF2-40B4-BE49-F238E27FC236}">
                <a16:creationId xmlns:a16="http://schemas.microsoft.com/office/drawing/2014/main" id="{06719279-2D4E-AAE8-E12C-BB7C3E1BD268}"/>
              </a:ext>
            </a:extLst>
          </p:cNvPr>
          <p:cNvSpPr txBox="1"/>
          <p:nvPr/>
        </p:nvSpPr>
        <p:spPr>
          <a:xfrm>
            <a:off x="1998617" y="1024086"/>
            <a:ext cx="2377440" cy="457200"/>
          </a:xfrm>
          <a:prstGeom prst="rect">
            <a:avLst/>
          </a:prstGeom>
          <a:noFill/>
          <a:ln/>
        </p:spPr>
        <p:txBody>
          <a:bodyPr wrap="square" lIns="0" tIns="0" rIns="0" bIns="0" rtlCol="0" anchor="ctr"/>
          <a:lstStyle/>
          <a:p>
            <a:pPr marL="0" indent="0">
              <a:buNone/>
            </a:pPr>
            <a:r>
              <a:rPr lang="en-US" sz="1400" b="1" dirty="0">
                <a:solidFill>
                  <a:srgbClr val="1A1D26"/>
                </a:solidFill>
                <a:latin typeface="Cambria" pitchFamily="34" charset="0"/>
                <a:ea typeface="Cambria" pitchFamily="34" charset="-122"/>
                <a:cs typeface="Cambria" pitchFamily="34" charset="-120"/>
              </a:rPr>
              <a:t>Hardware</a:t>
            </a:r>
            <a:endParaRPr lang="en-US" sz="1400" dirty="0"/>
          </a:p>
        </p:txBody>
      </p:sp>
      <p:sp>
        <p:nvSpPr>
          <p:cNvPr id="13" name="Text 4">
            <a:extLst>
              <a:ext uri="{FF2B5EF4-FFF2-40B4-BE49-F238E27FC236}">
                <a16:creationId xmlns:a16="http://schemas.microsoft.com/office/drawing/2014/main" id="{05826C90-96DC-8D50-BA3F-A243BE696D65}"/>
              </a:ext>
            </a:extLst>
          </p:cNvPr>
          <p:cNvSpPr txBox="1"/>
          <p:nvPr/>
        </p:nvSpPr>
        <p:spPr>
          <a:xfrm>
            <a:off x="4467497" y="1024086"/>
            <a:ext cx="6600703" cy="685800"/>
          </a:xfrm>
          <a:prstGeom prst="rect">
            <a:avLst/>
          </a:prstGeom>
          <a:noFill/>
          <a:ln/>
        </p:spPr>
        <p:txBody>
          <a:bodyPr wrap="square" lIns="0" tIns="0" rIns="0" bIns="0" rtlCol="0" anchor="ctr"/>
          <a:lstStyle/>
          <a:p>
            <a:pPr marL="0" indent="0">
              <a:buNone/>
            </a:pPr>
            <a:r>
              <a:rPr lang="en-US" sz="1300" dirty="0">
                <a:latin typeface="Calibri" pitchFamily="34" charset="0"/>
                <a:ea typeface="Calibri" pitchFamily="34" charset="-122"/>
                <a:cs typeface="Calibri" pitchFamily="34" charset="-120"/>
              </a:rPr>
              <a:t>RTX 4050 Laptop GPU (6GB) · CUDA 13.1 driver</a:t>
            </a:r>
            <a:endParaRPr lang="en-US" sz="1300" dirty="0"/>
          </a:p>
        </p:txBody>
      </p:sp>
      <p:sp>
        <p:nvSpPr>
          <p:cNvPr id="17" name="Shape 5">
            <a:extLst>
              <a:ext uri="{FF2B5EF4-FFF2-40B4-BE49-F238E27FC236}">
                <a16:creationId xmlns:a16="http://schemas.microsoft.com/office/drawing/2014/main" id="{7D1D3155-8A27-EAE2-E2B0-FAD07C8B1A0E}"/>
              </a:ext>
            </a:extLst>
          </p:cNvPr>
          <p:cNvSpPr/>
          <p:nvPr/>
        </p:nvSpPr>
        <p:spPr>
          <a:xfrm>
            <a:off x="1724297" y="1911054"/>
            <a:ext cx="82296" cy="685800"/>
          </a:xfrm>
          <a:prstGeom prst="roundRect">
            <a:avLst/>
          </a:prstGeom>
          <a:solidFill>
            <a:schemeClr val="accent3"/>
          </a:solidFill>
          <a:ln/>
        </p:spPr>
        <p:txBody>
          <a:bodyPr/>
          <a:lstStyle/>
          <a:p>
            <a:endParaRPr lang="en-US"/>
          </a:p>
        </p:txBody>
      </p:sp>
      <p:sp>
        <p:nvSpPr>
          <p:cNvPr id="21" name="Text 6">
            <a:extLst>
              <a:ext uri="{FF2B5EF4-FFF2-40B4-BE49-F238E27FC236}">
                <a16:creationId xmlns:a16="http://schemas.microsoft.com/office/drawing/2014/main" id="{A3C5197A-8092-852C-CB4F-6C2EC783E38D}"/>
              </a:ext>
            </a:extLst>
          </p:cNvPr>
          <p:cNvSpPr txBox="1"/>
          <p:nvPr/>
        </p:nvSpPr>
        <p:spPr>
          <a:xfrm>
            <a:off x="1998617" y="1892766"/>
            <a:ext cx="2377440" cy="457200"/>
          </a:xfrm>
          <a:prstGeom prst="rect">
            <a:avLst/>
          </a:prstGeom>
          <a:noFill/>
          <a:ln/>
        </p:spPr>
        <p:txBody>
          <a:bodyPr wrap="square" lIns="0" tIns="0" rIns="0" bIns="0" rtlCol="0" anchor="ctr"/>
          <a:lstStyle/>
          <a:p>
            <a:pPr marL="0" indent="0">
              <a:buNone/>
            </a:pPr>
            <a:r>
              <a:rPr lang="en-US" sz="1400" b="1" dirty="0">
                <a:solidFill>
                  <a:srgbClr val="1A1D26"/>
                </a:solidFill>
                <a:latin typeface="Cambria" pitchFamily="34" charset="0"/>
                <a:ea typeface="Cambria" pitchFamily="34" charset="-122"/>
                <a:cs typeface="Cambria" pitchFamily="34" charset="-120"/>
              </a:rPr>
              <a:t>Framework</a:t>
            </a:r>
            <a:endParaRPr lang="en-US" sz="1400" dirty="0"/>
          </a:p>
        </p:txBody>
      </p:sp>
      <p:sp>
        <p:nvSpPr>
          <p:cNvPr id="24" name="Text 7">
            <a:extLst>
              <a:ext uri="{FF2B5EF4-FFF2-40B4-BE49-F238E27FC236}">
                <a16:creationId xmlns:a16="http://schemas.microsoft.com/office/drawing/2014/main" id="{ABA6A4D4-8542-4914-9DE1-94C8BFC6C88E}"/>
              </a:ext>
            </a:extLst>
          </p:cNvPr>
          <p:cNvSpPr txBox="1"/>
          <p:nvPr/>
        </p:nvSpPr>
        <p:spPr>
          <a:xfrm>
            <a:off x="4467497" y="1892766"/>
            <a:ext cx="6600703" cy="685800"/>
          </a:xfrm>
          <a:prstGeom prst="rect">
            <a:avLst/>
          </a:prstGeom>
          <a:noFill/>
          <a:ln/>
        </p:spPr>
        <p:txBody>
          <a:bodyPr wrap="square" lIns="0" tIns="0" rIns="0" bIns="0" rtlCol="0" anchor="ctr"/>
          <a:lstStyle/>
          <a:p>
            <a:pPr marL="0" indent="0">
              <a:buNone/>
            </a:pPr>
            <a:r>
              <a:rPr lang="en-US" sz="1300" dirty="0">
                <a:latin typeface="Calibri" pitchFamily="34" charset="0"/>
                <a:ea typeface="Calibri" pitchFamily="34" charset="-122"/>
                <a:cs typeface="Calibri" pitchFamily="34" charset="-120"/>
              </a:rPr>
              <a:t>Python 3.13 venv · PyTorch 2.6.0+cu124 · torchvision 0.21.0+cu124</a:t>
            </a:r>
            <a:endParaRPr lang="en-US" sz="1300" dirty="0"/>
          </a:p>
        </p:txBody>
      </p:sp>
      <p:sp>
        <p:nvSpPr>
          <p:cNvPr id="27" name="Shape 8">
            <a:extLst>
              <a:ext uri="{FF2B5EF4-FFF2-40B4-BE49-F238E27FC236}">
                <a16:creationId xmlns:a16="http://schemas.microsoft.com/office/drawing/2014/main" id="{328F4469-317C-A11A-740E-2CA32D3E13A2}"/>
              </a:ext>
            </a:extLst>
          </p:cNvPr>
          <p:cNvSpPr/>
          <p:nvPr/>
        </p:nvSpPr>
        <p:spPr>
          <a:xfrm>
            <a:off x="1724297" y="2779734"/>
            <a:ext cx="82296" cy="685800"/>
          </a:xfrm>
          <a:prstGeom prst="roundRect">
            <a:avLst/>
          </a:prstGeom>
          <a:solidFill>
            <a:schemeClr val="accent3"/>
          </a:solidFill>
          <a:ln/>
        </p:spPr>
        <p:txBody>
          <a:bodyPr/>
          <a:lstStyle/>
          <a:p>
            <a:endParaRPr lang="en-US"/>
          </a:p>
        </p:txBody>
      </p:sp>
      <p:sp>
        <p:nvSpPr>
          <p:cNvPr id="31" name="Text 9">
            <a:extLst>
              <a:ext uri="{FF2B5EF4-FFF2-40B4-BE49-F238E27FC236}">
                <a16:creationId xmlns:a16="http://schemas.microsoft.com/office/drawing/2014/main" id="{7F2C0C63-E86D-F9CE-C2EB-ABB0B628260A}"/>
              </a:ext>
            </a:extLst>
          </p:cNvPr>
          <p:cNvSpPr txBox="1"/>
          <p:nvPr/>
        </p:nvSpPr>
        <p:spPr>
          <a:xfrm>
            <a:off x="1998617" y="2761446"/>
            <a:ext cx="2377440" cy="457200"/>
          </a:xfrm>
          <a:prstGeom prst="rect">
            <a:avLst/>
          </a:prstGeom>
          <a:noFill/>
          <a:ln/>
        </p:spPr>
        <p:txBody>
          <a:bodyPr wrap="square" lIns="0" tIns="0" rIns="0" bIns="0" rtlCol="0" anchor="ctr"/>
          <a:lstStyle/>
          <a:p>
            <a:pPr marL="0" indent="0">
              <a:buNone/>
            </a:pPr>
            <a:r>
              <a:rPr lang="en-US" sz="1400" b="1" dirty="0">
                <a:solidFill>
                  <a:srgbClr val="1A1D26"/>
                </a:solidFill>
                <a:latin typeface="Cambria" pitchFamily="34" charset="0"/>
                <a:ea typeface="Cambria" pitchFamily="34" charset="-122"/>
                <a:cs typeface="Cambria" pitchFamily="34" charset="-120"/>
              </a:rPr>
              <a:t>Source</a:t>
            </a:r>
            <a:endParaRPr lang="en-US" sz="1400" dirty="0"/>
          </a:p>
        </p:txBody>
      </p:sp>
      <p:sp>
        <p:nvSpPr>
          <p:cNvPr id="35" name="Text 10">
            <a:extLst>
              <a:ext uri="{FF2B5EF4-FFF2-40B4-BE49-F238E27FC236}">
                <a16:creationId xmlns:a16="http://schemas.microsoft.com/office/drawing/2014/main" id="{19BEDCA6-15D6-B4CB-4305-BACBC742FA8E}"/>
              </a:ext>
            </a:extLst>
          </p:cNvPr>
          <p:cNvSpPr txBox="1"/>
          <p:nvPr/>
        </p:nvSpPr>
        <p:spPr>
          <a:xfrm>
            <a:off x="4467497" y="2761446"/>
            <a:ext cx="6600703" cy="685800"/>
          </a:xfrm>
          <a:prstGeom prst="rect">
            <a:avLst/>
          </a:prstGeom>
          <a:noFill/>
          <a:ln/>
        </p:spPr>
        <p:txBody>
          <a:bodyPr wrap="square" lIns="0" tIns="0" rIns="0" bIns="0" rtlCol="0" anchor="ctr"/>
          <a:lstStyle/>
          <a:p>
            <a:pPr marL="0" indent="0">
              <a:buNone/>
            </a:pPr>
            <a:r>
              <a:rPr lang="en-US" sz="1300" dirty="0">
                <a:latin typeface="Calibri" pitchFamily="34" charset="0"/>
                <a:ea typeface="Calibri" pitchFamily="34" charset="-122"/>
                <a:cs typeface="Calibri" pitchFamily="34" charset="-120"/>
              </a:rPr>
              <a:t>Official repo: github.com/hellozhuo/pidinet — checkpoints already included in-repo</a:t>
            </a:r>
            <a:endParaRPr lang="en-US" sz="1300" dirty="0"/>
          </a:p>
        </p:txBody>
      </p:sp>
      <p:sp>
        <p:nvSpPr>
          <p:cNvPr id="39" name="Shape 11">
            <a:extLst>
              <a:ext uri="{FF2B5EF4-FFF2-40B4-BE49-F238E27FC236}">
                <a16:creationId xmlns:a16="http://schemas.microsoft.com/office/drawing/2014/main" id="{9D2EFECC-B33B-B7D8-2887-AA96D118ED92}"/>
              </a:ext>
            </a:extLst>
          </p:cNvPr>
          <p:cNvSpPr/>
          <p:nvPr/>
        </p:nvSpPr>
        <p:spPr>
          <a:xfrm>
            <a:off x="1724297" y="3648414"/>
            <a:ext cx="82296" cy="1243314"/>
          </a:xfrm>
          <a:prstGeom prst="roundRect">
            <a:avLst/>
          </a:prstGeom>
          <a:solidFill>
            <a:schemeClr val="accent3"/>
          </a:solidFill>
          <a:ln/>
        </p:spPr>
        <p:txBody>
          <a:bodyPr/>
          <a:lstStyle/>
          <a:p>
            <a:endParaRPr lang="en-US"/>
          </a:p>
        </p:txBody>
      </p:sp>
      <p:sp>
        <p:nvSpPr>
          <p:cNvPr id="42" name="Text 12">
            <a:extLst>
              <a:ext uri="{FF2B5EF4-FFF2-40B4-BE49-F238E27FC236}">
                <a16:creationId xmlns:a16="http://schemas.microsoft.com/office/drawing/2014/main" id="{7A13411F-784C-B563-39F6-C91E32683FF4}"/>
              </a:ext>
            </a:extLst>
          </p:cNvPr>
          <p:cNvSpPr txBox="1"/>
          <p:nvPr/>
        </p:nvSpPr>
        <p:spPr>
          <a:xfrm>
            <a:off x="1998617" y="3630126"/>
            <a:ext cx="2377440" cy="457200"/>
          </a:xfrm>
          <a:prstGeom prst="rect">
            <a:avLst/>
          </a:prstGeom>
          <a:noFill/>
          <a:ln/>
        </p:spPr>
        <p:txBody>
          <a:bodyPr wrap="square" lIns="0" tIns="0" rIns="0" bIns="0" rtlCol="0" anchor="ctr"/>
          <a:lstStyle/>
          <a:p>
            <a:pPr marL="0" indent="0">
              <a:buNone/>
            </a:pPr>
            <a:r>
              <a:rPr lang="en-US" sz="1400" b="1" dirty="0">
                <a:solidFill>
                  <a:srgbClr val="1A1D26"/>
                </a:solidFill>
                <a:latin typeface="Cambria" pitchFamily="34" charset="0"/>
                <a:ea typeface="Cambria" pitchFamily="34" charset="-122"/>
                <a:cs typeface="Cambria" pitchFamily="34" charset="-120"/>
              </a:rPr>
              <a:t>First hurdle</a:t>
            </a:r>
            <a:endParaRPr lang="en-US" sz="1400" dirty="0"/>
          </a:p>
        </p:txBody>
      </p:sp>
      <p:sp>
        <p:nvSpPr>
          <p:cNvPr id="44" name="Text 13">
            <a:extLst>
              <a:ext uri="{FF2B5EF4-FFF2-40B4-BE49-F238E27FC236}">
                <a16:creationId xmlns:a16="http://schemas.microsoft.com/office/drawing/2014/main" id="{E2CBB3CC-E3F5-4C1A-38FC-DC1F26C96276}"/>
              </a:ext>
            </a:extLst>
          </p:cNvPr>
          <p:cNvSpPr txBox="1"/>
          <p:nvPr/>
        </p:nvSpPr>
        <p:spPr>
          <a:xfrm>
            <a:off x="4467496" y="3670736"/>
            <a:ext cx="7193624" cy="1267800"/>
          </a:xfrm>
          <a:prstGeom prst="rect">
            <a:avLst/>
          </a:prstGeom>
          <a:noFill/>
          <a:ln/>
        </p:spPr>
        <p:txBody>
          <a:bodyPr wrap="square" lIns="0" tIns="0" rIns="0" bIns="0" rtlCol="0" anchor="ctr"/>
          <a:lstStyle/>
          <a:p>
            <a:pPr marL="0" indent="0">
              <a:buNone/>
            </a:pPr>
            <a:r>
              <a:rPr lang="en-US" sz="1300" dirty="0">
                <a:latin typeface="Calibri" pitchFamily="34" charset="0"/>
                <a:ea typeface="Calibri" pitchFamily="34" charset="-122"/>
                <a:cs typeface="Calibri" pitchFamily="34" charset="-120"/>
              </a:rPr>
              <a:t>Paper's exact training-data mirrors (mftp.mmcheng.net) was dead,</a:t>
            </a:r>
          </a:p>
          <a:p>
            <a:pPr marL="285750" indent="-285750">
              <a:buFont typeface="Arial" panose="020B0604020202020204" pitchFamily="34" charset="0"/>
              <a:buChar char="•"/>
            </a:pPr>
            <a:r>
              <a:rPr lang="en-US" sz="1300" dirty="0"/>
              <a:t>Raw BSDS500 (Berkeley Segmentation Dataset 500) — the original academic dataset from UC Berkeley's Computer Vision Group</a:t>
            </a:r>
          </a:p>
          <a:p>
            <a:pPr marL="285750" indent="-285750">
              <a:buFont typeface="Arial" panose="020B0604020202020204" pitchFamily="34" charset="0"/>
              <a:buChar char="•"/>
            </a:pPr>
            <a:r>
              <a:rPr lang="en-US" sz="1300" dirty="0"/>
              <a:t>Augmented HED-BSDS.tar (28,800 training pairs) —The RCF repo's own mirror (mmcheng.net) is dead, so we got it from a UC San Diego mirror instead: </a:t>
            </a:r>
            <a:r>
              <a:rPr lang="en-US" sz="1300" dirty="0">
                <a:hlinkClick r:id="rId5" action="ppaction://hlinkfile"/>
              </a:rPr>
              <a:t>vcl.ucsd.edu/</a:t>
            </a:r>
            <a:r>
              <a:rPr lang="en-US" sz="1300" dirty="0" err="1">
                <a:hlinkClick r:id="rId5" action="ppaction://hlinkfile"/>
              </a:rPr>
              <a:t>hed</a:t>
            </a:r>
            <a:r>
              <a:rPr lang="en-US" sz="1300" dirty="0">
                <a:hlinkClick r:id="rId5" action="ppaction://hlinkfile"/>
              </a:rPr>
              <a:t>/HED-BSDS.tar</a:t>
            </a:r>
            <a:endParaRPr lang="en-US" sz="1300" dirty="0"/>
          </a:p>
        </p:txBody>
      </p:sp>
      <p:sp>
        <p:nvSpPr>
          <p:cNvPr id="46" name="Shape 14">
            <a:extLst>
              <a:ext uri="{FF2B5EF4-FFF2-40B4-BE49-F238E27FC236}">
                <a16:creationId xmlns:a16="http://schemas.microsoft.com/office/drawing/2014/main" id="{000424DE-318B-38CF-57E6-96BD50383AAB}"/>
              </a:ext>
            </a:extLst>
          </p:cNvPr>
          <p:cNvSpPr/>
          <p:nvPr/>
        </p:nvSpPr>
        <p:spPr>
          <a:xfrm>
            <a:off x="1724297" y="5079069"/>
            <a:ext cx="82296" cy="685800"/>
          </a:xfrm>
          <a:prstGeom prst="roundRect">
            <a:avLst/>
          </a:prstGeom>
          <a:solidFill>
            <a:schemeClr val="accent3"/>
          </a:solidFill>
          <a:ln/>
        </p:spPr>
        <p:txBody>
          <a:bodyPr/>
          <a:lstStyle/>
          <a:p>
            <a:endParaRPr lang="en-US"/>
          </a:p>
        </p:txBody>
      </p:sp>
      <p:sp>
        <p:nvSpPr>
          <p:cNvPr id="48" name="Text 15">
            <a:extLst>
              <a:ext uri="{FF2B5EF4-FFF2-40B4-BE49-F238E27FC236}">
                <a16:creationId xmlns:a16="http://schemas.microsoft.com/office/drawing/2014/main" id="{3C5FF66C-D3F8-9042-9357-D0A6277A9E3C}"/>
              </a:ext>
            </a:extLst>
          </p:cNvPr>
          <p:cNvSpPr txBox="1"/>
          <p:nvPr/>
        </p:nvSpPr>
        <p:spPr>
          <a:xfrm>
            <a:off x="1998617" y="5060781"/>
            <a:ext cx="2377440" cy="457200"/>
          </a:xfrm>
          <a:prstGeom prst="rect">
            <a:avLst/>
          </a:prstGeom>
          <a:noFill/>
          <a:ln/>
        </p:spPr>
        <p:txBody>
          <a:bodyPr wrap="square" lIns="0" tIns="0" rIns="0" bIns="0" rtlCol="0" anchor="ctr"/>
          <a:lstStyle/>
          <a:p>
            <a:pPr marL="0" indent="0">
              <a:buNone/>
            </a:pPr>
            <a:r>
              <a:rPr lang="en-US" sz="1400" b="1" dirty="0">
                <a:solidFill>
                  <a:srgbClr val="1A1D26"/>
                </a:solidFill>
                <a:latin typeface="Cambria" pitchFamily="34" charset="0"/>
                <a:ea typeface="Cambria" pitchFamily="34" charset="-122"/>
                <a:cs typeface="Cambria" pitchFamily="34" charset="-120"/>
              </a:rPr>
              <a:t>Workaround</a:t>
            </a:r>
            <a:endParaRPr lang="en-US" sz="1400" dirty="0"/>
          </a:p>
        </p:txBody>
      </p:sp>
      <p:sp>
        <p:nvSpPr>
          <p:cNvPr id="50" name="Text 16">
            <a:extLst>
              <a:ext uri="{FF2B5EF4-FFF2-40B4-BE49-F238E27FC236}">
                <a16:creationId xmlns:a16="http://schemas.microsoft.com/office/drawing/2014/main" id="{ED9B6067-D78C-94D9-A657-59F8EB797B2A}"/>
              </a:ext>
            </a:extLst>
          </p:cNvPr>
          <p:cNvSpPr txBox="1"/>
          <p:nvPr/>
        </p:nvSpPr>
        <p:spPr>
          <a:xfrm>
            <a:off x="4467497" y="5060781"/>
            <a:ext cx="6600703" cy="685800"/>
          </a:xfrm>
          <a:prstGeom prst="rect">
            <a:avLst/>
          </a:prstGeom>
          <a:noFill/>
          <a:ln/>
        </p:spPr>
        <p:txBody>
          <a:bodyPr wrap="square" lIns="0" tIns="0" rIns="0" bIns="0" rtlCol="0" anchor="ctr"/>
          <a:lstStyle/>
          <a:p>
            <a:pPr marL="0" indent="0">
              <a:buNone/>
            </a:pPr>
            <a:r>
              <a:rPr lang="en-US" sz="1300" dirty="0">
                <a:latin typeface="Calibri" pitchFamily="34" charset="0"/>
                <a:ea typeface="Calibri" pitchFamily="34" charset="-122"/>
                <a:cs typeface="Calibri" pitchFamily="34" charset="-120"/>
              </a:rPr>
              <a:t>Used the still-live official raw BSDS500 from Berkeley + our own conversion script</a:t>
            </a:r>
            <a:endParaRPr lang="en-US" sz="1300" dirty="0"/>
          </a:p>
        </p:txBody>
      </p:sp>
    </p:spTree>
    <p:extLst>
      <p:ext uri="{BB962C8B-B14F-4D97-AF65-F5344CB8AC3E}">
        <p14:creationId xmlns:p14="http://schemas.microsoft.com/office/powerpoint/2010/main" val="920854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9D3BE-088D-7CCC-616A-C3E66FC9ED7E}"/>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92594692-2676-DED5-30FC-8023CA8D5357}"/>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C3DAF445-543B-D840-405D-92B89AEE6F21}"/>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8E8DBBD7-00E3-1396-CF7F-9DB7975E5699}"/>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77F2E16A-8EB6-A579-FCD6-49C2C39151C4}"/>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10</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0C5896A9-90E2-ED0A-9299-45FF448683D4}"/>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7555D3F5-802E-5456-6626-E541BC9DA1F8}"/>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E73F0B7D-1657-1171-C76C-D42842FABFBB}"/>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26A525F5-DF82-5462-EF2C-C8D18C4B5586}"/>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What the model is trained on</a:t>
            </a:r>
            <a:endParaRPr lang="en-US" sz="3200" b="1" spc="-1" dirty="0">
              <a:solidFill>
                <a:schemeClr val="dk1"/>
              </a:solidFill>
              <a:latin typeface="Aptos Display"/>
            </a:endParaRPr>
          </a:p>
        </p:txBody>
      </p:sp>
      <p:sp>
        <p:nvSpPr>
          <p:cNvPr id="3" name="Shape 2">
            <a:extLst>
              <a:ext uri="{FF2B5EF4-FFF2-40B4-BE49-F238E27FC236}">
                <a16:creationId xmlns:a16="http://schemas.microsoft.com/office/drawing/2014/main" id="{8BE29218-45D3-82A4-BAEB-2CC39ABE357E}"/>
              </a:ext>
            </a:extLst>
          </p:cNvPr>
          <p:cNvSpPr/>
          <p:nvPr/>
        </p:nvSpPr>
        <p:spPr>
          <a:xfrm>
            <a:off x="551160" y="1370305"/>
            <a:ext cx="5120640" cy="1417320"/>
          </a:xfrm>
          <a:prstGeom prst="roundRect">
            <a:avLst>
              <a:gd name="adj" fmla="val 5161"/>
            </a:avLst>
          </a:prstGeom>
          <a:solidFill>
            <a:srgbClr val="F4F5F7"/>
          </a:solidFill>
          <a:ln/>
        </p:spPr>
        <p:txBody>
          <a:bodyPr/>
          <a:lstStyle/>
          <a:p>
            <a:endParaRPr lang="en-US"/>
          </a:p>
        </p:txBody>
      </p:sp>
      <p:sp>
        <p:nvSpPr>
          <p:cNvPr id="6" name="Shape 3">
            <a:extLst>
              <a:ext uri="{FF2B5EF4-FFF2-40B4-BE49-F238E27FC236}">
                <a16:creationId xmlns:a16="http://schemas.microsoft.com/office/drawing/2014/main" id="{BDBAA42F-0125-0297-2B55-8AA54F577C78}"/>
              </a:ext>
            </a:extLst>
          </p:cNvPr>
          <p:cNvSpPr/>
          <p:nvPr/>
        </p:nvSpPr>
        <p:spPr>
          <a:xfrm>
            <a:off x="734040" y="1534897"/>
            <a:ext cx="457200" cy="457200"/>
          </a:xfrm>
          <a:prstGeom prst="ellipse">
            <a:avLst/>
          </a:prstGeom>
          <a:solidFill>
            <a:srgbClr val="35D0C6"/>
          </a:solidFill>
          <a:ln/>
        </p:spPr>
        <p:txBody>
          <a:bodyPr/>
          <a:lstStyle/>
          <a:p>
            <a:endParaRPr lang="en-US"/>
          </a:p>
        </p:txBody>
      </p:sp>
      <p:sp>
        <p:nvSpPr>
          <p:cNvPr id="9" name="Text 4">
            <a:extLst>
              <a:ext uri="{FF2B5EF4-FFF2-40B4-BE49-F238E27FC236}">
                <a16:creationId xmlns:a16="http://schemas.microsoft.com/office/drawing/2014/main" id="{A6B2111E-43D8-A805-33C3-D76E1A7F83AC}"/>
              </a:ext>
            </a:extLst>
          </p:cNvPr>
          <p:cNvSpPr txBox="1"/>
          <p:nvPr/>
        </p:nvSpPr>
        <p:spPr>
          <a:xfrm>
            <a:off x="734040" y="1534897"/>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1</a:t>
            </a:r>
            <a:endParaRPr lang="en-US" sz="1400" dirty="0"/>
          </a:p>
        </p:txBody>
      </p:sp>
      <p:sp>
        <p:nvSpPr>
          <p:cNvPr id="12" name="Text 5">
            <a:extLst>
              <a:ext uri="{FF2B5EF4-FFF2-40B4-BE49-F238E27FC236}">
                <a16:creationId xmlns:a16="http://schemas.microsoft.com/office/drawing/2014/main" id="{BBFBBD83-2B55-5397-0C03-0AA49FCC6312}"/>
              </a:ext>
            </a:extLst>
          </p:cNvPr>
          <p:cNvSpPr txBox="1"/>
          <p:nvPr/>
        </p:nvSpPr>
        <p:spPr>
          <a:xfrm>
            <a:off x="1328400" y="1498321"/>
            <a:ext cx="41605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300 images x 96 variants = 28,800 pairs</a:t>
            </a:r>
            <a:endParaRPr lang="en-US" sz="1250" dirty="0"/>
          </a:p>
        </p:txBody>
      </p:sp>
      <p:sp>
        <p:nvSpPr>
          <p:cNvPr id="15" name="Text 6">
            <a:extLst>
              <a:ext uri="{FF2B5EF4-FFF2-40B4-BE49-F238E27FC236}">
                <a16:creationId xmlns:a16="http://schemas.microsoft.com/office/drawing/2014/main" id="{0D38976E-0F40-EC13-ADED-B2BEA73AB34B}"/>
              </a:ext>
            </a:extLst>
          </p:cNvPr>
          <p:cNvSpPr txBox="1"/>
          <p:nvPr/>
        </p:nvSpPr>
        <p:spPr>
          <a:xfrm>
            <a:off x="1328400" y="1827505"/>
            <a:ext cx="4160520" cy="868680"/>
          </a:xfrm>
          <a:prstGeom prst="rect">
            <a:avLst/>
          </a:prstGeom>
          <a:noFill/>
          <a:ln/>
        </p:spPr>
        <p:txBody>
          <a:bodyPr wrap="square" lIns="0" tIns="0" rIns="0" bIns="0" rtlCol="0" anchor="t"/>
          <a:lstStyle/>
          <a:p>
            <a:pPr marL="0" indent="0">
              <a:lnSpc>
                <a:spcPct val="115000"/>
              </a:lnSpc>
              <a:buNone/>
            </a:pPr>
            <a:r>
              <a:rPr lang="en-US" sz="1100" dirty="0">
                <a:solidFill>
                  <a:srgbClr val="1A1D26"/>
                </a:solidFill>
                <a:latin typeface="Calibri" pitchFamily="34" charset="0"/>
                <a:ea typeface="Calibri" pitchFamily="34" charset="-122"/>
                <a:cs typeface="Calibri" pitchFamily="34" charset="-120"/>
              </a:rPr>
              <a:t>BSDS500 train (200) + val (100) images, each pre-augmented: 16 rotation angles x 2 flip states x 3 scales (0.5, 1.0, 1.5). The 200 test images are never used for training.</a:t>
            </a:r>
            <a:endParaRPr lang="en-US" sz="1100" dirty="0"/>
          </a:p>
        </p:txBody>
      </p:sp>
      <p:sp>
        <p:nvSpPr>
          <p:cNvPr id="18" name="Shape 7">
            <a:extLst>
              <a:ext uri="{FF2B5EF4-FFF2-40B4-BE49-F238E27FC236}">
                <a16:creationId xmlns:a16="http://schemas.microsoft.com/office/drawing/2014/main" id="{1C1A4B3F-9390-8CC2-CFF2-C4E7AC1FC8F2}"/>
              </a:ext>
            </a:extLst>
          </p:cNvPr>
          <p:cNvSpPr/>
          <p:nvPr/>
        </p:nvSpPr>
        <p:spPr>
          <a:xfrm>
            <a:off x="551160" y="2924785"/>
            <a:ext cx="5120640" cy="1325880"/>
          </a:xfrm>
          <a:prstGeom prst="roundRect">
            <a:avLst>
              <a:gd name="adj" fmla="val 5517"/>
            </a:avLst>
          </a:prstGeom>
          <a:solidFill>
            <a:srgbClr val="F4F5F7"/>
          </a:solidFill>
          <a:ln/>
        </p:spPr>
        <p:txBody>
          <a:bodyPr/>
          <a:lstStyle/>
          <a:p>
            <a:endParaRPr lang="en-US"/>
          </a:p>
        </p:txBody>
      </p:sp>
      <p:sp>
        <p:nvSpPr>
          <p:cNvPr id="20" name="Shape 8">
            <a:extLst>
              <a:ext uri="{FF2B5EF4-FFF2-40B4-BE49-F238E27FC236}">
                <a16:creationId xmlns:a16="http://schemas.microsoft.com/office/drawing/2014/main" id="{8872DBF9-93C9-E01C-C19E-D3F480196180}"/>
              </a:ext>
            </a:extLst>
          </p:cNvPr>
          <p:cNvSpPr/>
          <p:nvPr/>
        </p:nvSpPr>
        <p:spPr>
          <a:xfrm>
            <a:off x="734040" y="3089377"/>
            <a:ext cx="457200" cy="457200"/>
          </a:xfrm>
          <a:prstGeom prst="ellipse">
            <a:avLst/>
          </a:prstGeom>
          <a:solidFill>
            <a:srgbClr val="35D0C6"/>
          </a:solidFill>
          <a:ln/>
        </p:spPr>
        <p:txBody>
          <a:bodyPr/>
          <a:lstStyle/>
          <a:p>
            <a:endParaRPr lang="en-US"/>
          </a:p>
        </p:txBody>
      </p:sp>
      <p:sp>
        <p:nvSpPr>
          <p:cNvPr id="23" name="Text 9">
            <a:extLst>
              <a:ext uri="{FF2B5EF4-FFF2-40B4-BE49-F238E27FC236}">
                <a16:creationId xmlns:a16="http://schemas.microsoft.com/office/drawing/2014/main" id="{9A083325-5738-ED01-9D39-D6C6D7560FB9}"/>
              </a:ext>
            </a:extLst>
          </p:cNvPr>
          <p:cNvSpPr txBox="1"/>
          <p:nvPr/>
        </p:nvSpPr>
        <p:spPr>
          <a:xfrm>
            <a:off x="734040" y="3089377"/>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2</a:t>
            </a:r>
            <a:endParaRPr lang="en-US" sz="1400" dirty="0"/>
          </a:p>
        </p:txBody>
      </p:sp>
      <p:sp>
        <p:nvSpPr>
          <p:cNvPr id="26" name="Text 10">
            <a:extLst>
              <a:ext uri="{FF2B5EF4-FFF2-40B4-BE49-F238E27FC236}">
                <a16:creationId xmlns:a16="http://schemas.microsoft.com/office/drawing/2014/main" id="{58415D24-B9B8-4532-31B2-447C5D500E40}"/>
              </a:ext>
            </a:extLst>
          </p:cNvPr>
          <p:cNvSpPr txBox="1"/>
          <p:nvPr/>
        </p:nvSpPr>
        <p:spPr>
          <a:xfrm>
            <a:off x="1328400" y="3052801"/>
            <a:ext cx="41605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Augmentation is already on disk</a:t>
            </a:r>
            <a:endParaRPr lang="en-US" sz="1250" dirty="0"/>
          </a:p>
        </p:txBody>
      </p:sp>
      <p:sp>
        <p:nvSpPr>
          <p:cNvPr id="29" name="Text 11">
            <a:extLst>
              <a:ext uri="{FF2B5EF4-FFF2-40B4-BE49-F238E27FC236}">
                <a16:creationId xmlns:a16="http://schemas.microsoft.com/office/drawing/2014/main" id="{CCA3A08C-28BE-392C-5926-3B73BD97666D}"/>
              </a:ext>
            </a:extLst>
          </p:cNvPr>
          <p:cNvSpPr txBox="1"/>
          <p:nvPr/>
        </p:nvSpPr>
        <p:spPr>
          <a:xfrm>
            <a:off x="1328400" y="3381985"/>
            <a:ext cx="4160520" cy="777240"/>
          </a:xfrm>
          <a:prstGeom prst="rect">
            <a:avLst/>
          </a:prstGeom>
          <a:noFill/>
          <a:ln/>
        </p:spPr>
        <p:txBody>
          <a:bodyPr wrap="square" lIns="0" tIns="0" rIns="0" bIns="0" rtlCol="0" anchor="t"/>
          <a:lstStyle/>
          <a:p>
            <a:pPr marL="0" indent="0">
              <a:lnSpc>
                <a:spcPct val="115000"/>
              </a:lnSpc>
              <a:buNone/>
            </a:pPr>
            <a:r>
              <a:rPr lang="en-US" sz="1100" dirty="0">
                <a:solidFill>
                  <a:srgbClr val="1A1D26"/>
                </a:solidFill>
                <a:latin typeface="Calibri" pitchFamily="34" charset="0"/>
                <a:ea typeface="Calibri" pitchFamily="34" charset="-122"/>
                <a:cs typeface="Calibri" pitchFamily="34" charset="-120"/>
              </a:rPr>
              <a:t>Folders such as train/aug_data/22.5_1_0 hold one variant of all 300 images, so the loader itself does no augmentation, only tensor conversion and normalisation.</a:t>
            </a:r>
            <a:endParaRPr lang="en-US" sz="1100" dirty="0"/>
          </a:p>
        </p:txBody>
      </p:sp>
      <p:sp>
        <p:nvSpPr>
          <p:cNvPr id="32" name="Shape 12">
            <a:extLst>
              <a:ext uri="{FF2B5EF4-FFF2-40B4-BE49-F238E27FC236}">
                <a16:creationId xmlns:a16="http://schemas.microsoft.com/office/drawing/2014/main" id="{F2230512-738E-5CEB-2728-DDB3C11B2D85}"/>
              </a:ext>
            </a:extLst>
          </p:cNvPr>
          <p:cNvSpPr/>
          <p:nvPr/>
        </p:nvSpPr>
        <p:spPr>
          <a:xfrm>
            <a:off x="551160" y="4387825"/>
            <a:ext cx="5120640" cy="1554480"/>
          </a:xfrm>
          <a:prstGeom prst="roundRect">
            <a:avLst>
              <a:gd name="adj" fmla="val 4706"/>
            </a:avLst>
          </a:prstGeom>
          <a:solidFill>
            <a:srgbClr val="F4F5F7"/>
          </a:solidFill>
          <a:ln/>
        </p:spPr>
        <p:txBody>
          <a:bodyPr/>
          <a:lstStyle/>
          <a:p>
            <a:endParaRPr lang="en-US"/>
          </a:p>
        </p:txBody>
      </p:sp>
      <p:sp>
        <p:nvSpPr>
          <p:cNvPr id="34" name="Shape 13">
            <a:extLst>
              <a:ext uri="{FF2B5EF4-FFF2-40B4-BE49-F238E27FC236}">
                <a16:creationId xmlns:a16="http://schemas.microsoft.com/office/drawing/2014/main" id="{896D5B4F-73CA-063C-4EC2-52EAD707D095}"/>
              </a:ext>
            </a:extLst>
          </p:cNvPr>
          <p:cNvSpPr/>
          <p:nvPr/>
        </p:nvSpPr>
        <p:spPr>
          <a:xfrm>
            <a:off x="734040" y="4552417"/>
            <a:ext cx="457200" cy="457200"/>
          </a:xfrm>
          <a:prstGeom prst="ellipse">
            <a:avLst/>
          </a:prstGeom>
          <a:solidFill>
            <a:srgbClr val="35D0C6"/>
          </a:solidFill>
          <a:ln/>
        </p:spPr>
        <p:txBody>
          <a:bodyPr/>
          <a:lstStyle/>
          <a:p>
            <a:endParaRPr lang="en-US"/>
          </a:p>
        </p:txBody>
      </p:sp>
      <p:sp>
        <p:nvSpPr>
          <p:cNvPr id="37" name="Text 14">
            <a:extLst>
              <a:ext uri="{FF2B5EF4-FFF2-40B4-BE49-F238E27FC236}">
                <a16:creationId xmlns:a16="http://schemas.microsoft.com/office/drawing/2014/main" id="{D1CEF864-E3D5-A6C8-2395-2709A5A7D4FB}"/>
              </a:ext>
            </a:extLst>
          </p:cNvPr>
          <p:cNvSpPr txBox="1"/>
          <p:nvPr/>
        </p:nvSpPr>
        <p:spPr>
          <a:xfrm>
            <a:off x="734040" y="4552417"/>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3</a:t>
            </a:r>
            <a:endParaRPr lang="en-US" sz="1400" dirty="0"/>
          </a:p>
        </p:txBody>
      </p:sp>
      <p:sp>
        <p:nvSpPr>
          <p:cNvPr id="40" name="Text 15">
            <a:extLst>
              <a:ext uri="{FF2B5EF4-FFF2-40B4-BE49-F238E27FC236}">
                <a16:creationId xmlns:a16="http://schemas.microsoft.com/office/drawing/2014/main" id="{179D0D37-9F9E-66FA-1760-0A69FAEAEAFF}"/>
              </a:ext>
            </a:extLst>
          </p:cNvPr>
          <p:cNvSpPr txBox="1"/>
          <p:nvPr/>
        </p:nvSpPr>
        <p:spPr>
          <a:xfrm>
            <a:off x="1328400" y="4515841"/>
            <a:ext cx="41605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One line of train_pair.lst</a:t>
            </a:r>
            <a:endParaRPr lang="en-US" sz="1250" dirty="0"/>
          </a:p>
        </p:txBody>
      </p:sp>
      <p:sp>
        <p:nvSpPr>
          <p:cNvPr id="43" name="Text 16">
            <a:extLst>
              <a:ext uri="{FF2B5EF4-FFF2-40B4-BE49-F238E27FC236}">
                <a16:creationId xmlns:a16="http://schemas.microsoft.com/office/drawing/2014/main" id="{F154A4B3-C174-56F6-B039-282DA4A93936}"/>
              </a:ext>
            </a:extLst>
          </p:cNvPr>
          <p:cNvSpPr txBox="1"/>
          <p:nvPr/>
        </p:nvSpPr>
        <p:spPr>
          <a:xfrm>
            <a:off x="1328400" y="4845025"/>
            <a:ext cx="4160520" cy="100584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train/aug_data/0.0_1_0/100075.jpg</a:t>
            </a:r>
            <a:endParaRPr lang="en-US" sz="1050" dirty="0"/>
          </a:p>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train/aug_gt/0.0_1_0/100075.png</a:t>
            </a:r>
            <a:endParaRPr lang="en-US" sz="1050" dirty="0"/>
          </a:p>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(image, then its edge map). batch_size=1, shuffle=True: images differ in size, so we accumulate gradients instead (next slide).</a:t>
            </a:r>
            <a:endParaRPr lang="en-US" sz="1050" dirty="0"/>
          </a:p>
        </p:txBody>
      </p:sp>
      <p:sp>
        <p:nvSpPr>
          <p:cNvPr id="47" name="Shape 17">
            <a:extLst>
              <a:ext uri="{FF2B5EF4-FFF2-40B4-BE49-F238E27FC236}">
                <a16:creationId xmlns:a16="http://schemas.microsoft.com/office/drawing/2014/main" id="{422CC46B-DCDE-202F-B530-3B173D30DD61}"/>
              </a:ext>
            </a:extLst>
          </p:cNvPr>
          <p:cNvSpPr/>
          <p:nvPr/>
        </p:nvSpPr>
        <p:spPr>
          <a:xfrm>
            <a:off x="5900400" y="1370305"/>
            <a:ext cx="5760720" cy="4572000"/>
          </a:xfrm>
          <a:prstGeom prst="roundRect">
            <a:avLst>
              <a:gd name="adj" fmla="val 1600"/>
            </a:avLst>
          </a:prstGeom>
          <a:solidFill>
            <a:srgbClr val="14161F"/>
          </a:solidFill>
          <a:ln/>
        </p:spPr>
        <p:txBody>
          <a:bodyPr/>
          <a:lstStyle/>
          <a:p>
            <a:endParaRPr lang="en-US"/>
          </a:p>
        </p:txBody>
      </p:sp>
      <p:sp>
        <p:nvSpPr>
          <p:cNvPr id="51" name="Text 18">
            <a:extLst>
              <a:ext uri="{FF2B5EF4-FFF2-40B4-BE49-F238E27FC236}">
                <a16:creationId xmlns:a16="http://schemas.microsoft.com/office/drawing/2014/main" id="{87B37CD7-9E1C-D494-6A3A-DBC9DA0D88B3}"/>
              </a:ext>
            </a:extLst>
          </p:cNvPr>
          <p:cNvSpPr txBox="1"/>
          <p:nvPr/>
        </p:nvSpPr>
        <p:spPr>
          <a:xfrm>
            <a:off x="6129000" y="1489177"/>
            <a:ext cx="530352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edge_dataloader.py: BSDS_Loader (condensed)</a:t>
            </a:r>
            <a:endParaRPr lang="en-US" sz="1250" dirty="0"/>
          </a:p>
        </p:txBody>
      </p:sp>
      <p:sp>
        <p:nvSpPr>
          <p:cNvPr id="53" name="Text 19">
            <a:extLst>
              <a:ext uri="{FF2B5EF4-FFF2-40B4-BE49-F238E27FC236}">
                <a16:creationId xmlns:a16="http://schemas.microsoft.com/office/drawing/2014/main" id="{4EA26629-5F8E-F4BA-102A-E9357D8D2631}"/>
              </a:ext>
            </a:extLst>
          </p:cNvPr>
          <p:cNvSpPr txBox="1"/>
          <p:nvPr/>
        </p:nvSpPr>
        <p:spPr>
          <a:xfrm>
            <a:off x="6129000" y="1873225"/>
            <a:ext cx="5303520" cy="3931920"/>
          </a:xfrm>
          <a:prstGeom prst="rect">
            <a:avLst/>
          </a:prstGeom>
          <a:noFill/>
          <a:ln/>
        </p:spPr>
        <p:txBody>
          <a:bodyPr wrap="square" lIns="0" tIns="0" rIns="0" bIns="0" rtlCol="0" anchor="t"/>
          <a:lstStyle/>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lb = np.array(Image.open(gt_png), dtype=np.float32)</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 soft edge map 0..255</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lb[lb == 0] = 0           # background</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lb[(lb &gt; 0) &amp; (lb &lt; thr)] = 2   # ambiguous: ignored</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lb[lb &gt;= thr] = 1         # edge</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thr = 0.3 * 256 = 76.8    (--eta 0.3)</a:t>
            </a:r>
            <a:endParaRPr lang="en-US" sz="1000" dirty="0"/>
          </a:p>
          <a:p>
            <a:pPr marL="0" indent="0">
              <a:lnSpc>
                <a:spcPct val="108000"/>
              </a:lnSpc>
              <a:buNone/>
            </a:pP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img = ToTensor()(img)                 # 0..1</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img = Normalize(mean=[0.485, 0.456, 0.406],</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std=[0.229, 0.224, 0.225])(img)</a:t>
            </a:r>
            <a:endParaRPr lang="en-US" sz="1000" dirty="0"/>
          </a:p>
          <a:p>
            <a:pPr marL="0" indent="0">
              <a:lnSpc>
                <a:spcPct val="108000"/>
              </a:lnSpc>
              <a:buNone/>
            </a:pP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label values the loss will see:</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0 = background, 1 = edge, 2 = ignore</a:t>
            </a:r>
            <a:endParaRPr lang="en-US" sz="1000" dirty="0"/>
          </a:p>
        </p:txBody>
      </p:sp>
    </p:spTree>
    <p:extLst>
      <p:ext uri="{BB962C8B-B14F-4D97-AF65-F5344CB8AC3E}">
        <p14:creationId xmlns:p14="http://schemas.microsoft.com/office/powerpoint/2010/main" val="586684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838BA-81D5-7F35-074B-A933CE243523}"/>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79101B38-F737-45FF-8E8F-8844EDEE0A9A}"/>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DA465577-0894-A878-BFB1-A4DEDF98DFC9}"/>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AA9CAF5C-3B14-CE51-9370-84D5EE911AF9}"/>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48EBECBC-D63A-640A-CEE4-72AAE406C9DF}"/>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11</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E69822B6-0ED2-98ED-0EE8-40F4F083B2DD}"/>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9C6671A8-D1BB-F30B-22C5-5A829C2EC7E9}"/>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AA816304-B708-6E23-D59E-8BE342668EA1}"/>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8FD7E48C-6519-73B2-C02E-E1DDA6CE8B75}"/>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training step, line by line</a:t>
            </a:r>
          </a:p>
        </p:txBody>
      </p:sp>
      <p:sp>
        <p:nvSpPr>
          <p:cNvPr id="4" name="Shape 2">
            <a:extLst>
              <a:ext uri="{FF2B5EF4-FFF2-40B4-BE49-F238E27FC236}">
                <a16:creationId xmlns:a16="http://schemas.microsoft.com/office/drawing/2014/main" id="{30F5C3F9-3FA7-885D-48EE-10309EC732CA}"/>
              </a:ext>
            </a:extLst>
          </p:cNvPr>
          <p:cNvSpPr/>
          <p:nvPr/>
        </p:nvSpPr>
        <p:spPr>
          <a:xfrm>
            <a:off x="351000" y="1087378"/>
            <a:ext cx="6675120" cy="4572000"/>
          </a:xfrm>
          <a:prstGeom prst="roundRect">
            <a:avLst>
              <a:gd name="adj" fmla="val 1600"/>
            </a:avLst>
          </a:prstGeom>
          <a:solidFill>
            <a:srgbClr val="14161F"/>
          </a:solidFill>
          <a:ln/>
        </p:spPr>
        <p:txBody>
          <a:bodyPr/>
          <a:lstStyle/>
          <a:p>
            <a:endParaRPr lang="en-US"/>
          </a:p>
        </p:txBody>
      </p:sp>
      <p:sp>
        <p:nvSpPr>
          <p:cNvPr id="7" name="Text 3">
            <a:extLst>
              <a:ext uri="{FF2B5EF4-FFF2-40B4-BE49-F238E27FC236}">
                <a16:creationId xmlns:a16="http://schemas.microsoft.com/office/drawing/2014/main" id="{1A7C4F96-D399-CFE2-73ED-4D3D29F71A67}"/>
              </a:ext>
            </a:extLst>
          </p:cNvPr>
          <p:cNvSpPr txBox="1"/>
          <p:nvPr/>
        </p:nvSpPr>
        <p:spPr>
          <a:xfrm>
            <a:off x="579600" y="1206250"/>
            <a:ext cx="621792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main.py: train() (simplified)</a:t>
            </a:r>
            <a:endParaRPr lang="en-US" sz="1250" dirty="0"/>
          </a:p>
        </p:txBody>
      </p:sp>
      <p:sp>
        <p:nvSpPr>
          <p:cNvPr id="10" name="Text 4">
            <a:extLst>
              <a:ext uri="{FF2B5EF4-FFF2-40B4-BE49-F238E27FC236}">
                <a16:creationId xmlns:a16="http://schemas.microsoft.com/office/drawing/2014/main" id="{D231B0F4-68C5-7F3A-78EC-819F5BFD3794}"/>
              </a:ext>
            </a:extLst>
          </p:cNvPr>
          <p:cNvSpPr txBox="1"/>
          <p:nvPr/>
        </p:nvSpPr>
        <p:spPr>
          <a:xfrm>
            <a:off x="579600" y="1590298"/>
            <a:ext cx="6217920" cy="3931920"/>
          </a:xfrm>
          <a:prstGeom prst="rect">
            <a:avLst/>
          </a:prstGeom>
          <a:noFill/>
          <a:ln/>
        </p:spPr>
        <p:txBody>
          <a:bodyPr wrap="square" lIns="0" tIns="0" rIns="0" bIns="0" rtlCol="0" anchor="t"/>
          <a:lstStyle/>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for i, (image, label) in enumerate(train_loader):</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outputs = model(image.cuda())</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 5 maps: e1, e2, e3, e4 and the fused map</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loss = 0</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for o in outputs:                  # deep supervision</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loss += cross_entropy_loss_RCF(o, label, 1.1)</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loss = loss / args.iter_size       # iter_size = 24</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loss.backward()                    # gradients add up</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counter += 1</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if counter == args.iter_size:      # every 24 images</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optimizer.step()               # one weight update</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optimizer.zero_grad()</a:t>
            </a:r>
            <a:endParaRPr lang="en-US" sz="1050" dirty="0"/>
          </a:p>
          <a:p>
            <a:pPr marL="0" indent="0">
              <a:lnSpc>
                <a:spcPct val="108000"/>
              </a:lnSpc>
              <a:buNone/>
            </a:pPr>
            <a:r>
              <a:rPr lang="en-US" sz="1050" dirty="0">
                <a:solidFill>
                  <a:srgbClr val="EDEEF2"/>
                </a:solidFill>
                <a:latin typeface="Consolas" pitchFamily="34" charset="0"/>
                <a:ea typeface="Consolas" pitchFamily="34" charset="-122"/>
                <a:cs typeface="Consolas" pitchFamily="34" charset="-120"/>
              </a:rPr>
              <a:t>        counter = 0</a:t>
            </a:r>
            <a:endParaRPr lang="en-US" sz="1050" dirty="0"/>
          </a:p>
        </p:txBody>
      </p:sp>
      <p:sp>
        <p:nvSpPr>
          <p:cNvPr id="14" name="Shape 5">
            <a:extLst>
              <a:ext uri="{FF2B5EF4-FFF2-40B4-BE49-F238E27FC236}">
                <a16:creationId xmlns:a16="http://schemas.microsoft.com/office/drawing/2014/main" id="{E3C0F63A-4E39-AFE1-1ACC-99C176CF7824}"/>
              </a:ext>
            </a:extLst>
          </p:cNvPr>
          <p:cNvSpPr/>
          <p:nvPr/>
        </p:nvSpPr>
        <p:spPr>
          <a:xfrm>
            <a:off x="7254720" y="1087378"/>
            <a:ext cx="4206240" cy="1051560"/>
          </a:xfrm>
          <a:prstGeom prst="roundRect">
            <a:avLst>
              <a:gd name="adj" fmla="val 6957"/>
            </a:avLst>
          </a:prstGeom>
          <a:solidFill>
            <a:srgbClr val="F4F5F7"/>
          </a:solidFill>
          <a:ln/>
        </p:spPr>
        <p:txBody>
          <a:bodyPr/>
          <a:lstStyle/>
          <a:p>
            <a:endParaRPr lang="en-US"/>
          </a:p>
        </p:txBody>
      </p:sp>
      <p:sp>
        <p:nvSpPr>
          <p:cNvPr id="17" name="Shape 6">
            <a:extLst>
              <a:ext uri="{FF2B5EF4-FFF2-40B4-BE49-F238E27FC236}">
                <a16:creationId xmlns:a16="http://schemas.microsoft.com/office/drawing/2014/main" id="{31FB10A4-598D-ADE2-0DF1-E2870479309C}"/>
              </a:ext>
            </a:extLst>
          </p:cNvPr>
          <p:cNvSpPr/>
          <p:nvPr/>
        </p:nvSpPr>
        <p:spPr>
          <a:xfrm>
            <a:off x="7437600" y="1251970"/>
            <a:ext cx="457200" cy="457200"/>
          </a:xfrm>
          <a:prstGeom prst="ellipse">
            <a:avLst/>
          </a:prstGeom>
          <a:solidFill>
            <a:srgbClr val="35D0C6"/>
          </a:solidFill>
          <a:ln/>
        </p:spPr>
        <p:txBody>
          <a:bodyPr/>
          <a:lstStyle/>
          <a:p>
            <a:endParaRPr lang="en-US"/>
          </a:p>
        </p:txBody>
      </p:sp>
      <p:sp>
        <p:nvSpPr>
          <p:cNvPr id="21" name="Text 7">
            <a:extLst>
              <a:ext uri="{FF2B5EF4-FFF2-40B4-BE49-F238E27FC236}">
                <a16:creationId xmlns:a16="http://schemas.microsoft.com/office/drawing/2014/main" id="{434E469D-F303-486E-68CF-C45589D3E273}"/>
              </a:ext>
            </a:extLst>
          </p:cNvPr>
          <p:cNvSpPr txBox="1"/>
          <p:nvPr/>
        </p:nvSpPr>
        <p:spPr>
          <a:xfrm>
            <a:off x="7437600" y="1251970"/>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1</a:t>
            </a:r>
            <a:endParaRPr lang="en-US" sz="1400" dirty="0"/>
          </a:p>
        </p:txBody>
      </p:sp>
      <p:sp>
        <p:nvSpPr>
          <p:cNvPr id="24" name="Text 8">
            <a:extLst>
              <a:ext uri="{FF2B5EF4-FFF2-40B4-BE49-F238E27FC236}">
                <a16:creationId xmlns:a16="http://schemas.microsoft.com/office/drawing/2014/main" id="{805BE80C-DDBA-150B-E120-875E51266EE3}"/>
              </a:ext>
            </a:extLst>
          </p:cNvPr>
          <p:cNvSpPr txBox="1"/>
          <p:nvPr/>
        </p:nvSpPr>
        <p:spPr>
          <a:xfrm>
            <a:off x="8031960" y="1215394"/>
            <a:ext cx="32461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Five predictions</a:t>
            </a:r>
            <a:endParaRPr lang="en-US" sz="1250" dirty="0"/>
          </a:p>
        </p:txBody>
      </p:sp>
      <p:sp>
        <p:nvSpPr>
          <p:cNvPr id="27" name="Text 9">
            <a:extLst>
              <a:ext uri="{FF2B5EF4-FFF2-40B4-BE49-F238E27FC236}">
                <a16:creationId xmlns:a16="http://schemas.microsoft.com/office/drawing/2014/main" id="{BCEFB00C-66B8-ECCE-AD8F-2B1268B1BA92}"/>
              </a:ext>
            </a:extLst>
          </p:cNvPr>
          <p:cNvSpPr txBox="1"/>
          <p:nvPr/>
        </p:nvSpPr>
        <p:spPr>
          <a:xfrm>
            <a:off x="8031960" y="1544578"/>
            <a:ext cx="3246120" cy="50292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The backbone returns four stage maps plus the fused map, all full-size, sigmoid already applied.</a:t>
            </a:r>
            <a:endParaRPr lang="en-US" sz="1050" dirty="0"/>
          </a:p>
        </p:txBody>
      </p:sp>
      <p:sp>
        <p:nvSpPr>
          <p:cNvPr id="30" name="Shape 10">
            <a:extLst>
              <a:ext uri="{FF2B5EF4-FFF2-40B4-BE49-F238E27FC236}">
                <a16:creationId xmlns:a16="http://schemas.microsoft.com/office/drawing/2014/main" id="{5B0E59E5-919B-B7EC-22B8-93DF17BE1465}"/>
              </a:ext>
            </a:extLst>
          </p:cNvPr>
          <p:cNvSpPr/>
          <p:nvPr/>
        </p:nvSpPr>
        <p:spPr>
          <a:xfrm>
            <a:off x="7254720" y="2248666"/>
            <a:ext cx="4206240" cy="1051560"/>
          </a:xfrm>
          <a:prstGeom prst="roundRect">
            <a:avLst>
              <a:gd name="adj" fmla="val 6957"/>
            </a:avLst>
          </a:prstGeom>
          <a:solidFill>
            <a:srgbClr val="F4F5F7"/>
          </a:solidFill>
          <a:ln/>
        </p:spPr>
        <p:txBody>
          <a:bodyPr/>
          <a:lstStyle/>
          <a:p>
            <a:endParaRPr lang="en-US"/>
          </a:p>
        </p:txBody>
      </p:sp>
      <p:sp>
        <p:nvSpPr>
          <p:cNvPr id="33" name="Shape 11">
            <a:extLst>
              <a:ext uri="{FF2B5EF4-FFF2-40B4-BE49-F238E27FC236}">
                <a16:creationId xmlns:a16="http://schemas.microsoft.com/office/drawing/2014/main" id="{BD66A450-6430-27B5-7D39-43C10F47DD97}"/>
              </a:ext>
            </a:extLst>
          </p:cNvPr>
          <p:cNvSpPr/>
          <p:nvPr/>
        </p:nvSpPr>
        <p:spPr>
          <a:xfrm>
            <a:off x="7437600" y="2413258"/>
            <a:ext cx="457200" cy="457200"/>
          </a:xfrm>
          <a:prstGeom prst="ellipse">
            <a:avLst/>
          </a:prstGeom>
          <a:solidFill>
            <a:srgbClr val="35D0C6"/>
          </a:solidFill>
          <a:ln/>
        </p:spPr>
        <p:txBody>
          <a:bodyPr/>
          <a:lstStyle/>
          <a:p>
            <a:endParaRPr lang="en-US"/>
          </a:p>
        </p:txBody>
      </p:sp>
      <p:sp>
        <p:nvSpPr>
          <p:cNvPr id="36" name="Text 12">
            <a:extLst>
              <a:ext uri="{FF2B5EF4-FFF2-40B4-BE49-F238E27FC236}">
                <a16:creationId xmlns:a16="http://schemas.microsoft.com/office/drawing/2014/main" id="{FC0523D3-872C-6BF3-72F2-7225E91E4C4B}"/>
              </a:ext>
            </a:extLst>
          </p:cNvPr>
          <p:cNvSpPr txBox="1"/>
          <p:nvPr/>
        </p:nvSpPr>
        <p:spPr>
          <a:xfrm>
            <a:off x="7437600" y="2413258"/>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2</a:t>
            </a:r>
            <a:endParaRPr lang="en-US" sz="1400" dirty="0"/>
          </a:p>
        </p:txBody>
      </p:sp>
      <p:sp>
        <p:nvSpPr>
          <p:cNvPr id="39" name="Text 13">
            <a:extLst>
              <a:ext uri="{FF2B5EF4-FFF2-40B4-BE49-F238E27FC236}">
                <a16:creationId xmlns:a16="http://schemas.microsoft.com/office/drawing/2014/main" id="{35DD288D-6724-8DD6-FEF8-F56A94FAEDC4}"/>
              </a:ext>
            </a:extLst>
          </p:cNvPr>
          <p:cNvSpPr txBox="1"/>
          <p:nvPr/>
        </p:nvSpPr>
        <p:spPr>
          <a:xfrm>
            <a:off x="8031960" y="2376682"/>
            <a:ext cx="32461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Same label, five losses</a:t>
            </a:r>
            <a:endParaRPr lang="en-US" sz="1250" dirty="0"/>
          </a:p>
        </p:txBody>
      </p:sp>
      <p:sp>
        <p:nvSpPr>
          <p:cNvPr id="42" name="Text 14">
            <a:extLst>
              <a:ext uri="{FF2B5EF4-FFF2-40B4-BE49-F238E27FC236}">
                <a16:creationId xmlns:a16="http://schemas.microsoft.com/office/drawing/2014/main" id="{3CF22276-459C-8A4C-CCFD-856E319AAE73}"/>
              </a:ext>
            </a:extLst>
          </p:cNvPr>
          <p:cNvSpPr txBox="1"/>
          <p:nvPr/>
        </p:nvSpPr>
        <p:spPr>
          <a:xfrm>
            <a:off x="8031960" y="2705866"/>
            <a:ext cx="3246120" cy="50292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Every output is scored against the same ground truth and the losses are summed.</a:t>
            </a:r>
            <a:endParaRPr lang="en-US" sz="1050" dirty="0"/>
          </a:p>
        </p:txBody>
      </p:sp>
      <p:sp>
        <p:nvSpPr>
          <p:cNvPr id="45" name="Shape 15">
            <a:extLst>
              <a:ext uri="{FF2B5EF4-FFF2-40B4-BE49-F238E27FC236}">
                <a16:creationId xmlns:a16="http://schemas.microsoft.com/office/drawing/2014/main" id="{234CF343-483A-7E17-3322-B8ED532CDCC1}"/>
              </a:ext>
            </a:extLst>
          </p:cNvPr>
          <p:cNvSpPr/>
          <p:nvPr/>
        </p:nvSpPr>
        <p:spPr>
          <a:xfrm>
            <a:off x="7254720" y="3409954"/>
            <a:ext cx="4206240" cy="1097280"/>
          </a:xfrm>
          <a:prstGeom prst="roundRect">
            <a:avLst>
              <a:gd name="adj" fmla="val 6667"/>
            </a:avLst>
          </a:prstGeom>
          <a:solidFill>
            <a:srgbClr val="F4F5F7"/>
          </a:solidFill>
          <a:ln/>
        </p:spPr>
        <p:txBody>
          <a:bodyPr/>
          <a:lstStyle/>
          <a:p>
            <a:endParaRPr lang="en-US"/>
          </a:p>
        </p:txBody>
      </p:sp>
      <p:sp>
        <p:nvSpPr>
          <p:cNvPr id="48" name="Shape 16">
            <a:extLst>
              <a:ext uri="{FF2B5EF4-FFF2-40B4-BE49-F238E27FC236}">
                <a16:creationId xmlns:a16="http://schemas.microsoft.com/office/drawing/2014/main" id="{5219291B-B2C1-0345-1AB5-0C5F217EE5FD}"/>
              </a:ext>
            </a:extLst>
          </p:cNvPr>
          <p:cNvSpPr/>
          <p:nvPr/>
        </p:nvSpPr>
        <p:spPr>
          <a:xfrm>
            <a:off x="7437600" y="3574546"/>
            <a:ext cx="457200" cy="457200"/>
          </a:xfrm>
          <a:prstGeom prst="ellipse">
            <a:avLst/>
          </a:prstGeom>
          <a:solidFill>
            <a:srgbClr val="35D0C6"/>
          </a:solidFill>
          <a:ln/>
        </p:spPr>
        <p:txBody>
          <a:bodyPr/>
          <a:lstStyle/>
          <a:p>
            <a:endParaRPr lang="en-US"/>
          </a:p>
        </p:txBody>
      </p:sp>
      <p:sp>
        <p:nvSpPr>
          <p:cNvPr id="50" name="Text 17">
            <a:extLst>
              <a:ext uri="{FF2B5EF4-FFF2-40B4-BE49-F238E27FC236}">
                <a16:creationId xmlns:a16="http://schemas.microsoft.com/office/drawing/2014/main" id="{C990A4E7-3347-A073-00EF-C9FA6657DEC5}"/>
              </a:ext>
            </a:extLst>
          </p:cNvPr>
          <p:cNvSpPr txBox="1"/>
          <p:nvPr/>
        </p:nvSpPr>
        <p:spPr>
          <a:xfrm>
            <a:off x="7437600" y="3574546"/>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3</a:t>
            </a:r>
            <a:endParaRPr lang="en-US" sz="1400" dirty="0"/>
          </a:p>
        </p:txBody>
      </p:sp>
      <p:sp>
        <p:nvSpPr>
          <p:cNvPr id="54" name="Text 18">
            <a:extLst>
              <a:ext uri="{FF2B5EF4-FFF2-40B4-BE49-F238E27FC236}">
                <a16:creationId xmlns:a16="http://schemas.microsoft.com/office/drawing/2014/main" id="{FEF7FCCC-FB25-4CDD-977D-A8714A3DCC8C}"/>
              </a:ext>
            </a:extLst>
          </p:cNvPr>
          <p:cNvSpPr txBox="1"/>
          <p:nvPr/>
        </p:nvSpPr>
        <p:spPr>
          <a:xfrm>
            <a:off x="8031960" y="3537970"/>
            <a:ext cx="32461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Effective batch of 24</a:t>
            </a:r>
            <a:endParaRPr lang="en-US" sz="1250" dirty="0"/>
          </a:p>
        </p:txBody>
      </p:sp>
      <p:sp>
        <p:nvSpPr>
          <p:cNvPr id="56" name="Text 19">
            <a:extLst>
              <a:ext uri="{FF2B5EF4-FFF2-40B4-BE49-F238E27FC236}">
                <a16:creationId xmlns:a16="http://schemas.microsoft.com/office/drawing/2014/main" id="{F67F0ED5-BA8E-D2E8-0BC7-259E61C19E44}"/>
              </a:ext>
            </a:extLst>
          </p:cNvPr>
          <p:cNvSpPr txBox="1"/>
          <p:nvPr/>
        </p:nvSpPr>
        <p:spPr>
          <a:xfrm>
            <a:off x="8031960" y="3867154"/>
            <a:ext cx="3246120" cy="54864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One image per step, weights updated every 24 images: 28,800 / 24 = 1,200 updates per epoch.</a:t>
            </a:r>
            <a:endParaRPr lang="en-US" sz="1050" dirty="0"/>
          </a:p>
        </p:txBody>
      </p:sp>
      <p:sp>
        <p:nvSpPr>
          <p:cNvPr id="58" name="Shape 20">
            <a:extLst>
              <a:ext uri="{FF2B5EF4-FFF2-40B4-BE49-F238E27FC236}">
                <a16:creationId xmlns:a16="http://schemas.microsoft.com/office/drawing/2014/main" id="{1BB5D264-FC7F-974B-F108-09F0681A1D3F}"/>
              </a:ext>
            </a:extLst>
          </p:cNvPr>
          <p:cNvSpPr/>
          <p:nvPr/>
        </p:nvSpPr>
        <p:spPr>
          <a:xfrm>
            <a:off x="7254720" y="4616962"/>
            <a:ext cx="4206240" cy="1042416"/>
          </a:xfrm>
          <a:prstGeom prst="roundRect">
            <a:avLst>
              <a:gd name="adj" fmla="val 7018"/>
            </a:avLst>
          </a:prstGeom>
          <a:solidFill>
            <a:srgbClr val="F4F5F7"/>
          </a:solidFill>
          <a:ln/>
        </p:spPr>
        <p:txBody>
          <a:bodyPr/>
          <a:lstStyle/>
          <a:p>
            <a:endParaRPr lang="en-US"/>
          </a:p>
        </p:txBody>
      </p:sp>
      <p:sp>
        <p:nvSpPr>
          <p:cNvPr id="60" name="Shape 21">
            <a:extLst>
              <a:ext uri="{FF2B5EF4-FFF2-40B4-BE49-F238E27FC236}">
                <a16:creationId xmlns:a16="http://schemas.microsoft.com/office/drawing/2014/main" id="{B42D53D8-3F4A-B798-1CED-959B315F766F}"/>
              </a:ext>
            </a:extLst>
          </p:cNvPr>
          <p:cNvSpPr/>
          <p:nvPr/>
        </p:nvSpPr>
        <p:spPr>
          <a:xfrm>
            <a:off x="7437600" y="4781554"/>
            <a:ext cx="457200" cy="457200"/>
          </a:xfrm>
          <a:prstGeom prst="ellipse">
            <a:avLst/>
          </a:prstGeom>
          <a:solidFill>
            <a:srgbClr val="35D0C6"/>
          </a:solidFill>
          <a:ln/>
        </p:spPr>
        <p:txBody>
          <a:bodyPr/>
          <a:lstStyle/>
          <a:p>
            <a:endParaRPr lang="en-US"/>
          </a:p>
        </p:txBody>
      </p:sp>
      <p:sp>
        <p:nvSpPr>
          <p:cNvPr id="62" name="Text 22">
            <a:extLst>
              <a:ext uri="{FF2B5EF4-FFF2-40B4-BE49-F238E27FC236}">
                <a16:creationId xmlns:a16="http://schemas.microsoft.com/office/drawing/2014/main" id="{BB092BCE-69D2-E7B5-ABB4-A26A01ED9F91}"/>
              </a:ext>
            </a:extLst>
          </p:cNvPr>
          <p:cNvSpPr txBox="1"/>
          <p:nvPr/>
        </p:nvSpPr>
        <p:spPr>
          <a:xfrm>
            <a:off x="7437600" y="4781554"/>
            <a:ext cx="457200" cy="457200"/>
          </a:xfrm>
          <a:prstGeom prst="rect">
            <a:avLst/>
          </a:prstGeom>
          <a:noFill/>
          <a:ln/>
        </p:spPr>
        <p:txBody>
          <a:bodyPr wrap="square" lIns="0" tIns="0" rIns="0" bIns="0" rtlCol="0" anchor="ctr"/>
          <a:lstStyle/>
          <a:p>
            <a:pPr marL="0" indent="0" algn="ctr">
              <a:buNone/>
            </a:pPr>
            <a:r>
              <a:rPr lang="en-US" sz="1400" b="1" dirty="0">
                <a:solidFill>
                  <a:srgbClr val="14161F"/>
                </a:solidFill>
                <a:latin typeface="Cambria" pitchFamily="34" charset="0"/>
                <a:ea typeface="Cambria" pitchFamily="34" charset="-122"/>
                <a:cs typeface="Cambria" pitchFamily="34" charset="-120"/>
              </a:rPr>
              <a:t>4</a:t>
            </a:r>
            <a:endParaRPr lang="en-US" sz="1400" dirty="0"/>
          </a:p>
        </p:txBody>
      </p:sp>
      <p:sp>
        <p:nvSpPr>
          <p:cNvPr id="64" name="Text 23">
            <a:extLst>
              <a:ext uri="{FF2B5EF4-FFF2-40B4-BE49-F238E27FC236}">
                <a16:creationId xmlns:a16="http://schemas.microsoft.com/office/drawing/2014/main" id="{417D0CD8-CB45-023A-1FD2-207271079F5A}"/>
              </a:ext>
            </a:extLst>
          </p:cNvPr>
          <p:cNvSpPr txBox="1"/>
          <p:nvPr/>
        </p:nvSpPr>
        <p:spPr>
          <a:xfrm>
            <a:off x="8031960" y="4744978"/>
            <a:ext cx="32461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What the log shows</a:t>
            </a:r>
            <a:endParaRPr lang="en-US" sz="1250" dirty="0"/>
          </a:p>
        </p:txBody>
      </p:sp>
      <p:sp>
        <p:nvSpPr>
          <p:cNvPr id="66" name="Text 24">
            <a:extLst>
              <a:ext uri="{FF2B5EF4-FFF2-40B4-BE49-F238E27FC236}">
                <a16:creationId xmlns:a16="http://schemas.microsoft.com/office/drawing/2014/main" id="{AC55D9C8-8F3D-3B3C-A7CC-3A687DE5BF6B}"/>
              </a:ext>
            </a:extLst>
          </p:cNvPr>
          <p:cNvSpPr txBox="1"/>
          <p:nvPr/>
        </p:nvSpPr>
        <p:spPr>
          <a:xfrm>
            <a:off x="8031960" y="5074162"/>
            <a:ext cx="3246120" cy="493776"/>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The printed loss is the sum over those 24 images and 5 outputs, which is why it reads in the thousands.</a:t>
            </a:r>
            <a:endParaRPr lang="en-US" sz="1050" dirty="0"/>
          </a:p>
        </p:txBody>
      </p:sp>
    </p:spTree>
    <p:extLst>
      <p:ext uri="{BB962C8B-B14F-4D97-AF65-F5344CB8AC3E}">
        <p14:creationId xmlns:p14="http://schemas.microsoft.com/office/powerpoint/2010/main" val="609254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A609F-2AF0-A548-83F0-420AA20C9B31}"/>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E37A1936-2856-2867-E5A0-FDF0F380DC1B}"/>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0365BE75-CCA0-AFB1-FA7F-3DB8D3F81A89}"/>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5A08BB4C-1CBD-477B-98C0-3DF052A23C6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9C4048DA-E16A-6E14-C54E-55103002A3C1}"/>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12</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70220284-99E5-9DC1-DFDE-458B810D889F}"/>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046E7FE3-CB75-73F4-D9C1-8BCA4DC0B65F}"/>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431ADA21-2C74-C166-2ACC-95E5EE9EF754}"/>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ACC4471F-00BA-7A66-D29A-6ED54F989308}"/>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Optimizer, learning-rate schedule and what we got</a:t>
            </a:r>
          </a:p>
        </p:txBody>
      </p:sp>
      <p:sp>
        <p:nvSpPr>
          <p:cNvPr id="40" name="Shape 2">
            <a:extLst>
              <a:ext uri="{FF2B5EF4-FFF2-40B4-BE49-F238E27FC236}">
                <a16:creationId xmlns:a16="http://schemas.microsoft.com/office/drawing/2014/main" id="{0E01C722-CF60-F7C8-3B96-B63A76A03FB7}"/>
              </a:ext>
            </a:extLst>
          </p:cNvPr>
          <p:cNvSpPr/>
          <p:nvPr/>
        </p:nvSpPr>
        <p:spPr>
          <a:xfrm>
            <a:off x="391920" y="1370305"/>
            <a:ext cx="5943600" cy="3200400"/>
          </a:xfrm>
          <a:prstGeom prst="roundRect">
            <a:avLst>
              <a:gd name="adj" fmla="val 2286"/>
            </a:avLst>
          </a:prstGeom>
          <a:solidFill>
            <a:srgbClr val="14161F"/>
          </a:solidFill>
          <a:ln/>
        </p:spPr>
        <p:txBody>
          <a:bodyPr/>
          <a:lstStyle/>
          <a:p>
            <a:endParaRPr lang="en-US"/>
          </a:p>
        </p:txBody>
      </p:sp>
      <p:sp>
        <p:nvSpPr>
          <p:cNvPr id="43" name="Text 3">
            <a:extLst>
              <a:ext uri="{FF2B5EF4-FFF2-40B4-BE49-F238E27FC236}">
                <a16:creationId xmlns:a16="http://schemas.microsoft.com/office/drawing/2014/main" id="{624CCEE2-3812-1FE0-A26F-6166F42D2182}"/>
              </a:ext>
            </a:extLst>
          </p:cNvPr>
          <p:cNvSpPr txBox="1"/>
          <p:nvPr/>
        </p:nvSpPr>
        <p:spPr>
          <a:xfrm>
            <a:off x="620520" y="1489177"/>
            <a:ext cx="548640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main.py + utils.py</a:t>
            </a:r>
            <a:endParaRPr lang="en-US" sz="1250" dirty="0"/>
          </a:p>
        </p:txBody>
      </p:sp>
      <p:sp>
        <p:nvSpPr>
          <p:cNvPr id="46" name="Text 4">
            <a:extLst>
              <a:ext uri="{FF2B5EF4-FFF2-40B4-BE49-F238E27FC236}">
                <a16:creationId xmlns:a16="http://schemas.microsoft.com/office/drawing/2014/main" id="{43AA1331-8DD1-8951-012A-B1684BB0BFB3}"/>
              </a:ext>
            </a:extLst>
          </p:cNvPr>
          <p:cNvSpPr txBox="1"/>
          <p:nvPr/>
        </p:nvSpPr>
        <p:spPr>
          <a:xfrm>
            <a:off x="620520" y="1873225"/>
            <a:ext cx="5486400" cy="2560320"/>
          </a:xfrm>
          <a:prstGeom prst="rect">
            <a:avLst/>
          </a:prstGeom>
          <a:noFill/>
          <a:ln/>
        </p:spPr>
        <p:txBody>
          <a:bodyPr wrap="square" lIns="0" tIns="0" rIns="0" bIns="0" rtlCol="0" anchor="t"/>
          <a:lstStyle/>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param_groups = [</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{'params': conv_weights, 'weight_decay': wd,       'lr': lr},</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{'params': bn_weights,   'weight_decay': 0.1 * wd, 'lr': lr},</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{'params': relu_weights, 'weight_decay': 0.0,      'lr': lr}]</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optimizer = torch.optim.Adam(param_groups, betas=(0.9, 0.99))</a:t>
            </a:r>
            <a:endParaRPr lang="en-US" sz="950" dirty="0"/>
          </a:p>
          <a:p>
            <a:pPr marL="0" indent="0">
              <a:lnSpc>
                <a:spcPct val="108000"/>
              </a:lnSpc>
              <a:buNone/>
            </a:pP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def adjust_learning_rate(optimizer, epoch, args):  # multistep</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lr = args.lr                                   # 0.005</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for step in args.lr_steps:                     # --lr-steps 1-2</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if epoch &gt;= step:</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lr = lr * 0.1</a:t>
            </a:r>
            <a:endParaRPr lang="en-US" sz="950" dirty="0"/>
          </a:p>
        </p:txBody>
      </p:sp>
      <p:graphicFrame>
        <p:nvGraphicFramePr>
          <p:cNvPr id="49" name="Table 0">
            <a:extLst>
              <a:ext uri="{FF2B5EF4-FFF2-40B4-BE49-F238E27FC236}">
                <a16:creationId xmlns:a16="http://schemas.microsoft.com/office/drawing/2014/main" id="{764941B7-EC14-442D-2C1E-EBEDA9DBCFB2}"/>
              </a:ext>
            </a:extLst>
          </p:cNvPr>
          <p:cNvGraphicFramePr>
            <a:graphicFrameLocks noGrp="1"/>
          </p:cNvGraphicFramePr>
          <p:nvPr>
            <p:extLst>
              <p:ext uri="{D42A27DB-BD31-4B8C-83A1-F6EECF244321}">
                <p14:modId xmlns:p14="http://schemas.microsoft.com/office/powerpoint/2010/main" val="2439146212"/>
              </p:ext>
            </p:extLst>
          </p:nvPr>
        </p:nvGraphicFramePr>
        <p:xfrm>
          <a:off x="6564120" y="1370305"/>
          <a:ext cx="4937760" cy="1737360"/>
        </p:xfrm>
        <a:graphic>
          <a:graphicData uri="http://schemas.openxmlformats.org/drawingml/2006/table">
            <a:tbl>
              <a:tblPr/>
              <a:tblGrid>
                <a:gridCol w="7315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3434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Epoch</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Baseline CNN loss</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PiDiNet-full loss</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extLst>
                  <a:ext uri="{0D108BD9-81ED-4DB2-BD59-A6C34878D82A}">
                    <a16:rowId xmlns:a16="http://schemas.microsoft.com/office/drawing/2014/main" val="10000"/>
                  </a:ext>
                </a:extLst>
              </a:tr>
              <a:tr h="434340">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0.005</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9,509</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9,342</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4340">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0.0005</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7,828</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8,048</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434340">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0.00005</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7,522</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A1D26"/>
                          </a:solidFill>
                          <a:latin typeface="Calibri" pitchFamily="34" charset="0"/>
                          <a:ea typeface="Calibri" pitchFamily="34" charset="-122"/>
                          <a:cs typeface="Calibri" pitchFamily="34" charset="-120"/>
                        </a:rPr>
                        <a:t>7,837</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2" name="Text 5">
            <a:extLst>
              <a:ext uri="{FF2B5EF4-FFF2-40B4-BE49-F238E27FC236}">
                <a16:creationId xmlns:a16="http://schemas.microsoft.com/office/drawing/2014/main" id="{BF374B59-8424-96A8-7791-F3BDFF78BAA9}"/>
              </a:ext>
            </a:extLst>
          </p:cNvPr>
          <p:cNvSpPr txBox="1"/>
          <p:nvPr/>
        </p:nvSpPr>
        <p:spPr>
          <a:xfrm>
            <a:off x="6564120" y="3199105"/>
            <a:ext cx="4937760" cy="45720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Average training loss per epoch from the run logs (3 epochs, 28,800 pairs, iter-size 24).</a:t>
            </a:r>
            <a:endParaRPr lang="en-US" sz="1050" dirty="0"/>
          </a:p>
        </p:txBody>
      </p:sp>
      <p:sp>
        <p:nvSpPr>
          <p:cNvPr id="55" name="Shape 6">
            <a:extLst>
              <a:ext uri="{FF2B5EF4-FFF2-40B4-BE49-F238E27FC236}">
                <a16:creationId xmlns:a16="http://schemas.microsoft.com/office/drawing/2014/main" id="{EBA820CD-D5C0-AC48-A976-A34BC9F03624}"/>
              </a:ext>
            </a:extLst>
          </p:cNvPr>
          <p:cNvSpPr/>
          <p:nvPr/>
        </p:nvSpPr>
        <p:spPr>
          <a:xfrm>
            <a:off x="391920" y="4707865"/>
            <a:ext cx="3657600" cy="1234440"/>
          </a:xfrm>
          <a:prstGeom prst="roundRect">
            <a:avLst>
              <a:gd name="adj" fmla="val 5926"/>
            </a:avLst>
          </a:prstGeom>
          <a:solidFill>
            <a:srgbClr val="F4F5F7"/>
          </a:solidFill>
          <a:ln/>
        </p:spPr>
        <p:txBody>
          <a:bodyPr/>
          <a:lstStyle/>
          <a:p>
            <a:endParaRPr lang="en-US"/>
          </a:p>
        </p:txBody>
      </p:sp>
      <p:sp>
        <p:nvSpPr>
          <p:cNvPr id="59" name="Text 7">
            <a:extLst>
              <a:ext uri="{FF2B5EF4-FFF2-40B4-BE49-F238E27FC236}">
                <a16:creationId xmlns:a16="http://schemas.microsoft.com/office/drawing/2014/main" id="{6CD3E4E9-960C-BDED-CC61-43DA1649DD97}"/>
              </a:ext>
            </a:extLst>
          </p:cNvPr>
          <p:cNvSpPr txBox="1"/>
          <p:nvPr/>
        </p:nvSpPr>
        <p:spPr>
          <a:xfrm>
            <a:off x="620520" y="4835881"/>
            <a:ext cx="32461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Saved every epoch</a:t>
            </a:r>
            <a:endParaRPr lang="en-US" sz="1250" dirty="0"/>
          </a:p>
        </p:txBody>
      </p:sp>
      <p:sp>
        <p:nvSpPr>
          <p:cNvPr id="63" name="Text 8">
            <a:extLst>
              <a:ext uri="{FF2B5EF4-FFF2-40B4-BE49-F238E27FC236}">
                <a16:creationId xmlns:a16="http://schemas.microsoft.com/office/drawing/2014/main" id="{33EC9140-8983-0F5A-B1D4-C5643F5A289C}"/>
              </a:ext>
            </a:extLst>
          </p:cNvPr>
          <p:cNvSpPr txBox="1"/>
          <p:nvPr/>
        </p:nvSpPr>
        <p:spPr>
          <a:xfrm>
            <a:off x="620520" y="5165065"/>
            <a:ext cx="3246120" cy="68580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checkpoint_000..002.pth hold weights and optimiser state; pidinet_log.txt gets one line per epoch.</a:t>
            </a:r>
            <a:endParaRPr lang="en-US" sz="1050" dirty="0"/>
          </a:p>
        </p:txBody>
      </p:sp>
      <p:sp>
        <p:nvSpPr>
          <p:cNvPr id="67" name="Shape 9">
            <a:extLst>
              <a:ext uri="{FF2B5EF4-FFF2-40B4-BE49-F238E27FC236}">
                <a16:creationId xmlns:a16="http://schemas.microsoft.com/office/drawing/2014/main" id="{95395F85-7437-3CAA-8F6B-A36369DF4965}"/>
              </a:ext>
            </a:extLst>
          </p:cNvPr>
          <p:cNvSpPr/>
          <p:nvPr/>
        </p:nvSpPr>
        <p:spPr>
          <a:xfrm>
            <a:off x="4186680" y="4707865"/>
            <a:ext cx="3611880" cy="1234440"/>
          </a:xfrm>
          <a:prstGeom prst="roundRect">
            <a:avLst>
              <a:gd name="adj" fmla="val 5926"/>
            </a:avLst>
          </a:prstGeom>
          <a:solidFill>
            <a:srgbClr val="F4F5F7"/>
          </a:solidFill>
          <a:ln/>
        </p:spPr>
        <p:txBody>
          <a:bodyPr/>
          <a:lstStyle/>
          <a:p>
            <a:endParaRPr lang="en-US"/>
          </a:p>
        </p:txBody>
      </p:sp>
      <p:sp>
        <p:nvSpPr>
          <p:cNvPr id="69" name="Text 10">
            <a:extLst>
              <a:ext uri="{FF2B5EF4-FFF2-40B4-BE49-F238E27FC236}">
                <a16:creationId xmlns:a16="http://schemas.microsoft.com/office/drawing/2014/main" id="{FEC07FAF-5344-62EA-6CA9-08B85CDD2322}"/>
              </a:ext>
            </a:extLst>
          </p:cNvPr>
          <p:cNvSpPr txBox="1"/>
          <p:nvPr/>
        </p:nvSpPr>
        <p:spPr>
          <a:xfrm>
            <a:off x="4415280" y="4835881"/>
            <a:ext cx="320040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Cost on the RTX 4050</a:t>
            </a:r>
            <a:endParaRPr lang="en-US" sz="1250" dirty="0"/>
          </a:p>
        </p:txBody>
      </p:sp>
      <p:sp>
        <p:nvSpPr>
          <p:cNvPr id="71" name="Text 11">
            <a:extLst>
              <a:ext uri="{FF2B5EF4-FFF2-40B4-BE49-F238E27FC236}">
                <a16:creationId xmlns:a16="http://schemas.microsoft.com/office/drawing/2014/main" id="{EDE0FFD4-5BF1-F300-3492-02BE2C8EC61A}"/>
              </a:ext>
            </a:extLst>
          </p:cNvPr>
          <p:cNvSpPr txBox="1"/>
          <p:nvPr/>
        </p:nvSpPr>
        <p:spPr>
          <a:xfrm>
            <a:off x="4415280" y="5165065"/>
            <a:ext cx="3200400" cy="68580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About 1.3-1.5 s per update, 27-31 min per epoch, 80-90 min for 3 epochs.</a:t>
            </a:r>
            <a:endParaRPr lang="en-US" sz="1050" dirty="0"/>
          </a:p>
        </p:txBody>
      </p:sp>
      <p:sp>
        <p:nvSpPr>
          <p:cNvPr id="73" name="Shape 12">
            <a:extLst>
              <a:ext uri="{FF2B5EF4-FFF2-40B4-BE49-F238E27FC236}">
                <a16:creationId xmlns:a16="http://schemas.microsoft.com/office/drawing/2014/main" id="{EFD506F2-B779-B3BF-8379-1E879CC1A12F}"/>
              </a:ext>
            </a:extLst>
          </p:cNvPr>
          <p:cNvSpPr/>
          <p:nvPr/>
        </p:nvSpPr>
        <p:spPr>
          <a:xfrm>
            <a:off x="7935720" y="3747745"/>
            <a:ext cx="3566160" cy="2194560"/>
          </a:xfrm>
          <a:prstGeom prst="roundRect">
            <a:avLst>
              <a:gd name="adj" fmla="val 3333"/>
            </a:avLst>
          </a:prstGeom>
          <a:solidFill>
            <a:srgbClr val="E9FBF9"/>
          </a:solidFill>
          <a:ln/>
        </p:spPr>
        <p:txBody>
          <a:bodyPr/>
          <a:lstStyle/>
          <a:p>
            <a:endParaRPr lang="en-US"/>
          </a:p>
        </p:txBody>
      </p:sp>
      <p:sp>
        <p:nvSpPr>
          <p:cNvPr id="75" name="Text 13">
            <a:extLst>
              <a:ext uri="{FF2B5EF4-FFF2-40B4-BE49-F238E27FC236}">
                <a16:creationId xmlns:a16="http://schemas.microsoft.com/office/drawing/2014/main" id="{486AAD95-9712-E86E-4A9B-8EBA7DB06544}"/>
              </a:ext>
            </a:extLst>
          </p:cNvPr>
          <p:cNvSpPr txBox="1"/>
          <p:nvPr/>
        </p:nvSpPr>
        <p:spPr>
          <a:xfrm>
            <a:off x="8164320" y="3875761"/>
            <a:ext cx="3154680" cy="310896"/>
          </a:xfrm>
          <a:prstGeom prst="rect">
            <a:avLst/>
          </a:prstGeom>
          <a:noFill/>
          <a:ln/>
        </p:spPr>
        <p:txBody>
          <a:bodyPr wrap="square" lIns="0" tIns="0" rIns="0" bIns="0" rtlCol="0" anchor="ctr"/>
          <a:lstStyle/>
          <a:p>
            <a:pPr marL="0" indent="0">
              <a:buNone/>
            </a:pPr>
            <a:r>
              <a:rPr lang="en-US" sz="1250" b="1" dirty="0">
                <a:solidFill>
                  <a:srgbClr val="0E7C74"/>
                </a:solidFill>
                <a:latin typeface="Cambria" pitchFamily="34" charset="0"/>
                <a:ea typeface="Cambria" pitchFamily="34" charset="-122"/>
                <a:cs typeface="Cambria" pitchFamily="34" charset="-120"/>
              </a:rPr>
              <a:t>Loss is not the score</a:t>
            </a:r>
            <a:endParaRPr lang="en-US" sz="1250" dirty="0"/>
          </a:p>
        </p:txBody>
      </p:sp>
      <p:sp>
        <p:nvSpPr>
          <p:cNvPr id="77" name="Text 14">
            <a:extLst>
              <a:ext uri="{FF2B5EF4-FFF2-40B4-BE49-F238E27FC236}">
                <a16:creationId xmlns:a16="http://schemas.microsoft.com/office/drawing/2014/main" id="{C8D2B35B-0BD6-B3FB-18CE-CA49E55D4B31}"/>
              </a:ext>
            </a:extLst>
          </p:cNvPr>
          <p:cNvSpPr txBox="1"/>
          <p:nvPr/>
        </p:nvSpPr>
        <p:spPr>
          <a:xfrm>
            <a:off x="8164320" y="4204945"/>
            <a:ext cx="3154680" cy="1645920"/>
          </a:xfrm>
          <a:prstGeom prst="rect">
            <a:avLst/>
          </a:prstGeom>
          <a:noFill/>
          <a:ln/>
        </p:spPr>
        <p:txBody>
          <a:bodyPr wrap="square" lIns="0" tIns="0" rIns="0" bIns="0" rtlCol="0" anchor="t"/>
          <a:lstStyle/>
          <a:p>
            <a:pPr marL="0" indent="0">
              <a:lnSpc>
                <a:spcPct val="115000"/>
              </a:lnSpc>
              <a:buNone/>
            </a:pPr>
            <a:r>
              <a:rPr lang="en-US" sz="1050" dirty="0">
                <a:solidFill>
                  <a:srgbClr val="0E5C56"/>
                </a:solidFill>
                <a:latin typeface="Calibri" pitchFamily="34" charset="0"/>
                <a:ea typeface="Calibri" pitchFamily="34" charset="-122"/>
                <a:cs typeface="Calibri" pitchFamily="34" charset="-120"/>
              </a:rPr>
              <a:t>The baseline ended with the lower training loss (7,522 vs 7,837), yet PiDiNet-full scored the higher ODS (0.781 vs 0.777). Training loss measures fit, not edge quality.</a:t>
            </a:r>
            <a:endParaRPr lang="en-US" sz="1050" dirty="0"/>
          </a:p>
        </p:txBody>
      </p:sp>
    </p:spTree>
    <p:extLst>
      <p:ext uri="{BB962C8B-B14F-4D97-AF65-F5344CB8AC3E}">
        <p14:creationId xmlns:p14="http://schemas.microsoft.com/office/powerpoint/2010/main" val="3365081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C54F2-F2B5-687C-830E-81E762AF3838}"/>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28A2EB18-9C2A-B39B-84D1-12F099A47E31}"/>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975BBEB7-367E-E51A-CEDF-CC5AB89DB142}"/>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916E3C29-AAAC-F2D1-CF2C-B38C43A5990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1CE517A0-B874-9BB2-59C4-9BEDA686808F}"/>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13</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FAA461F2-4C72-C77B-0936-D4CB0216497C}"/>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F9150CC7-CC0D-547B-78AC-4140F01831C7}"/>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48CAF323-85FB-3206-32BA-BCF8CF2D4597}"/>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40BB5735-35FF-0F06-82D1-412E6F913D8E}"/>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From checkpoint to ODS / OIS</a:t>
            </a:r>
          </a:p>
        </p:txBody>
      </p:sp>
      <p:sp>
        <p:nvSpPr>
          <p:cNvPr id="3" name="Shape 2">
            <a:extLst>
              <a:ext uri="{FF2B5EF4-FFF2-40B4-BE49-F238E27FC236}">
                <a16:creationId xmlns:a16="http://schemas.microsoft.com/office/drawing/2014/main" id="{24343699-FC06-CFBE-A036-EC25E5493BF7}"/>
              </a:ext>
            </a:extLst>
          </p:cNvPr>
          <p:cNvSpPr/>
          <p:nvPr/>
        </p:nvSpPr>
        <p:spPr>
          <a:xfrm>
            <a:off x="453390" y="1243644"/>
            <a:ext cx="2606040" cy="1005840"/>
          </a:xfrm>
          <a:prstGeom prst="roundRect">
            <a:avLst>
              <a:gd name="adj" fmla="val 7273"/>
            </a:avLst>
          </a:prstGeom>
          <a:solidFill>
            <a:srgbClr val="1E2233"/>
          </a:solidFill>
          <a:ln/>
        </p:spPr>
        <p:txBody>
          <a:bodyPr/>
          <a:lstStyle/>
          <a:p>
            <a:endParaRPr lang="en-US"/>
          </a:p>
        </p:txBody>
      </p:sp>
      <p:sp>
        <p:nvSpPr>
          <p:cNvPr id="5" name="Text 3">
            <a:extLst>
              <a:ext uri="{FF2B5EF4-FFF2-40B4-BE49-F238E27FC236}">
                <a16:creationId xmlns:a16="http://schemas.microsoft.com/office/drawing/2014/main" id="{2105CD6F-73BA-0E76-E265-A63A716CE0F1}"/>
              </a:ext>
            </a:extLst>
          </p:cNvPr>
          <p:cNvSpPr txBox="1"/>
          <p:nvPr/>
        </p:nvSpPr>
        <p:spPr>
          <a:xfrm>
            <a:off x="636270" y="1335084"/>
            <a:ext cx="224028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main.py --evaluate</a:t>
            </a:r>
            <a:endParaRPr lang="en-US" sz="1250" dirty="0"/>
          </a:p>
        </p:txBody>
      </p:sp>
      <p:sp>
        <p:nvSpPr>
          <p:cNvPr id="7" name="Text 4">
            <a:extLst>
              <a:ext uri="{FF2B5EF4-FFF2-40B4-BE49-F238E27FC236}">
                <a16:creationId xmlns:a16="http://schemas.microsoft.com/office/drawing/2014/main" id="{4CD7B6CC-9543-086B-EA2A-7B5480F4ABD8}"/>
              </a:ext>
            </a:extLst>
          </p:cNvPr>
          <p:cNvSpPr txBox="1"/>
          <p:nvPr/>
        </p:nvSpPr>
        <p:spPr>
          <a:xfrm>
            <a:off x="636270" y="1655124"/>
            <a:ext cx="2240280" cy="548640"/>
          </a:xfrm>
          <a:prstGeom prst="rect">
            <a:avLst/>
          </a:prstGeom>
          <a:noFill/>
          <a:ln/>
        </p:spPr>
        <p:txBody>
          <a:bodyPr wrap="square" lIns="0" tIns="0" rIns="0" bIns="0" rtlCol="0" anchor="ctr"/>
          <a:lstStyle/>
          <a:p>
            <a:pPr marL="0" indent="0">
              <a:buNone/>
            </a:pPr>
            <a:r>
              <a:rPr lang="en-US" sz="1050" dirty="0">
                <a:solidFill>
                  <a:srgbClr val="9AA0B4"/>
                </a:solidFill>
                <a:latin typeface="Calibri" pitchFamily="34" charset="0"/>
                <a:ea typeface="Calibri" pitchFamily="34" charset="-122"/>
                <a:cs typeface="Calibri" pitchFamily="34" charset="-120"/>
              </a:rPr>
              <a:t>load checkpoint, optionally convert PDC to plain conv</a:t>
            </a:r>
            <a:endParaRPr lang="en-US" sz="1050" dirty="0"/>
          </a:p>
        </p:txBody>
      </p:sp>
      <p:sp>
        <p:nvSpPr>
          <p:cNvPr id="9" name="Shape 5">
            <a:extLst>
              <a:ext uri="{FF2B5EF4-FFF2-40B4-BE49-F238E27FC236}">
                <a16:creationId xmlns:a16="http://schemas.microsoft.com/office/drawing/2014/main" id="{6692CB2D-EA10-6A57-F1A1-C344383C7509}"/>
              </a:ext>
            </a:extLst>
          </p:cNvPr>
          <p:cNvSpPr/>
          <p:nvPr/>
        </p:nvSpPr>
        <p:spPr>
          <a:xfrm>
            <a:off x="3086862" y="1655124"/>
            <a:ext cx="173736" cy="182880"/>
          </a:xfrm>
          <a:prstGeom prst="rightArrow">
            <a:avLst/>
          </a:prstGeom>
          <a:solidFill>
            <a:srgbClr val="6B7280"/>
          </a:solidFill>
          <a:ln/>
        </p:spPr>
        <p:txBody>
          <a:bodyPr/>
          <a:lstStyle/>
          <a:p>
            <a:endParaRPr lang="en-US"/>
          </a:p>
        </p:txBody>
      </p:sp>
      <p:sp>
        <p:nvSpPr>
          <p:cNvPr id="12" name="Shape 6">
            <a:extLst>
              <a:ext uri="{FF2B5EF4-FFF2-40B4-BE49-F238E27FC236}">
                <a16:creationId xmlns:a16="http://schemas.microsoft.com/office/drawing/2014/main" id="{9A3C78AE-6402-0559-A477-0729FDBC2C59}"/>
              </a:ext>
            </a:extLst>
          </p:cNvPr>
          <p:cNvSpPr/>
          <p:nvPr/>
        </p:nvSpPr>
        <p:spPr>
          <a:xfrm>
            <a:off x="3288030" y="1243644"/>
            <a:ext cx="2606040" cy="1005840"/>
          </a:xfrm>
          <a:prstGeom prst="roundRect">
            <a:avLst>
              <a:gd name="adj" fmla="val 7273"/>
            </a:avLst>
          </a:prstGeom>
          <a:solidFill>
            <a:srgbClr val="1E2233"/>
          </a:solidFill>
          <a:ln/>
        </p:spPr>
        <p:txBody>
          <a:bodyPr/>
          <a:lstStyle/>
          <a:p>
            <a:endParaRPr lang="en-US"/>
          </a:p>
        </p:txBody>
      </p:sp>
      <p:sp>
        <p:nvSpPr>
          <p:cNvPr id="14" name="Text 7">
            <a:extLst>
              <a:ext uri="{FF2B5EF4-FFF2-40B4-BE49-F238E27FC236}">
                <a16:creationId xmlns:a16="http://schemas.microsoft.com/office/drawing/2014/main" id="{28F524A4-6865-A46F-2169-58C6514EF441}"/>
              </a:ext>
            </a:extLst>
          </p:cNvPr>
          <p:cNvSpPr txBox="1"/>
          <p:nvPr/>
        </p:nvSpPr>
        <p:spPr>
          <a:xfrm>
            <a:off x="3470910" y="1335084"/>
            <a:ext cx="224028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edge maps</a:t>
            </a:r>
            <a:endParaRPr lang="en-US" sz="1250" dirty="0"/>
          </a:p>
        </p:txBody>
      </p:sp>
      <p:sp>
        <p:nvSpPr>
          <p:cNvPr id="16" name="Text 8">
            <a:extLst>
              <a:ext uri="{FF2B5EF4-FFF2-40B4-BE49-F238E27FC236}">
                <a16:creationId xmlns:a16="http://schemas.microsoft.com/office/drawing/2014/main" id="{98301EA5-720E-C03E-718A-28D6F427DBAD}"/>
              </a:ext>
            </a:extLst>
          </p:cNvPr>
          <p:cNvSpPr txBox="1"/>
          <p:nvPr/>
        </p:nvSpPr>
        <p:spPr>
          <a:xfrm>
            <a:off x="3470910" y="1655124"/>
            <a:ext cx="2240280" cy="548640"/>
          </a:xfrm>
          <a:prstGeom prst="rect">
            <a:avLst/>
          </a:prstGeom>
          <a:noFill/>
          <a:ln/>
        </p:spPr>
        <p:txBody>
          <a:bodyPr wrap="square" lIns="0" tIns="0" rIns="0" bIns="0" rtlCol="0" anchor="ctr"/>
          <a:lstStyle/>
          <a:p>
            <a:pPr marL="0" indent="0">
              <a:buNone/>
            </a:pPr>
            <a:r>
              <a:rPr lang="en-US" sz="1050" dirty="0">
                <a:solidFill>
                  <a:srgbClr val="9AA0B4"/>
                </a:solidFill>
                <a:latin typeface="Calibri" pitchFamily="34" charset="0"/>
                <a:ea typeface="Calibri" pitchFamily="34" charset="-122"/>
                <a:cs typeface="Calibri" pitchFamily="34" charset="-120"/>
              </a:rPr>
              <a:t>model(image)[-1] saved as .png and .mat for the 200 test images</a:t>
            </a:r>
            <a:endParaRPr lang="en-US" sz="1050" dirty="0"/>
          </a:p>
        </p:txBody>
      </p:sp>
      <p:sp>
        <p:nvSpPr>
          <p:cNvPr id="18" name="Shape 9">
            <a:extLst>
              <a:ext uri="{FF2B5EF4-FFF2-40B4-BE49-F238E27FC236}">
                <a16:creationId xmlns:a16="http://schemas.microsoft.com/office/drawing/2014/main" id="{DC7E5AF1-C910-0910-C6A7-FC22C9B0C603}"/>
              </a:ext>
            </a:extLst>
          </p:cNvPr>
          <p:cNvSpPr/>
          <p:nvPr/>
        </p:nvSpPr>
        <p:spPr>
          <a:xfrm>
            <a:off x="5921502" y="1655124"/>
            <a:ext cx="173736" cy="182880"/>
          </a:xfrm>
          <a:prstGeom prst="rightArrow">
            <a:avLst/>
          </a:prstGeom>
          <a:solidFill>
            <a:srgbClr val="6B7280"/>
          </a:solidFill>
          <a:ln/>
        </p:spPr>
        <p:txBody>
          <a:bodyPr/>
          <a:lstStyle/>
          <a:p>
            <a:endParaRPr lang="en-US"/>
          </a:p>
        </p:txBody>
      </p:sp>
      <p:sp>
        <p:nvSpPr>
          <p:cNvPr id="20" name="Shape 10">
            <a:extLst>
              <a:ext uri="{FF2B5EF4-FFF2-40B4-BE49-F238E27FC236}">
                <a16:creationId xmlns:a16="http://schemas.microsoft.com/office/drawing/2014/main" id="{7C0E84ED-F37C-95A8-6526-B4D0EB1EA5A2}"/>
              </a:ext>
            </a:extLst>
          </p:cNvPr>
          <p:cNvSpPr/>
          <p:nvPr/>
        </p:nvSpPr>
        <p:spPr>
          <a:xfrm>
            <a:off x="6122670" y="1243644"/>
            <a:ext cx="2606040" cy="1005840"/>
          </a:xfrm>
          <a:prstGeom prst="roundRect">
            <a:avLst>
              <a:gd name="adj" fmla="val 7273"/>
            </a:avLst>
          </a:prstGeom>
          <a:solidFill>
            <a:srgbClr val="14161F"/>
          </a:solidFill>
          <a:ln/>
        </p:spPr>
        <p:txBody>
          <a:bodyPr/>
          <a:lstStyle/>
          <a:p>
            <a:endParaRPr lang="en-US"/>
          </a:p>
        </p:txBody>
      </p:sp>
      <p:sp>
        <p:nvSpPr>
          <p:cNvPr id="22" name="Text 11">
            <a:extLst>
              <a:ext uri="{FF2B5EF4-FFF2-40B4-BE49-F238E27FC236}">
                <a16:creationId xmlns:a16="http://schemas.microsoft.com/office/drawing/2014/main" id="{9AE3F0FB-B6B7-AD53-93CB-7F263884EB46}"/>
              </a:ext>
            </a:extLst>
          </p:cNvPr>
          <p:cNvSpPr txBox="1"/>
          <p:nvPr/>
        </p:nvSpPr>
        <p:spPr>
          <a:xfrm>
            <a:off x="6305550" y="1335084"/>
            <a:ext cx="224028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eval_ods_ois.py</a:t>
            </a:r>
            <a:endParaRPr lang="en-US" sz="1250" dirty="0"/>
          </a:p>
        </p:txBody>
      </p:sp>
      <p:sp>
        <p:nvSpPr>
          <p:cNvPr id="24" name="Text 12">
            <a:extLst>
              <a:ext uri="{FF2B5EF4-FFF2-40B4-BE49-F238E27FC236}">
                <a16:creationId xmlns:a16="http://schemas.microsoft.com/office/drawing/2014/main" id="{C0007D81-B7DC-F6EB-13E7-D293A142485B}"/>
              </a:ext>
            </a:extLst>
          </p:cNvPr>
          <p:cNvSpPr txBox="1"/>
          <p:nvPr/>
        </p:nvSpPr>
        <p:spPr>
          <a:xfrm>
            <a:off x="6305550" y="1655124"/>
            <a:ext cx="2240280" cy="548640"/>
          </a:xfrm>
          <a:prstGeom prst="rect">
            <a:avLst/>
          </a:prstGeom>
          <a:noFill/>
          <a:ln/>
        </p:spPr>
        <p:txBody>
          <a:bodyPr wrap="square" lIns="0" tIns="0" rIns="0" bIns="0" rtlCol="0" anchor="ctr"/>
          <a:lstStyle/>
          <a:p>
            <a:pPr marL="0" indent="0">
              <a:buNone/>
            </a:pPr>
            <a:r>
              <a:rPr lang="en-US" sz="1050" dirty="0">
                <a:solidFill>
                  <a:srgbClr val="9AA0B4"/>
                </a:solidFill>
                <a:latin typeface="Calibri" pitchFamily="34" charset="0"/>
                <a:ea typeface="Calibri" pitchFamily="34" charset="-122"/>
                <a:cs typeface="Calibri" pitchFamily="34" charset="-120"/>
              </a:rPr>
              <a:t>match edges to the human annotations at 25 thresholds</a:t>
            </a:r>
            <a:endParaRPr lang="en-US" sz="1050" dirty="0"/>
          </a:p>
        </p:txBody>
      </p:sp>
      <p:sp>
        <p:nvSpPr>
          <p:cNvPr id="26" name="Shape 13">
            <a:extLst>
              <a:ext uri="{FF2B5EF4-FFF2-40B4-BE49-F238E27FC236}">
                <a16:creationId xmlns:a16="http://schemas.microsoft.com/office/drawing/2014/main" id="{CC141318-B690-C2F4-B2CC-3326FC7872DB}"/>
              </a:ext>
            </a:extLst>
          </p:cNvPr>
          <p:cNvSpPr/>
          <p:nvPr/>
        </p:nvSpPr>
        <p:spPr>
          <a:xfrm>
            <a:off x="8756142" y="1655124"/>
            <a:ext cx="173736" cy="182880"/>
          </a:xfrm>
          <a:prstGeom prst="rightArrow">
            <a:avLst/>
          </a:prstGeom>
          <a:solidFill>
            <a:srgbClr val="6B7280"/>
          </a:solidFill>
          <a:ln/>
        </p:spPr>
        <p:txBody>
          <a:bodyPr/>
          <a:lstStyle/>
          <a:p>
            <a:endParaRPr lang="en-US"/>
          </a:p>
        </p:txBody>
      </p:sp>
      <p:sp>
        <p:nvSpPr>
          <p:cNvPr id="28" name="Shape 14">
            <a:extLst>
              <a:ext uri="{FF2B5EF4-FFF2-40B4-BE49-F238E27FC236}">
                <a16:creationId xmlns:a16="http://schemas.microsoft.com/office/drawing/2014/main" id="{DDBAF9D2-065A-46EF-E396-B499FA249FBB}"/>
              </a:ext>
            </a:extLst>
          </p:cNvPr>
          <p:cNvSpPr/>
          <p:nvPr/>
        </p:nvSpPr>
        <p:spPr>
          <a:xfrm>
            <a:off x="8957310" y="1243644"/>
            <a:ext cx="2606040" cy="1005840"/>
          </a:xfrm>
          <a:prstGeom prst="roundRect">
            <a:avLst>
              <a:gd name="adj" fmla="val 7273"/>
            </a:avLst>
          </a:prstGeom>
          <a:solidFill>
            <a:srgbClr val="1E2233"/>
          </a:solidFill>
          <a:ln/>
        </p:spPr>
        <p:txBody>
          <a:bodyPr/>
          <a:lstStyle/>
          <a:p>
            <a:endParaRPr lang="en-US"/>
          </a:p>
        </p:txBody>
      </p:sp>
      <p:sp>
        <p:nvSpPr>
          <p:cNvPr id="30" name="Text 15">
            <a:extLst>
              <a:ext uri="{FF2B5EF4-FFF2-40B4-BE49-F238E27FC236}">
                <a16:creationId xmlns:a16="http://schemas.microsoft.com/office/drawing/2014/main" id="{7AEB467C-DACB-75F0-4A0D-CD730D460C7D}"/>
              </a:ext>
            </a:extLst>
          </p:cNvPr>
          <p:cNvSpPr txBox="1"/>
          <p:nvPr/>
        </p:nvSpPr>
        <p:spPr>
          <a:xfrm>
            <a:off x="9140190" y="1335084"/>
            <a:ext cx="224028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ODS / OIS</a:t>
            </a:r>
            <a:endParaRPr lang="en-US" sz="1250" dirty="0"/>
          </a:p>
        </p:txBody>
      </p:sp>
      <p:sp>
        <p:nvSpPr>
          <p:cNvPr id="32" name="Text 16">
            <a:extLst>
              <a:ext uri="{FF2B5EF4-FFF2-40B4-BE49-F238E27FC236}">
                <a16:creationId xmlns:a16="http://schemas.microsoft.com/office/drawing/2014/main" id="{2D42DA5A-07A5-E206-48E1-7F03E337340F}"/>
              </a:ext>
            </a:extLst>
          </p:cNvPr>
          <p:cNvSpPr txBox="1"/>
          <p:nvPr/>
        </p:nvSpPr>
        <p:spPr>
          <a:xfrm>
            <a:off x="9140190" y="1655124"/>
            <a:ext cx="2240280" cy="548640"/>
          </a:xfrm>
          <a:prstGeom prst="rect">
            <a:avLst/>
          </a:prstGeom>
          <a:noFill/>
          <a:ln/>
        </p:spPr>
        <p:txBody>
          <a:bodyPr wrap="square" lIns="0" tIns="0" rIns="0" bIns="0" rtlCol="0" anchor="ctr"/>
          <a:lstStyle/>
          <a:p>
            <a:pPr marL="0" indent="0">
              <a:buNone/>
            </a:pPr>
            <a:r>
              <a:rPr lang="en-US" sz="1050" dirty="0">
                <a:solidFill>
                  <a:srgbClr val="9AA0B4"/>
                </a:solidFill>
                <a:latin typeface="Calibri" pitchFamily="34" charset="0"/>
                <a:ea typeface="Calibri" pitchFamily="34" charset="-122"/>
                <a:cs typeface="Calibri" pitchFamily="34" charset="-120"/>
              </a:rPr>
              <a:t>dataset-level and per-image best F-measure</a:t>
            </a:r>
            <a:endParaRPr lang="en-US" sz="1050" dirty="0"/>
          </a:p>
        </p:txBody>
      </p:sp>
      <p:sp>
        <p:nvSpPr>
          <p:cNvPr id="34" name="Shape 17">
            <a:extLst>
              <a:ext uri="{FF2B5EF4-FFF2-40B4-BE49-F238E27FC236}">
                <a16:creationId xmlns:a16="http://schemas.microsoft.com/office/drawing/2014/main" id="{D28D62C9-5EF1-C326-8324-370A3540FD4B}"/>
              </a:ext>
            </a:extLst>
          </p:cNvPr>
          <p:cNvSpPr/>
          <p:nvPr/>
        </p:nvSpPr>
        <p:spPr>
          <a:xfrm>
            <a:off x="453390" y="2478084"/>
            <a:ext cx="6035040" cy="3383280"/>
          </a:xfrm>
          <a:prstGeom prst="roundRect">
            <a:avLst>
              <a:gd name="adj" fmla="val 2162"/>
            </a:avLst>
          </a:prstGeom>
          <a:solidFill>
            <a:srgbClr val="14161F"/>
          </a:solidFill>
          <a:ln/>
        </p:spPr>
        <p:txBody>
          <a:bodyPr/>
          <a:lstStyle/>
          <a:p>
            <a:endParaRPr lang="en-US"/>
          </a:p>
        </p:txBody>
      </p:sp>
      <p:sp>
        <p:nvSpPr>
          <p:cNvPr id="36" name="Text 18">
            <a:extLst>
              <a:ext uri="{FF2B5EF4-FFF2-40B4-BE49-F238E27FC236}">
                <a16:creationId xmlns:a16="http://schemas.microsoft.com/office/drawing/2014/main" id="{AECC3E0F-0717-3156-796B-D0B89A424A80}"/>
              </a:ext>
            </a:extLst>
          </p:cNvPr>
          <p:cNvSpPr txBox="1"/>
          <p:nvPr/>
        </p:nvSpPr>
        <p:spPr>
          <a:xfrm>
            <a:off x="681990" y="2596956"/>
            <a:ext cx="557784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eval_ods_ois.py: the core, per threshold t</a:t>
            </a:r>
            <a:endParaRPr lang="en-US" sz="1250" dirty="0"/>
          </a:p>
        </p:txBody>
      </p:sp>
      <p:sp>
        <p:nvSpPr>
          <p:cNvPr id="38" name="Text 19">
            <a:extLst>
              <a:ext uri="{FF2B5EF4-FFF2-40B4-BE49-F238E27FC236}">
                <a16:creationId xmlns:a16="http://schemas.microsoft.com/office/drawing/2014/main" id="{09102CC7-296B-482E-6644-160B5AE3E465}"/>
              </a:ext>
            </a:extLst>
          </p:cNvPr>
          <p:cNvSpPr txBox="1"/>
          <p:nvPr/>
        </p:nvSpPr>
        <p:spPr>
          <a:xfrm>
            <a:off x="681990" y="2981004"/>
            <a:ext cx="5577840" cy="2743200"/>
          </a:xfrm>
          <a:prstGeom prst="rect">
            <a:avLst/>
          </a:prstGeom>
          <a:noFill/>
          <a:ln/>
        </p:spPr>
        <p:txBody>
          <a:bodyPr wrap="square" lIns="0" tIns="0" rIns="0" bIns="0" rtlCol="0" anchor="t"/>
          <a:lstStyle/>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pred_thin = skeletonize(pred &gt;= t)     # 1-pixel-wide edges</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pred_pts  = np.argwhere(pred_thin)</a:t>
            </a:r>
            <a:endParaRPr lang="en-US" sz="950" dirty="0"/>
          </a:p>
          <a:p>
            <a:pPr marL="0" indent="0">
              <a:lnSpc>
                <a:spcPct val="108000"/>
              </a:lnSpc>
              <a:buNone/>
            </a:pP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d_gt, _   = gt_tree.query(pred_pts)    # nearest GT pixel</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tp_p = (d_gt &lt;= max_dist).sum()        # predicted pixels that hit</a:t>
            </a:r>
            <a:endParaRPr lang="en-US" sz="950" dirty="0"/>
          </a:p>
          <a:p>
            <a:pPr marL="0" indent="0">
              <a:lnSpc>
                <a:spcPct val="108000"/>
              </a:lnSpc>
              <a:buNone/>
            </a:pP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d_pred, _ = cKDTree(pred_pts).query(gt_pts)</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tp_r = (d_pred &lt;= max_dist).sum()      # GT pixels that were found</a:t>
            </a:r>
            <a:endParaRPr lang="en-US" sz="950" dirty="0"/>
          </a:p>
          <a:p>
            <a:pPr marL="0" indent="0">
              <a:lnSpc>
                <a:spcPct val="108000"/>
              </a:lnSpc>
              <a:buNone/>
            </a:pP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precision = tp_p / len(pred_pts)</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recall    = tp_r / len(gt_pts)</a:t>
            </a:r>
            <a:endParaRPr lang="en-US" sz="950" dirty="0"/>
          </a:p>
        </p:txBody>
      </p:sp>
      <p:sp>
        <p:nvSpPr>
          <p:cNvPr id="41" name="Shape 20">
            <a:extLst>
              <a:ext uri="{FF2B5EF4-FFF2-40B4-BE49-F238E27FC236}">
                <a16:creationId xmlns:a16="http://schemas.microsoft.com/office/drawing/2014/main" id="{0EF3AAEA-E2A6-4A93-97E9-525E4C18FF2C}"/>
              </a:ext>
            </a:extLst>
          </p:cNvPr>
          <p:cNvSpPr/>
          <p:nvPr/>
        </p:nvSpPr>
        <p:spPr>
          <a:xfrm>
            <a:off x="6717030" y="2478084"/>
            <a:ext cx="4846320" cy="1600200"/>
          </a:xfrm>
          <a:prstGeom prst="roundRect">
            <a:avLst>
              <a:gd name="adj" fmla="val 4571"/>
            </a:avLst>
          </a:prstGeom>
          <a:solidFill>
            <a:srgbClr val="F4F5F7"/>
          </a:solidFill>
          <a:ln/>
        </p:spPr>
        <p:txBody>
          <a:bodyPr/>
          <a:lstStyle/>
          <a:p>
            <a:endParaRPr lang="en-US"/>
          </a:p>
        </p:txBody>
      </p:sp>
      <p:sp>
        <p:nvSpPr>
          <p:cNvPr id="44" name="Text 21">
            <a:extLst>
              <a:ext uri="{FF2B5EF4-FFF2-40B4-BE49-F238E27FC236}">
                <a16:creationId xmlns:a16="http://schemas.microsoft.com/office/drawing/2014/main" id="{CA64EA92-90C9-C06A-01A9-32F3631574A5}"/>
              </a:ext>
            </a:extLst>
          </p:cNvPr>
          <p:cNvSpPr txBox="1"/>
          <p:nvPr/>
        </p:nvSpPr>
        <p:spPr>
          <a:xfrm>
            <a:off x="6945630" y="2606100"/>
            <a:ext cx="443484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How it is scored</a:t>
            </a:r>
            <a:endParaRPr lang="en-US" sz="1250" dirty="0"/>
          </a:p>
        </p:txBody>
      </p:sp>
      <p:sp>
        <p:nvSpPr>
          <p:cNvPr id="47" name="Text 22">
            <a:extLst>
              <a:ext uri="{FF2B5EF4-FFF2-40B4-BE49-F238E27FC236}">
                <a16:creationId xmlns:a16="http://schemas.microsoft.com/office/drawing/2014/main" id="{13B55C44-6E64-404C-C5C1-E12F0774A7B2}"/>
              </a:ext>
            </a:extLst>
          </p:cNvPr>
          <p:cNvSpPr txBox="1"/>
          <p:nvPr/>
        </p:nvSpPr>
        <p:spPr>
          <a:xfrm>
            <a:off x="6945630" y="2935284"/>
            <a:ext cx="4434840" cy="105156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Ground truth = union of all annotators. max_dist = 0.0075 x image diagonal (about 4 px). ODS pools the counts over all 200 images and takes the best threshold; OIS takes each image's own best threshold and averages.</a:t>
            </a:r>
            <a:endParaRPr lang="en-US" sz="1050" dirty="0"/>
          </a:p>
        </p:txBody>
      </p:sp>
      <p:sp>
        <p:nvSpPr>
          <p:cNvPr id="50" name="Shape 23">
            <a:extLst>
              <a:ext uri="{FF2B5EF4-FFF2-40B4-BE49-F238E27FC236}">
                <a16:creationId xmlns:a16="http://schemas.microsoft.com/office/drawing/2014/main" id="{AF7DEF0B-8494-34D8-1F12-52D2AE97EB8D}"/>
              </a:ext>
            </a:extLst>
          </p:cNvPr>
          <p:cNvSpPr/>
          <p:nvPr/>
        </p:nvSpPr>
        <p:spPr>
          <a:xfrm>
            <a:off x="6717030" y="4188012"/>
            <a:ext cx="4846320" cy="1673352"/>
          </a:xfrm>
          <a:prstGeom prst="roundRect">
            <a:avLst>
              <a:gd name="adj" fmla="val 4372"/>
            </a:avLst>
          </a:prstGeom>
          <a:solidFill>
            <a:srgbClr val="FFF4E5"/>
          </a:solidFill>
          <a:ln/>
        </p:spPr>
        <p:txBody>
          <a:bodyPr/>
          <a:lstStyle/>
          <a:p>
            <a:endParaRPr lang="en-US"/>
          </a:p>
        </p:txBody>
      </p:sp>
      <p:sp>
        <p:nvSpPr>
          <p:cNvPr id="53" name="Text 24">
            <a:extLst>
              <a:ext uri="{FF2B5EF4-FFF2-40B4-BE49-F238E27FC236}">
                <a16:creationId xmlns:a16="http://schemas.microsoft.com/office/drawing/2014/main" id="{729F3B30-D6D2-B1A6-9075-4CB2D2B63CA9}"/>
              </a:ext>
            </a:extLst>
          </p:cNvPr>
          <p:cNvSpPr txBox="1"/>
          <p:nvPr/>
        </p:nvSpPr>
        <p:spPr>
          <a:xfrm>
            <a:off x="6945630" y="4316028"/>
            <a:ext cx="4434840" cy="310896"/>
          </a:xfrm>
          <a:prstGeom prst="rect">
            <a:avLst/>
          </a:prstGeom>
          <a:noFill/>
          <a:ln/>
        </p:spPr>
        <p:txBody>
          <a:bodyPr wrap="square" lIns="0" tIns="0" rIns="0" bIns="0" rtlCol="0" anchor="ctr"/>
          <a:lstStyle/>
          <a:p>
            <a:pPr marL="0" indent="0">
              <a:buNone/>
            </a:pPr>
            <a:r>
              <a:rPr lang="en-US" sz="1250" b="1" dirty="0">
                <a:solidFill>
                  <a:srgbClr val="9A5B00"/>
                </a:solidFill>
                <a:latin typeface="Cambria" pitchFamily="34" charset="0"/>
                <a:ea typeface="Cambria" pitchFamily="34" charset="-122"/>
                <a:cs typeface="Cambria" pitchFamily="34" charset="-120"/>
              </a:rPr>
              <a:t>Why it is only approximate</a:t>
            </a:r>
            <a:endParaRPr lang="en-US" sz="1250" dirty="0"/>
          </a:p>
        </p:txBody>
      </p:sp>
      <p:sp>
        <p:nvSpPr>
          <p:cNvPr id="56" name="Text 25">
            <a:extLst>
              <a:ext uri="{FF2B5EF4-FFF2-40B4-BE49-F238E27FC236}">
                <a16:creationId xmlns:a16="http://schemas.microsoft.com/office/drawing/2014/main" id="{0F970B44-87F5-1A21-046C-CA56F216F27B}"/>
              </a:ext>
            </a:extLst>
          </p:cNvPr>
          <p:cNvSpPr txBox="1"/>
          <p:nvPr/>
        </p:nvSpPr>
        <p:spPr>
          <a:xfrm>
            <a:off x="6945630" y="4645212"/>
            <a:ext cx="4434840" cy="1124712"/>
          </a:xfrm>
          <a:prstGeom prst="rect">
            <a:avLst/>
          </a:prstGeom>
          <a:noFill/>
          <a:ln/>
        </p:spPr>
        <p:txBody>
          <a:bodyPr wrap="square" lIns="0" tIns="0" rIns="0" bIns="0" rtlCol="0" anchor="t"/>
          <a:lstStyle/>
          <a:p>
            <a:pPr marL="0" indent="0">
              <a:lnSpc>
                <a:spcPct val="115000"/>
              </a:lnSpc>
              <a:buNone/>
            </a:pPr>
            <a:r>
              <a:rPr lang="en-US" sz="1050" dirty="0">
                <a:solidFill>
                  <a:srgbClr val="6B4400"/>
                </a:solidFill>
                <a:latin typeface="Calibri" pitchFamily="34" charset="0"/>
                <a:ea typeface="Calibri" pitchFamily="34" charset="-122"/>
                <a:cs typeface="Calibri" pitchFamily="34" charset="-120"/>
              </a:rPr>
              <a:t>The official benchmark matches pixels one-to-one; we use nearest-neighbour distance. Checked on the paper's checkpoints: 0.792 / 0.802 vs official 0.798 / 0.816 (baseline), 0.798 / 0.809 vs 0.807 / 0.823 (full).</a:t>
            </a:r>
            <a:endParaRPr lang="en-US" sz="1050" dirty="0"/>
          </a:p>
        </p:txBody>
      </p:sp>
    </p:spTree>
    <p:extLst>
      <p:ext uri="{BB962C8B-B14F-4D97-AF65-F5344CB8AC3E}">
        <p14:creationId xmlns:p14="http://schemas.microsoft.com/office/powerpoint/2010/main" val="710685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9C3B1-D38B-6E85-A4C9-96A574D8B40B}"/>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46668936-CFF9-7135-0E95-EAB2E6392D1C}"/>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9592FF73-AA9A-8076-DC12-5D744DC82558}"/>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72BF3377-5200-384C-825A-0236F00D01D4}"/>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79ADE6D0-44FB-A877-AEC9-A1A589C833A9}"/>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14</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2CFB5C5E-62B0-11D6-E222-58BFF57CFB2F}"/>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8DA0D244-A09B-B829-4C17-A2BD1930CF74}"/>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494CC8BD-91F0-E50A-A8CC-915A0FBFA5D5}"/>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561C2F0F-7C23-B3C0-4FF8-43A4B421F6AD}"/>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Implementation on </a:t>
            </a:r>
            <a:r>
              <a:rPr lang="en-US" sz="2400" b="1" spc="-1" dirty="0">
                <a:solidFill>
                  <a:schemeClr val="dk1"/>
                </a:solidFill>
                <a:effectLst>
                  <a:outerShdw blurRad="38100" dist="38100" dir="2700000" algn="tl">
                    <a:srgbClr val="000000">
                      <a:alpha val="43137"/>
                    </a:srgbClr>
                  </a:outerShdw>
                </a:effectLst>
                <a:latin typeface="Aptos Display"/>
              </a:rPr>
              <a:t>BSDS500</a:t>
            </a:r>
            <a:r>
              <a:rPr lang="en-US" sz="2400" b="1" spc="-1" dirty="0">
                <a:solidFill>
                  <a:schemeClr val="dk1"/>
                </a:solidFill>
                <a:latin typeface="Aptos Display"/>
              </a:rPr>
              <a:t> Dataset</a:t>
            </a:r>
            <a:endParaRPr lang="en-US" sz="3200" b="1" spc="-1" dirty="0">
              <a:solidFill>
                <a:schemeClr val="dk1"/>
              </a:solidFill>
              <a:latin typeface="Aptos Display"/>
            </a:endParaRPr>
          </a:p>
        </p:txBody>
      </p:sp>
      <p:graphicFrame>
        <p:nvGraphicFramePr>
          <p:cNvPr id="24" name="Table 0">
            <a:extLst>
              <a:ext uri="{FF2B5EF4-FFF2-40B4-BE49-F238E27FC236}">
                <a16:creationId xmlns:a16="http://schemas.microsoft.com/office/drawing/2014/main" id="{F7A9C1CF-A144-BC46-8748-9D95145D7661}"/>
              </a:ext>
            </a:extLst>
          </p:cNvPr>
          <p:cNvGraphicFramePr>
            <a:graphicFrameLocks noGrp="1"/>
          </p:cNvGraphicFramePr>
          <p:nvPr>
            <p:extLst>
              <p:ext uri="{D42A27DB-BD31-4B8C-83A1-F6EECF244321}">
                <p14:modId xmlns:p14="http://schemas.microsoft.com/office/powerpoint/2010/main" val="793649961"/>
              </p:ext>
            </p:extLst>
          </p:nvPr>
        </p:nvGraphicFramePr>
        <p:xfrm>
          <a:off x="640080" y="1187777"/>
          <a:ext cx="9509760" cy="4207184"/>
        </p:xfrm>
        <a:graphic>
          <a:graphicData uri="http://schemas.openxmlformats.org/drawingml/2006/table">
            <a:tbl>
              <a:tblPr/>
              <a:tblGrid>
                <a:gridCol w="3840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2589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Params</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ODS</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OIS</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FPS</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161F"/>
                    </a:solidFill>
                  </a:tcPr>
                </a:tc>
                <a:extLst>
                  <a:ext uri="{0D108BD9-81ED-4DB2-BD59-A6C34878D82A}">
                    <a16:rowId xmlns:a16="http://schemas.microsoft.com/office/drawing/2014/main" val="10000"/>
                  </a:ext>
                </a:extLst>
              </a:tr>
              <a:tr h="525898">
                <a:tc>
                  <a:txBody>
                    <a:bodyPr/>
                    <a:lstStyle/>
                    <a:p>
                      <a:pPr marL="0" indent="0" algn="l">
                        <a:buNone/>
                      </a:pPr>
                      <a:r>
                        <a:rPr lang="en-US" sz="1200" b="1" dirty="0">
                          <a:solidFill>
                            <a:srgbClr val="1A1D26"/>
                          </a:solidFill>
                          <a:latin typeface="Calibri" pitchFamily="34" charset="0"/>
                          <a:ea typeface="Calibri" pitchFamily="34" charset="-122"/>
                          <a:cs typeface="Calibri" pitchFamily="34" charset="-120"/>
                        </a:rPr>
                        <a:t>Baseline (vanilla CNN)</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2.7M</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0.798</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0.816</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101</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5898">
                <a:tc>
                  <a:txBody>
                    <a:bodyPr/>
                    <a:lstStyle/>
                    <a:p>
                      <a:pPr marL="0" indent="0" algn="l">
                        <a:buNone/>
                      </a:pPr>
                      <a:r>
                        <a:rPr lang="en-US" sz="1200" b="1" dirty="0">
                          <a:solidFill>
                            <a:srgbClr val="14161F"/>
                          </a:solidFill>
                          <a:latin typeface="Calibri" pitchFamily="34" charset="0"/>
                          <a:ea typeface="Calibri" pitchFamily="34" charset="-122"/>
                          <a:cs typeface="Calibri" pitchFamily="34" charset="-120"/>
                        </a:rPr>
                        <a:t>PiDiNet (full)</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0.71M</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0.807</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0.823</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96</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extLst>
                  <a:ext uri="{0D108BD9-81ED-4DB2-BD59-A6C34878D82A}">
                    <a16:rowId xmlns:a16="http://schemas.microsoft.com/office/drawing/2014/main" val="10002"/>
                  </a:ext>
                </a:extLst>
              </a:tr>
              <a:tr h="525898">
                <a:tc>
                  <a:txBody>
                    <a:bodyPr/>
                    <a:lstStyle/>
                    <a:p>
                      <a:pPr marL="0" indent="0" algn="l">
                        <a:buNone/>
                      </a:pPr>
                      <a:r>
                        <a:rPr lang="en-US" sz="1200" b="1" dirty="0">
                          <a:solidFill>
                            <a:srgbClr val="14161F"/>
                          </a:solidFill>
                          <a:latin typeface="Calibri" pitchFamily="34" charset="0"/>
                          <a:ea typeface="Calibri" pitchFamily="34" charset="-122"/>
                          <a:cs typeface="Calibri" pitchFamily="34" charset="-120"/>
                        </a:rPr>
                        <a:t>PiDiNet-L</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0.71M</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0.800</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0.815</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4161F"/>
                          </a:solidFill>
                          <a:latin typeface="Calibri" pitchFamily="34" charset="0"/>
                          <a:ea typeface="Calibri" pitchFamily="34" charset="-122"/>
                          <a:cs typeface="Calibri" pitchFamily="34" charset="-120"/>
                        </a:rPr>
                        <a:t>135</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5898">
                <a:tc>
                  <a:txBody>
                    <a:bodyPr/>
                    <a:lstStyle/>
                    <a:p>
                      <a:pPr marL="0" indent="0" algn="l">
                        <a:buNone/>
                      </a:pPr>
                      <a:r>
                        <a:rPr lang="en-US" sz="1200" b="1" dirty="0">
                          <a:solidFill>
                            <a:srgbClr val="1A1D26"/>
                          </a:solidFill>
                          <a:latin typeface="Calibri" pitchFamily="34" charset="0"/>
                          <a:ea typeface="Calibri" pitchFamily="34" charset="-122"/>
                          <a:cs typeface="Calibri" pitchFamily="34" charset="-120"/>
                        </a:rPr>
                        <a:t>PiDiNet-Small</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0.22M</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0.798</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0.814</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161</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4F5F7"/>
                    </a:solidFill>
                  </a:tcPr>
                </a:tc>
                <a:extLst>
                  <a:ext uri="{0D108BD9-81ED-4DB2-BD59-A6C34878D82A}">
                    <a16:rowId xmlns:a16="http://schemas.microsoft.com/office/drawing/2014/main" val="10004"/>
                  </a:ext>
                </a:extLst>
              </a:tr>
              <a:tr h="525898">
                <a:tc>
                  <a:txBody>
                    <a:bodyPr/>
                    <a:lstStyle/>
                    <a:p>
                      <a:pPr marL="0" indent="0" algn="l">
                        <a:buNone/>
                      </a:pPr>
                      <a:r>
                        <a:rPr lang="en-US" sz="1200" b="1" dirty="0">
                          <a:solidFill>
                            <a:srgbClr val="1A1D26"/>
                          </a:solidFill>
                          <a:latin typeface="Calibri" pitchFamily="34" charset="0"/>
                          <a:ea typeface="Calibri" pitchFamily="34" charset="-122"/>
                          <a:cs typeface="Calibri" pitchFamily="34" charset="-120"/>
                        </a:rPr>
                        <a:t>PiDiNet-Tiny</a:t>
                      </a:r>
                      <a:endParaRPr lang="en-US" sz="12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0.07M</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0.789</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0.806</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A1D26"/>
                          </a:solidFill>
                          <a:latin typeface="Calibri" pitchFamily="34" charset="0"/>
                          <a:ea typeface="Calibri" pitchFamily="34" charset="-122"/>
                          <a:cs typeface="Calibri" pitchFamily="34" charset="-120"/>
                        </a:rPr>
                        <a:t>182</a:t>
                      </a:r>
                      <a:endParaRPr lang="en-US" sz="1200" b="1"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5898">
                <a:tc>
                  <a:txBody>
                    <a:bodyPr/>
                    <a:lstStyle/>
                    <a:p>
                      <a:pPr marL="0" indent="0" algn="l">
                        <a:buNone/>
                      </a:pPr>
                      <a:r>
                        <a:rPr lang="en-US" sz="1200" b="1" i="1" dirty="0">
                          <a:solidFill>
                            <a:schemeClr val="tx1"/>
                          </a:solidFill>
                          <a:latin typeface="Calibri" pitchFamily="34" charset="0"/>
                          <a:ea typeface="Calibri" pitchFamily="34" charset="-122"/>
                          <a:cs typeface="Calibri" pitchFamily="34" charset="-120"/>
                        </a:rPr>
                        <a:t>Training: Baseline CNN, retrained (RTX 4050) | 3 epoch</a:t>
                      </a:r>
                      <a:endParaRPr lang="en-US" sz="1200"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2.7M</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0.777*</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0.788*</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30.4</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6"/>
                  </a:ext>
                </a:extLst>
              </a:tr>
              <a:tr h="525898">
                <a:tc>
                  <a:txBody>
                    <a:bodyPr/>
                    <a:lstStyle/>
                    <a:p>
                      <a:pPr marL="0" indent="0" algn="l">
                        <a:buNone/>
                      </a:pPr>
                      <a:r>
                        <a:rPr lang="en-US" sz="1200" b="1" i="1" dirty="0">
                          <a:solidFill>
                            <a:schemeClr val="tx1"/>
                          </a:solidFill>
                          <a:latin typeface="Calibri" pitchFamily="34" charset="0"/>
                          <a:ea typeface="Calibri" pitchFamily="34" charset="-122"/>
                          <a:cs typeface="Calibri" pitchFamily="34" charset="-120"/>
                        </a:rPr>
                        <a:t>Training: PiDiNet-full, retrained (RTX 4050)  | 3 epoch</a:t>
                      </a:r>
                      <a:endParaRPr lang="en-US" sz="1200"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0.71M</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0.781*</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0.790*</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tc>
                  <a:txBody>
                    <a:bodyPr/>
                    <a:lstStyle/>
                    <a:p>
                      <a:pPr marL="0" indent="0" algn="ctr">
                        <a:buNone/>
                      </a:pPr>
                      <a:r>
                        <a:rPr lang="en-US" sz="1200" b="1" i="1" dirty="0">
                          <a:solidFill>
                            <a:schemeClr val="tx1"/>
                          </a:solidFill>
                          <a:latin typeface="Calibri" pitchFamily="34" charset="0"/>
                          <a:ea typeface="Calibri" pitchFamily="34" charset="-122"/>
                          <a:cs typeface="Calibri" pitchFamily="34" charset="-120"/>
                        </a:rPr>
                        <a:t>27.7</a:t>
                      </a:r>
                      <a:endParaRPr lang="en-US" sz="1200" b="1" dirty="0">
                        <a:solidFill>
                          <a:schemeClr val="tx1"/>
                        </a:solidFill>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
        <p:nvSpPr>
          <p:cNvPr id="27" name="Text 2">
            <a:extLst>
              <a:ext uri="{FF2B5EF4-FFF2-40B4-BE49-F238E27FC236}">
                <a16:creationId xmlns:a16="http://schemas.microsoft.com/office/drawing/2014/main" id="{9E0F20AC-EB17-7921-C6C5-14AA4CE3A1E4}"/>
              </a:ext>
            </a:extLst>
          </p:cNvPr>
          <p:cNvSpPr txBox="1"/>
          <p:nvPr/>
        </p:nvSpPr>
        <p:spPr>
          <a:xfrm>
            <a:off x="640080" y="5532120"/>
            <a:ext cx="10515600" cy="777240"/>
          </a:xfrm>
          <a:prstGeom prst="rect">
            <a:avLst/>
          </a:prstGeom>
          <a:noFill/>
          <a:ln/>
        </p:spPr>
        <p:txBody>
          <a:bodyPr wrap="square" lIns="0" tIns="0" rIns="0" bIns="0" rtlCol="0" anchor="ctr"/>
          <a:lstStyle/>
          <a:p>
            <a:pPr marL="0" indent="0">
              <a:lnSpc>
                <a:spcPct val="115000"/>
              </a:lnSpc>
              <a:buNone/>
            </a:pPr>
            <a:r>
              <a:rPr lang="en-US" sz="1050" i="1" dirty="0">
                <a:solidFill>
                  <a:srgbClr val="6B7280"/>
                </a:solidFill>
                <a:latin typeface="Calibri" pitchFamily="34" charset="0"/>
                <a:ea typeface="Calibri" pitchFamily="34" charset="-122"/>
                <a:cs typeface="Calibri" pitchFamily="34" charset="-120"/>
              </a:rPr>
              <a:t>PiDiNet-Tiny keeps 98% of the full model's ODS with 10x fewer parameters - the paper's efficiency headline. </a:t>
            </a:r>
          </a:p>
          <a:p>
            <a:pPr marL="0" indent="0">
              <a:lnSpc>
                <a:spcPct val="115000"/>
              </a:lnSpc>
              <a:buNone/>
            </a:pPr>
            <a:r>
              <a:rPr lang="en-US" sz="1050" i="1" dirty="0">
                <a:solidFill>
                  <a:srgbClr val="6B7280"/>
                </a:solidFill>
                <a:latin typeface="Calibri" pitchFamily="34" charset="0"/>
                <a:ea typeface="Calibri" pitchFamily="34" charset="-122"/>
                <a:cs typeface="Calibri" pitchFamily="34" charset="-120"/>
              </a:rPr>
              <a:t>*Our rows: no MATLAB, so ODS/OIS come from our own Python evaluator (nearest-neighbor pixel matching, not the official bipartite correspondence) – </a:t>
            </a:r>
          </a:p>
          <a:p>
            <a:pPr marL="0" indent="0">
              <a:lnSpc>
                <a:spcPct val="115000"/>
              </a:lnSpc>
              <a:buNone/>
            </a:pPr>
            <a:r>
              <a:rPr lang="en-US" sz="1050" i="1" dirty="0">
                <a:solidFill>
                  <a:srgbClr val="6B7280"/>
                </a:solidFill>
                <a:latin typeface="Calibri" pitchFamily="34" charset="0"/>
                <a:ea typeface="Calibri" pitchFamily="34" charset="-122"/>
                <a:cs typeface="Calibri" pitchFamily="34" charset="-120"/>
              </a:rPr>
              <a:t>validated by re-scoring both PRETRAINED checkpoints with it first (baseline: 0.792/0.802 vs. official 0.798/0.816; full: 0.798/0.809 vs. official 0.807/0.823), both close matches. </a:t>
            </a:r>
          </a:p>
          <a:p>
            <a:pPr marL="0" indent="0">
              <a:lnSpc>
                <a:spcPct val="115000"/>
              </a:lnSpc>
              <a:buNone/>
            </a:pPr>
            <a:r>
              <a:rPr lang="en-US" sz="1050" i="1" dirty="0">
                <a:solidFill>
                  <a:srgbClr val="6B7280"/>
                </a:solidFill>
                <a:latin typeface="Calibri" pitchFamily="34" charset="0"/>
                <a:ea typeface="Calibri" pitchFamily="34" charset="-122"/>
                <a:cs typeface="Calibri" pitchFamily="34" charset="-120"/>
              </a:rPr>
              <a:t>Our 3-epoch retrains land ~0.02 below their pretrained, fully-trained counterparts</a:t>
            </a:r>
            <a:endParaRPr lang="en-US" sz="1050" dirty="0"/>
          </a:p>
        </p:txBody>
      </p:sp>
    </p:spTree>
    <p:extLst>
      <p:ext uri="{BB962C8B-B14F-4D97-AF65-F5344CB8AC3E}">
        <p14:creationId xmlns:p14="http://schemas.microsoft.com/office/powerpoint/2010/main" val="2241810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40F5F-FFFE-B18E-1DEE-CB8CEFDCBB33}"/>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B56F63BF-EFF3-08D6-2B3D-332FA56C1386}"/>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6DB80F02-50B1-9EF4-6162-D117B9A860D3}"/>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BE24371C-777E-4C15-CFE4-38BC10461BCF}"/>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5F5AD6E9-86BF-0F1A-E390-180CB3BD42C1}"/>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15</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6B0BE0D0-BFAB-3BBA-A948-B7577D576649}"/>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2CD2FA39-68DA-64EC-9D72-B02348DB7C5D}"/>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302515AD-C056-3BBE-3A4D-F5B1F439C08C}"/>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31388DCC-C782-104A-FEDC-A0F1FF7ED376}"/>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Training both PDC vs Vanilla</a:t>
            </a:r>
            <a:endParaRPr lang="en-US" sz="3200" b="1" spc="-1" dirty="0">
              <a:solidFill>
                <a:schemeClr val="dk1"/>
              </a:solidFill>
              <a:latin typeface="Aptos Display"/>
            </a:endParaRPr>
          </a:p>
        </p:txBody>
      </p:sp>
      <p:sp>
        <p:nvSpPr>
          <p:cNvPr id="3" name="Text 2">
            <a:extLst>
              <a:ext uri="{FF2B5EF4-FFF2-40B4-BE49-F238E27FC236}">
                <a16:creationId xmlns:a16="http://schemas.microsoft.com/office/drawing/2014/main" id="{AC45F9BF-883B-02B1-D56A-0434FD581FC1}"/>
              </a:ext>
            </a:extLst>
          </p:cNvPr>
          <p:cNvSpPr txBox="1"/>
          <p:nvPr/>
        </p:nvSpPr>
        <p:spPr>
          <a:xfrm>
            <a:off x="256730" y="580944"/>
            <a:ext cx="10226197" cy="640080"/>
          </a:xfrm>
          <a:prstGeom prst="rect">
            <a:avLst/>
          </a:prstGeom>
          <a:noFill/>
          <a:ln/>
        </p:spPr>
        <p:txBody>
          <a:bodyPr wrap="square" lIns="0" tIns="0" rIns="0" bIns="0" rtlCol="0" anchor="ctr"/>
          <a:lstStyle/>
          <a:p>
            <a:pPr marL="0" indent="0">
              <a:lnSpc>
                <a:spcPct val="125000"/>
              </a:lnSpc>
              <a:buNone/>
            </a:pPr>
            <a:r>
              <a:rPr lang="en-US" sz="1400" b="1" dirty="0">
                <a:solidFill>
                  <a:srgbClr val="1A1D26"/>
                </a:solidFill>
                <a:latin typeface="Calibri" pitchFamily="34" charset="0"/>
                <a:ea typeface="Calibri" pitchFamily="34" charset="-122"/>
                <a:cs typeface="Calibri" pitchFamily="34" charset="-120"/>
              </a:rPr>
              <a:t>We trained BOTH the vanilla baseline and the full PiDiNet </a:t>
            </a:r>
            <a:r>
              <a:rPr lang="en-US" sz="1400" dirty="0">
                <a:solidFill>
                  <a:srgbClr val="1A1D26"/>
                </a:solidFill>
                <a:latin typeface="Calibri" pitchFamily="34" charset="0"/>
                <a:ea typeface="Calibri" pitchFamily="34" charset="-122"/>
                <a:cs typeface="Calibri" pitchFamily="34" charset="-120"/>
              </a:rPr>
              <a:t>(config @ CPDC/APDC/RPDC) on the exact same 28,800-pair real dataset, same 3 epochs, same GPU — isolating the effect of the pixel-difference operators alone. </a:t>
            </a:r>
            <a:r>
              <a:rPr lang="en-US" sz="1400" b="1" dirty="0">
                <a:solidFill>
                  <a:srgbClr val="1A1D26"/>
                </a:solidFill>
                <a:latin typeface="Calibri" pitchFamily="34" charset="0"/>
                <a:ea typeface="Calibri" pitchFamily="34" charset="-122"/>
                <a:cs typeface="Calibri" pitchFamily="34" charset="-120"/>
              </a:rPr>
              <a:t>(Took 79Min CNN vs 92min PIDNET for 3 epochs)</a:t>
            </a:r>
            <a:endParaRPr lang="en-US" sz="1400" b="1" dirty="0"/>
          </a:p>
        </p:txBody>
      </p:sp>
      <p:sp>
        <p:nvSpPr>
          <p:cNvPr id="5" name="Shape 3">
            <a:extLst>
              <a:ext uri="{FF2B5EF4-FFF2-40B4-BE49-F238E27FC236}">
                <a16:creationId xmlns:a16="http://schemas.microsoft.com/office/drawing/2014/main" id="{825E5BEE-4EC6-4B83-6BF8-002CFB44F3C2}"/>
              </a:ext>
            </a:extLst>
          </p:cNvPr>
          <p:cNvSpPr/>
          <p:nvPr/>
        </p:nvSpPr>
        <p:spPr>
          <a:xfrm>
            <a:off x="472440" y="1739520"/>
            <a:ext cx="5257800" cy="2377440"/>
          </a:xfrm>
          <a:prstGeom prst="roundRect">
            <a:avLst>
              <a:gd name="adj" fmla="val 3077"/>
            </a:avLst>
          </a:prstGeom>
          <a:solidFill>
            <a:srgbClr val="1E2233"/>
          </a:solidFill>
          <a:ln/>
        </p:spPr>
        <p:txBody>
          <a:bodyPr/>
          <a:lstStyle/>
          <a:p>
            <a:endParaRPr lang="en-US"/>
          </a:p>
        </p:txBody>
      </p:sp>
      <p:sp>
        <p:nvSpPr>
          <p:cNvPr id="7" name="Text 4">
            <a:extLst>
              <a:ext uri="{FF2B5EF4-FFF2-40B4-BE49-F238E27FC236}">
                <a16:creationId xmlns:a16="http://schemas.microsoft.com/office/drawing/2014/main" id="{6BDAE0CC-A091-9F5A-6633-059C4C4F24A8}"/>
              </a:ext>
            </a:extLst>
          </p:cNvPr>
          <p:cNvSpPr txBox="1"/>
          <p:nvPr/>
        </p:nvSpPr>
        <p:spPr>
          <a:xfrm>
            <a:off x="792480" y="1968120"/>
            <a:ext cx="4617720" cy="365760"/>
          </a:xfrm>
          <a:prstGeom prst="rect">
            <a:avLst/>
          </a:prstGeom>
          <a:noFill/>
          <a:ln/>
        </p:spPr>
        <p:txBody>
          <a:bodyPr wrap="square" lIns="0" tIns="0" rIns="0" bIns="0" rtlCol="0" anchor="ctr"/>
          <a:lstStyle/>
          <a:p>
            <a:pPr marL="0" indent="0">
              <a:buNone/>
            </a:pPr>
            <a:r>
              <a:rPr lang="en-US" sz="1600" b="1" dirty="0">
                <a:solidFill>
                  <a:srgbClr val="EDEEF2"/>
                </a:solidFill>
                <a:latin typeface="Cambria" pitchFamily="34" charset="0"/>
                <a:ea typeface="Cambria" pitchFamily="34" charset="-122"/>
                <a:cs typeface="Cambria" pitchFamily="34" charset="-120"/>
              </a:rPr>
              <a:t>Baseline (Vanilla CNN)</a:t>
            </a:r>
            <a:endParaRPr lang="en-US" sz="1600" dirty="0"/>
          </a:p>
        </p:txBody>
      </p:sp>
      <p:sp>
        <p:nvSpPr>
          <p:cNvPr id="9" name="Text 5">
            <a:extLst>
              <a:ext uri="{FF2B5EF4-FFF2-40B4-BE49-F238E27FC236}">
                <a16:creationId xmlns:a16="http://schemas.microsoft.com/office/drawing/2014/main" id="{3684CACC-6CE5-EC7F-5FC2-75DB0CA0089E}"/>
              </a:ext>
            </a:extLst>
          </p:cNvPr>
          <p:cNvSpPr txBox="1"/>
          <p:nvPr/>
        </p:nvSpPr>
        <p:spPr>
          <a:xfrm>
            <a:off x="792480" y="2516760"/>
            <a:ext cx="1463040" cy="274320"/>
          </a:xfrm>
          <a:prstGeom prst="rect">
            <a:avLst/>
          </a:prstGeom>
          <a:noFill/>
          <a:ln/>
        </p:spPr>
        <p:txBody>
          <a:bodyPr wrap="square" lIns="0" tIns="0" rIns="0" bIns="0" rtlCol="0" anchor="ctr"/>
          <a:lstStyle/>
          <a:p>
            <a:pPr marL="0" indent="0">
              <a:buNone/>
            </a:pPr>
            <a:r>
              <a:rPr lang="en-US" sz="1100" dirty="0">
                <a:solidFill>
                  <a:srgbClr val="9AA0B4"/>
                </a:solidFill>
                <a:latin typeface="Calibri" pitchFamily="34" charset="0"/>
                <a:ea typeface="Calibri" pitchFamily="34" charset="-122"/>
                <a:cs typeface="Calibri" pitchFamily="34" charset="-120"/>
              </a:rPr>
              <a:t>ODS</a:t>
            </a:r>
            <a:endParaRPr lang="en-US" sz="1100" dirty="0"/>
          </a:p>
        </p:txBody>
      </p:sp>
      <p:sp>
        <p:nvSpPr>
          <p:cNvPr id="12" name="Text 6">
            <a:extLst>
              <a:ext uri="{FF2B5EF4-FFF2-40B4-BE49-F238E27FC236}">
                <a16:creationId xmlns:a16="http://schemas.microsoft.com/office/drawing/2014/main" id="{853AF3F7-D489-0B41-8C47-407BAB88CCBC}"/>
              </a:ext>
            </a:extLst>
          </p:cNvPr>
          <p:cNvSpPr txBox="1"/>
          <p:nvPr/>
        </p:nvSpPr>
        <p:spPr>
          <a:xfrm>
            <a:off x="792480" y="2763648"/>
            <a:ext cx="2103120" cy="548640"/>
          </a:xfrm>
          <a:prstGeom prst="rect">
            <a:avLst/>
          </a:prstGeom>
          <a:noFill/>
          <a:ln/>
        </p:spPr>
        <p:txBody>
          <a:bodyPr wrap="square" lIns="0" tIns="0" rIns="0" bIns="0" rtlCol="0" anchor="ctr"/>
          <a:lstStyle/>
          <a:p>
            <a:pPr marL="0" indent="0">
              <a:buNone/>
            </a:pPr>
            <a:r>
              <a:rPr lang="en-US" sz="3000" b="1" dirty="0">
                <a:solidFill>
                  <a:srgbClr val="EDEEF2"/>
                </a:solidFill>
                <a:latin typeface="Cambria" pitchFamily="34" charset="0"/>
                <a:ea typeface="Cambria" pitchFamily="34" charset="-122"/>
                <a:cs typeface="Cambria" pitchFamily="34" charset="-120"/>
              </a:rPr>
              <a:t>0.7767</a:t>
            </a:r>
            <a:endParaRPr lang="en-US" sz="3000" dirty="0"/>
          </a:p>
        </p:txBody>
      </p:sp>
      <p:sp>
        <p:nvSpPr>
          <p:cNvPr id="14" name="Text 7">
            <a:extLst>
              <a:ext uri="{FF2B5EF4-FFF2-40B4-BE49-F238E27FC236}">
                <a16:creationId xmlns:a16="http://schemas.microsoft.com/office/drawing/2014/main" id="{82E68468-3FBD-C971-022A-7E3E9AF76899}"/>
              </a:ext>
            </a:extLst>
          </p:cNvPr>
          <p:cNvSpPr txBox="1"/>
          <p:nvPr/>
        </p:nvSpPr>
        <p:spPr>
          <a:xfrm>
            <a:off x="3124200" y="2516760"/>
            <a:ext cx="1463040" cy="274320"/>
          </a:xfrm>
          <a:prstGeom prst="rect">
            <a:avLst/>
          </a:prstGeom>
          <a:noFill/>
          <a:ln/>
        </p:spPr>
        <p:txBody>
          <a:bodyPr wrap="square" lIns="0" tIns="0" rIns="0" bIns="0" rtlCol="0" anchor="ctr"/>
          <a:lstStyle/>
          <a:p>
            <a:pPr marL="0" indent="0">
              <a:buNone/>
            </a:pPr>
            <a:r>
              <a:rPr lang="en-US" sz="1100" dirty="0">
                <a:solidFill>
                  <a:srgbClr val="9AA0B4"/>
                </a:solidFill>
                <a:latin typeface="Calibri" pitchFamily="34" charset="0"/>
                <a:ea typeface="Calibri" pitchFamily="34" charset="-122"/>
                <a:cs typeface="Calibri" pitchFamily="34" charset="-120"/>
              </a:rPr>
              <a:t>OIS</a:t>
            </a:r>
            <a:endParaRPr lang="en-US" sz="1100" dirty="0"/>
          </a:p>
        </p:txBody>
      </p:sp>
      <p:sp>
        <p:nvSpPr>
          <p:cNvPr id="16" name="Text 8">
            <a:extLst>
              <a:ext uri="{FF2B5EF4-FFF2-40B4-BE49-F238E27FC236}">
                <a16:creationId xmlns:a16="http://schemas.microsoft.com/office/drawing/2014/main" id="{C083F79E-F97D-5382-8158-F20E75C1E31A}"/>
              </a:ext>
            </a:extLst>
          </p:cNvPr>
          <p:cNvSpPr txBox="1"/>
          <p:nvPr/>
        </p:nvSpPr>
        <p:spPr>
          <a:xfrm>
            <a:off x="3124200" y="2763648"/>
            <a:ext cx="2103120" cy="548640"/>
          </a:xfrm>
          <a:prstGeom prst="rect">
            <a:avLst/>
          </a:prstGeom>
          <a:noFill/>
          <a:ln/>
        </p:spPr>
        <p:txBody>
          <a:bodyPr wrap="square" lIns="0" tIns="0" rIns="0" bIns="0" rtlCol="0" anchor="ctr"/>
          <a:lstStyle/>
          <a:p>
            <a:pPr marL="0" indent="0">
              <a:buNone/>
            </a:pPr>
            <a:r>
              <a:rPr lang="en-US" sz="3000" b="1" dirty="0">
                <a:solidFill>
                  <a:srgbClr val="EDEEF2"/>
                </a:solidFill>
                <a:latin typeface="Cambria" pitchFamily="34" charset="0"/>
                <a:ea typeface="Cambria" pitchFamily="34" charset="-122"/>
                <a:cs typeface="Cambria" pitchFamily="34" charset="-120"/>
              </a:rPr>
              <a:t>0.7883</a:t>
            </a:r>
            <a:endParaRPr lang="en-US" sz="3000" dirty="0"/>
          </a:p>
        </p:txBody>
      </p:sp>
      <p:sp>
        <p:nvSpPr>
          <p:cNvPr id="18" name="Text 9">
            <a:extLst>
              <a:ext uri="{FF2B5EF4-FFF2-40B4-BE49-F238E27FC236}">
                <a16:creationId xmlns:a16="http://schemas.microsoft.com/office/drawing/2014/main" id="{7BD63883-B01F-293C-947B-4CA386EEF77E}"/>
              </a:ext>
            </a:extLst>
          </p:cNvPr>
          <p:cNvSpPr txBox="1"/>
          <p:nvPr/>
        </p:nvSpPr>
        <p:spPr>
          <a:xfrm>
            <a:off x="792480" y="3476880"/>
            <a:ext cx="4617720" cy="457200"/>
          </a:xfrm>
          <a:prstGeom prst="rect">
            <a:avLst/>
          </a:prstGeom>
          <a:noFill/>
          <a:ln/>
        </p:spPr>
        <p:txBody>
          <a:bodyPr wrap="square" lIns="0" tIns="0" rIns="0" bIns="0" rtlCol="0" anchor="ctr"/>
          <a:lstStyle/>
          <a:p>
            <a:pPr marL="0" indent="0">
              <a:buNone/>
            </a:pPr>
            <a:r>
              <a:rPr lang="en-US" sz="1200" dirty="0">
                <a:solidFill>
                  <a:srgbClr val="9AA0B4"/>
                </a:solidFill>
                <a:latin typeface="Calibri" pitchFamily="34" charset="0"/>
                <a:ea typeface="Calibri" pitchFamily="34" charset="-122"/>
                <a:cs typeface="Calibri" pitchFamily="34" charset="-120"/>
              </a:rPr>
              <a:t>30.4 FPS  ·  2.7M vs 0.71M params</a:t>
            </a:r>
            <a:endParaRPr lang="en-US" sz="1200" dirty="0"/>
          </a:p>
        </p:txBody>
      </p:sp>
      <p:sp>
        <p:nvSpPr>
          <p:cNvPr id="20" name="Shape 10">
            <a:extLst>
              <a:ext uri="{FF2B5EF4-FFF2-40B4-BE49-F238E27FC236}">
                <a16:creationId xmlns:a16="http://schemas.microsoft.com/office/drawing/2014/main" id="{22B55BD9-36FB-2369-FFB6-1E1E25FE9250}"/>
              </a:ext>
            </a:extLst>
          </p:cNvPr>
          <p:cNvSpPr/>
          <p:nvPr/>
        </p:nvSpPr>
        <p:spPr>
          <a:xfrm>
            <a:off x="6096000" y="1739520"/>
            <a:ext cx="5257800" cy="2377440"/>
          </a:xfrm>
          <a:prstGeom prst="roundRect">
            <a:avLst>
              <a:gd name="adj" fmla="val 3077"/>
            </a:avLst>
          </a:prstGeom>
          <a:solidFill>
            <a:srgbClr val="14161F"/>
          </a:solidFill>
          <a:ln/>
        </p:spPr>
        <p:txBody>
          <a:bodyPr/>
          <a:lstStyle/>
          <a:p>
            <a:endParaRPr lang="en-US"/>
          </a:p>
        </p:txBody>
      </p:sp>
      <p:sp>
        <p:nvSpPr>
          <p:cNvPr id="22" name="Text 11">
            <a:extLst>
              <a:ext uri="{FF2B5EF4-FFF2-40B4-BE49-F238E27FC236}">
                <a16:creationId xmlns:a16="http://schemas.microsoft.com/office/drawing/2014/main" id="{7795A7B7-836B-66E3-BFF0-807D915F95CB}"/>
              </a:ext>
            </a:extLst>
          </p:cNvPr>
          <p:cNvSpPr txBox="1"/>
          <p:nvPr/>
        </p:nvSpPr>
        <p:spPr>
          <a:xfrm>
            <a:off x="6416040" y="1968120"/>
            <a:ext cx="4617720" cy="365760"/>
          </a:xfrm>
          <a:prstGeom prst="rect">
            <a:avLst/>
          </a:prstGeom>
          <a:noFill/>
          <a:ln/>
        </p:spPr>
        <p:txBody>
          <a:bodyPr wrap="square" lIns="0" tIns="0" rIns="0" bIns="0" rtlCol="0" anchor="ctr"/>
          <a:lstStyle/>
          <a:p>
            <a:pPr marL="0" indent="0">
              <a:buNone/>
            </a:pPr>
            <a:r>
              <a:rPr lang="en-US" sz="1600" b="1" dirty="0">
                <a:solidFill>
                  <a:srgbClr val="EDEEF2"/>
                </a:solidFill>
                <a:latin typeface="Cambria" pitchFamily="34" charset="0"/>
                <a:ea typeface="Cambria" pitchFamily="34" charset="-122"/>
                <a:cs typeface="Cambria" pitchFamily="34" charset="-120"/>
              </a:rPr>
              <a:t>PiDiNet-full (PDC)</a:t>
            </a:r>
            <a:endParaRPr lang="en-US" sz="1600" dirty="0"/>
          </a:p>
        </p:txBody>
      </p:sp>
      <p:sp>
        <p:nvSpPr>
          <p:cNvPr id="25" name="Text 12">
            <a:extLst>
              <a:ext uri="{FF2B5EF4-FFF2-40B4-BE49-F238E27FC236}">
                <a16:creationId xmlns:a16="http://schemas.microsoft.com/office/drawing/2014/main" id="{D7A6FB9C-67F1-2B1C-8B54-923D677C78C2}"/>
              </a:ext>
            </a:extLst>
          </p:cNvPr>
          <p:cNvSpPr txBox="1"/>
          <p:nvPr/>
        </p:nvSpPr>
        <p:spPr>
          <a:xfrm>
            <a:off x="6416040" y="2516760"/>
            <a:ext cx="1463040" cy="274320"/>
          </a:xfrm>
          <a:prstGeom prst="rect">
            <a:avLst/>
          </a:prstGeom>
          <a:noFill/>
          <a:ln/>
        </p:spPr>
        <p:txBody>
          <a:bodyPr wrap="square" lIns="0" tIns="0" rIns="0" bIns="0" rtlCol="0" anchor="ctr"/>
          <a:lstStyle/>
          <a:p>
            <a:pPr marL="0" indent="0">
              <a:buNone/>
            </a:pPr>
            <a:r>
              <a:rPr lang="en-US" sz="1100" dirty="0">
                <a:solidFill>
                  <a:srgbClr val="9AA0B4"/>
                </a:solidFill>
                <a:latin typeface="Calibri" pitchFamily="34" charset="0"/>
                <a:ea typeface="Calibri" pitchFamily="34" charset="-122"/>
                <a:cs typeface="Calibri" pitchFamily="34" charset="-120"/>
              </a:rPr>
              <a:t>ODS</a:t>
            </a:r>
            <a:endParaRPr lang="en-US" sz="1100" dirty="0"/>
          </a:p>
        </p:txBody>
      </p:sp>
      <p:sp>
        <p:nvSpPr>
          <p:cNvPr id="28" name="Text 13">
            <a:extLst>
              <a:ext uri="{FF2B5EF4-FFF2-40B4-BE49-F238E27FC236}">
                <a16:creationId xmlns:a16="http://schemas.microsoft.com/office/drawing/2014/main" id="{BDD2F47B-D29C-7D33-8B44-7D9F8C10A3D0}"/>
              </a:ext>
            </a:extLst>
          </p:cNvPr>
          <p:cNvSpPr txBox="1"/>
          <p:nvPr/>
        </p:nvSpPr>
        <p:spPr>
          <a:xfrm>
            <a:off x="6416040" y="2763648"/>
            <a:ext cx="2103120" cy="548640"/>
          </a:xfrm>
          <a:prstGeom prst="rect">
            <a:avLst/>
          </a:prstGeom>
          <a:noFill/>
          <a:ln/>
        </p:spPr>
        <p:txBody>
          <a:bodyPr wrap="square" lIns="0" tIns="0" rIns="0" bIns="0" rtlCol="0" anchor="ctr"/>
          <a:lstStyle/>
          <a:p>
            <a:pPr marL="0" indent="0">
              <a:buNone/>
            </a:pPr>
            <a:r>
              <a:rPr lang="en-US" sz="3000" b="1" dirty="0">
                <a:solidFill>
                  <a:schemeClr val="accent2">
                    <a:lumMod val="60000"/>
                    <a:lumOff val="40000"/>
                  </a:schemeClr>
                </a:solidFill>
                <a:latin typeface="Cambria" pitchFamily="34" charset="0"/>
                <a:ea typeface="Cambria" pitchFamily="34" charset="-122"/>
                <a:cs typeface="Cambria" pitchFamily="34" charset="-120"/>
              </a:rPr>
              <a:t>0.7811</a:t>
            </a:r>
            <a:endParaRPr lang="en-US" sz="3000" dirty="0">
              <a:solidFill>
                <a:schemeClr val="accent2">
                  <a:lumMod val="60000"/>
                  <a:lumOff val="40000"/>
                </a:schemeClr>
              </a:solidFill>
            </a:endParaRPr>
          </a:p>
        </p:txBody>
      </p:sp>
      <p:sp>
        <p:nvSpPr>
          <p:cNvPr id="30" name="Text 14">
            <a:extLst>
              <a:ext uri="{FF2B5EF4-FFF2-40B4-BE49-F238E27FC236}">
                <a16:creationId xmlns:a16="http://schemas.microsoft.com/office/drawing/2014/main" id="{64EC40F3-E031-60AD-ECFB-60AE00619558}"/>
              </a:ext>
            </a:extLst>
          </p:cNvPr>
          <p:cNvSpPr txBox="1"/>
          <p:nvPr/>
        </p:nvSpPr>
        <p:spPr>
          <a:xfrm>
            <a:off x="8747760" y="2516760"/>
            <a:ext cx="1463040" cy="274320"/>
          </a:xfrm>
          <a:prstGeom prst="rect">
            <a:avLst/>
          </a:prstGeom>
          <a:noFill/>
          <a:ln/>
        </p:spPr>
        <p:txBody>
          <a:bodyPr wrap="square" lIns="0" tIns="0" rIns="0" bIns="0" rtlCol="0" anchor="ctr"/>
          <a:lstStyle/>
          <a:p>
            <a:pPr marL="0" indent="0">
              <a:buNone/>
            </a:pPr>
            <a:r>
              <a:rPr lang="en-US" sz="1100" dirty="0">
                <a:solidFill>
                  <a:srgbClr val="9AA0B4"/>
                </a:solidFill>
                <a:latin typeface="Calibri" pitchFamily="34" charset="0"/>
                <a:ea typeface="Calibri" pitchFamily="34" charset="-122"/>
                <a:cs typeface="Calibri" pitchFamily="34" charset="-120"/>
              </a:rPr>
              <a:t>OIS</a:t>
            </a:r>
            <a:endParaRPr lang="en-US" sz="1100" dirty="0"/>
          </a:p>
        </p:txBody>
      </p:sp>
      <p:sp>
        <p:nvSpPr>
          <p:cNvPr id="32" name="Text 15">
            <a:extLst>
              <a:ext uri="{FF2B5EF4-FFF2-40B4-BE49-F238E27FC236}">
                <a16:creationId xmlns:a16="http://schemas.microsoft.com/office/drawing/2014/main" id="{31A57A0D-96C3-1CAE-8F1C-4D5B9C35FCB5}"/>
              </a:ext>
            </a:extLst>
          </p:cNvPr>
          <p:cNvSpPr txBox="1"/>
          <p:nvPr/>
        </p:nvSpPr>
        <p:spPr>
          <a:xfrm>
            <a:off x="8747760" y="2763648"/>
            <a:ext cx="2103120" cy="548640"/>
          </a:xfrm>
          <a:prstGeom prst="rect">
            <a:avLst/>
          </a:prstGeom>
          <a:noFill/>
          <a:ln/>
        </p:spPr>
        <p:txBody>
          <a:bodyPr wrap="square" lIns="0" tIns="0" rIns="0" bIns="0" rtlCol="0" anchor="ctr"/>
          <a:lstStyle/>
          <a:p>
            <a:pPr marL="0" indent="0">
              <a:buNone/>
            </a:pPr>
            <a:r>
              <a:rPr lang="en-US" sz="3000" b="1" dirty="0">
                <a:solidFill>
                  <a:srgbClr val="EDEEF2"/>
                </a:solidFill>
                <a:latin typeface="Cambria" pitchFamily="34" charset="0"/>
                <a:ea typeface="Cambria" pitchFamily="34" charset="-122"/>
                <a:cs typeface="Cambria" pitchFamily="34" charset="-120"/>
              </a:rPr>
              <a:t>0.7895</a:t>
            </a:r>
            <a:endParaRPr lang="en-US" sz="3000" dirty="0"/>
          </a:p>
        </p:txBody>
      </p:sp>
      <p:sp>
        <p:nvSpPr>
          <p:cNvPr id="34" name="Text 16">
            <a:extLst>
              <a:ext uri="{FF2B5EF4-FFF2-40B4-BE49-F238E27FC236}">
                <a16:creationId xmlns:a16="http://schemas.microsoft.com/office/drawing/2014/main" id="{BB740624-B33F-FF86-4D16-1D7DC35A80D8}"/>
              </a:ext>
            </a:extLst>
          </p:cNvPr>
          <p:cNvSpPr txBox="1"/>
          <p:nvPr/>
        </p:nvSpPr>
        <p:spPr>
          <a:xfrm>
            <a:off x="6416040" y="3476880"/>
            <a:ext cx="4617720" cy="457200"/>
          </a:xfrm>
          <a:prstGeom prst="rect">
            <a:avLst/>
          </a:prstGeom>
          <a:noFill/>
          <a:ln/>
        </p:spPr>
        <p:txBody>
          <a:bodyPr wrap="square" lIns="0" tIns="0" rIns="0" bIns="0" rtlCol="0" anchor="ctr"/>
          <a:lstStyle/>
          <a:p>
            <a:pPr marL="0" indent="0">
              <a:buNone/>
            </a:pPr>
            <a:r>
              <a:rPr lang="en-US" sz="1200" dirty="0">
                <a:solidFill>
                  <a:srgbClr val="9AA0B4"/>
                </a:solidFill>
                <a:latin typeface="Calibri" pitchFamily="34" charset="0"/>
                <a:ea typeface="Calibri" pitchFamily="34" charset="-122"/>
                <a:cs typeface="Calibri" pitchFamily="34" charset="-120"/>
              </a:rPr>
              <a:t>27.7 FPS  ·  2.7M vs 0.71M params</a:t>
            </a:r>
            <a:endParaRPr lang="en-US" sz="1200" dirty="0"/>
          </a:p>
        </p:txBody>
      </p:sp>
      <p:sp>
        <p:nvSpPr>
          <p:cNvPr id="36" name="Shape 17">
            <a:extLst>
              <a:ext uri="{FF2B5EF4-FFF2-40B4-BE49-F238E27FC236}">
                <a16:creationId xmlns:a16="http://schemas.microsoft.com/office/drawing/2014/main" id="{5E3F2682-4977-526E-5036-7E880B09CA78}"/>
              </a:ext>
            </a:extLst>
          </p:cNvPr>
          <p:cNvSpPr/>
          <p:nvPr/>
        </p:nvSpPr>
        <p:spPr>
          <a:xfrm>
            <a:off x="472440" y="4345560"/>
            <a:ext cx="10881360" cy="1417320"/>
          </a:xfrm>
          <a:prstGeom prst="roundRect">
            <a:avLst>
              <a:gd name="adj" fmla="val 5161"/>
            </a:avLst>
          </a:prstGeom>
          <a:solidFill>
            <a:schemeClr val="tx2">
              <a:lumMod val="10000"/>
              <a:lumOff val="90000"/>
            </a:schemeClr>
          </a:solidFill>
          <a:ln>
            <a:solidFill>
              <a:schemeClr val="accent3">
                <a:lumMod val="75000"/>
              </a:schemeClr>
            </a:solidFill>
          </a:ln>
        </p:spPr>
        <p:txBody>
          <a:bodyPr/>
          <a:lstStyle/>
          <a:p>
            <a:endParaRPr lang="en-US"/>
          </a:p>
        </p:txBody>
      </p:sp>
      <p:sp>
        <p:nvSpPr>
          <p:cNvPr id="38" name="Text 18">
            <a:extLst>
              <a:ext uri="{FF2B5EF4-FFF2-40B4-BE49-F238E27FC236}">
                <a16:creationId xmlns:a16="http://schemas.microsoft.com/office/drawing/2014/main" id="{89155A2F-1E72-1B5D-EDD9-4CD5607556E4}"/>
              </a:ext>
            </a:extLst>
          </p:cNvPr>
          <p:cNvSpPr txBox="1"/>
          <p:nvPr/>
        </p:nvSpPr>
        <p:spPr>
          <a:xfrm>
            <a:off x="746760" y="4501008"/>
            <a:ext cx="5486400" cy="3200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Same direction as the paper's own result</a:t>
            </a:r>
            <a:endParaRPr lang="en-US" sz="1300" dirty="0"/>
          </a:p>
        </p:txBody>
      </p:sp>
      <p:sp>
        <p:nvSpPr>
          <p:cNvPr id="40" name="Text 19">
            <a:extLst>
              <a:ext uri="{FF2B5EF4-FFF2-40B4-BE49-F238E27FC236}">
                <a16:creationId xmlns:a16="http://schemas.microsoft.com/office/drawing/2014/main" id="{873679C9-97C4-FB35-1E47-E3324BBF8D0F}"/>
              </a:ext>
            </a:extLst>
          </p:cNvPr>
          <p:cNvSpPr txBox="1"/>
          <p:nvPr/>
        </p:nvSpPr>
        <p:spPr>
          <a:xfrm>
            <a:off x="746760" y="4830192"/>
            <a:ext cx="10332720" cy="868680"/>
          </a:xfrm>
          <a:prstGeom prst="rect">
            <a:avLst/>
          </a:prstGeom>
          <a:noFill/>
          <a:ln/>
        </p:spPr>
        <p:txBody>
          <a:bodyPr wrap="square" lIns="0" tIns="0" rIns="0" bIns="0" rtlCol="0" anchor="ctr"/>
          <a:lstStyle/>
          <a:p>
            <a:pPr marL="0" indent="0">
              <a:lnSpc>
                <a:spcPct val="120000"/>
              </a:lnSpc>
              <a:buNone/>
            </a:pPr>
            <a:r>
              <a:rPr lang="en-US" sz="1150" dirty="0">
                <a:latin typeface="Calibri" pitchFamily="34" charset="0"/>
                <a:ea typeface="Calibri" pitchFamily="34" charset="-122"/>
                <a:cs typeface="Calibri" pitchFamily="34" charset="-120"/>
              </a:rPr>
              <a:t>PiDiNet-full beats baseline by +0.0044 ODS here (both under-trained, 3 epochs). The paper's own fully-trained (20-epoch) numbers show the same direction at +0.009 ODS (0.807 vs 0.798) — our quick, self-run ablation independently reproduces the paper's central claim: the pixel-difference operators help, not just the CSAM/CDCM wrapper both models share.</a:t>
            </a:r>
            <a:endParaRPr lang="en-US" sz="1150" dirty="0"/>
          </a:p>
        </p:txBody>
      </p:sp>
    </p:spTree>
    <p:extLst>
      <p:ext uri="{BB962C8B-B14F-4D97-AF65-F5344CB8AC3E}">
        <p14:creationId xmlns:p14="http://schemas.microsoft.com/office/powerpoint/2010/main" val="3902423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4172F-4C28-1FF9-F22D-9FD939A4192D}"/>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082E0DAD-59D5-4B2D-69A1-696E64B34255}"/>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73C4B8CA-97E8-431E-868B-E455EE14065A}"/>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91F5571B-6E8D-1DD1-31AD-EDAC13F8E0D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105623AC-94E2-C9D8-509A-FCB6B9A4AF51}"/>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16</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9AA694B1-50ED-2EE3-8E52-65C5EAF29238}"/>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76D46077-A60F-6181-E196-42725FF87B28}"/>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0715D46D-EAE4-7183-D5B4-FE06CC957B09}"/>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4C69AD31-ACE2-C2AD-DE63-9784C1BE9D10}"/>
              </a:ext>
            </a:extLst>
          </p:cNvPr>
          <p:cNvSpPr/>
          <p:nvPr/>
        </p:nvSpPr>
        <p:spPr>
          <a:xfrm>
            <a:off x="139680" y="129600"/>
            <a:ext cx="964872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Reproducing the paper's own README demo</a:t>
            </a:r>
          </a:p>
          <a:p>
            <a:pPr>
              <a:tabLst>
                <a:tab pos="0" algn="l"/>
              </a:tabLst>
            </a:pPr>
            <a:endParaRPr lang="en-US" sz="3200" b="1" spc="-1" dirty="0">
              <a:solidFill>
                <a:schemeClr val="dk1"/>
              </a:solidFill>
              <a:latin typeface="Aptos Display"/>
            </a:endParaRPr>
          </a:p>
        </p:txBody>
      </p:sp>
      <p:sp>
        <p:nvSpPr>
          <p:cNvPr id="3" name="Text 2">
            <a:extLst>
              <a:ext uri="{FF2B5EF4-FFF2-40B4-BE49-F238E27FC236}">
                <a16:creationId xmlns:a16="http://schemas.microsoft.com/office/drawing/2014/main" id="{174D4F80-5B8E-8D6E-EF95-1AD7EFF4B6F2}"/>
              </a:ext>
            </a:extLst>
          </p:cNvPr>
          <p:cNvSpPr txBox="1"/>
          <p:nvPr/>
        </p:nvSpPr>
        <p:spPr>
          <a:xfrm>
            <a:off x="256730" y="580944"/>
            <a:ext cx="10226197" cy="640080"/>
          </a:xfrm>
          <a:prstGeom prst="rect">
            <a:avLst/>
          </a:prstGeom>
          <a:noFill/>
          <a:ln/>
        </p:spPr>
        <p:txBody>
          <a:bodyPr wrap="square" lIns="0" tIns="0" rIns="0" bIns="0" rtlCol="0" anchor="ctr"/>
          <a:lstStyle/>
          <a:p>
            <a:pPr marL="0" indent="0">
              <a:lnSpc>
                <a:spcPct val="125000"/>
              </a:lnSpc>
              <a:buNone/>
            </a:pPr>
            <a:r>
              <a:rPr lang="en-US" sz="1400" dirty="0">
                <a:solidFill>
                  <a:srgbClr val="1A1D26"/>
                </a:solidFill>
                <a:latin typeface="Calibri" pitchFamily="34" charset="0"/>
                <a:ea typeface="Calibri" pitchFamily="34" charset="-122"/>
                <a:cs typeface="Calibri" pitchFamily="34" charset="-120"/>
              </a:rPr>
              <a:t>Ran the official table5_pidinet checkpoint on the exact two photos from the GitHub README, and compared our output against the output the authors show.</a:t>
            </a:r>
          </a:p>
        </p:txBody>
      </p:sp>
      <p:pic>
        <p:nvPicPr>
          <p:cNvPr id="4" name="Image 0" descr="D:/PiDiNet/presentation/validation_grid.jpg">
            <a:extLst>
              <a:ext uri="{FF2B5EF4-FFF2-40B4-BE49-F238E27FC236}">
                <a16:creationId xmlns:a16="http://schemas.microsoft.com/office/drawing/2014/main" id="{D92E62EC-E884-D4DB-3FEC-1407561CEDC9}"/>
              </a:ext>
            </a:extLst>
          </p:cNvPr>
          <p:cNvPicPr>
            <a:picLocks noChangeAspect="1"/>
          </p:cNvPicPr>
          <p:nvPr/>
        </p:nvPicPr>
        <p:blipFill>
          <a:blip r:embed="rId5"/>
          <a:stretch>
            <a:fillRect/>
          </a:stretch>
        </p:blipFill>
        <p:spPr>
          <a:xfrm>
            <a:off x="1981080" y="1478544"/>
            <a:ext cx="8229600" cy="4654296"/>
          </a:xfrm>
          <a:prstGeom prst="rect">
            <a:avLst/>
          </a:prstGeom>
        </p:spPr>
      </p:pic>
    </p:spTree>
    <p:extLst>
      <p:ext uri="{BB962C8B-B14F-4D97-AF65-F5344CB8AC3E}">
        <p14:creationId xmlns:p14="http://schemas.microsoft.com/office/powerpoint/2010/main" val="3059176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3F66D-C844-74CC-C1D0-072B4C1BE2B9}"/>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80C80B58-E6C1-CEC0-8F53-D4B832A53B9E}"/>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ECF95E16-2070-EEE4-592B-5DCF95519EA8}"/>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D5213859-4F8C-A4D6-E261-8FFD7A547CAF}"/>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F9273E41-2078-EC76-FB51-9174C22910B2}"/>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17</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531031F5-9394-8C09-DECE-2BEB7E49D78C}"/>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EE8F6962-E10A-664E-AAB9-42FCEFFBED27}"/>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47F05706-B5BB-BAD2-AFE9-A98B8A549F7A}"/>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E34179FC-B109-1053-BB01-27A82993603C}"/>
              </a:ext>
            </a:extLst>
          </p:cNvPr>
          <p:cNvSpPr/>
          <p:nvPr/>
        </p:nvSpPr>
        <p:spPr>
          <a:xfrm>
            <a:off x="139679" y="129600"/>
            <a:ext cx="9832995" cy="144509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Resolution matters: why our first run looked softer</a:t>
            </a:r>
          </a:p>
          <a:p>
            <a:pPr>
              <a:tabLst>
                <a:tab pos="0" algn="l"/>
              </a:tabLst>
            </a:pPr>
            <a:endParaRPr lang="en-US" sz="2400" b="1" spc="-1" dirty="0">
              <a:solidFill>
                <a:schemeClr val="dk1"/>
              </a:solidFill>
              <a:latin typeface="Aptos Display"/>
            </a:endParaRPr>
          </a:p>
          <a:p>
            <a:pPr>
              <a:tabLst>
                <a:tab pos="0" algn="l"/>
              </a:tabLst>
            </a:pPr>
            <a:endParaRPr lang="en-US" sz="3200" b="1" spc="-1" dirty="0">
              <a:solidFill>
                <a:schemeClr val="dk1"/>
              </a:solidFill>
              <a:latin typeface="Aptos Display"/>
            </a:endParaRPr>
          </a:p>
        </p:txBody>
      </p:sp>
      <p:sp>
        <p:nvSpPr>
          <p:cNvPr id="3" name="Text 2">
            <a:extLst>
              <a:ext uri="{FF2B5EF4-FFF2-40B4-BE49-F238E27FC236}">
                <a16:creationId xmlns:a16="http://schemas.microsoft.com/office/drawing/2014/main" id="{368574E4-8DFE-0D83-0AE3-48D9910829A3}"/>
              </a:ext>
            </a:extLst>
          </p:cNvPr>
          <p:cNvSpPr txBox="1"/>
          <p:nvPr/>
        </p:nvSpPr>
        <p:spPr>
          <a:xfrm>
            <a:off x="350999" y="5607664"/>
            <a:ext cx="11425455" cy="640080"/>
          </a:xfrm>
          <a:prstGeom prst="rect">
            <a:avLst/>
          </a:prstGeom>
          <a:noFill/>
          <a:ln/>
        </p:spPr>
        <p:txBody>
          <a:bodyPr wrap="square" lIns="0" tIns="0" rIns="0" bIns="0" rtlCol="0" anchor="ctr"/>
          <a:lstStyle/>
          <a:p>
            <a:pPr marL="0" indent="0">
              <a:lnSpc>
                <a:spcPct val="125000"/>
              </a:lnSpc>
              <a:buNone/>
            </a:pPr>
            <a:r>
              <a:rPr lang="en-US" sz="1200" dirty="0">
                <a:solidFill>
                  <a:srgbClr val="1A1D26"/>
                </a:solidFill>
                <a:latin typeface="Calibri" pitchFamily="34" charset="0"/>
                <a:ea typeface="Calibri" pitchFamily="34" charset="-122"/>
                <a:cs typeface="Calibri" pitchFamily="34" charset="-120"/>
              </a:rPr>
              <a:t>The README figure only holds ~520x390 thumbnails. Run at that size, the paper's own checkpoint gives thick, soft edges (column 2). Upscaling the same thumbnail x3 (bicubic, no new detail) gives thin, crisp maps nearly identical to the authors' (columns 3 vs. 4), which is consistent with the authors having run the original full-resolution photos. </a:t>
            </a:r>
            <a:r>
              <a:rPr lang="en-US" sz="1200" dirty="0" err="1">
                <a:solidFill>
                  <a:srgbClr val="1A1D26"/>
                </a:solidFill>
                <a:latin typeface="Calibri" pitchFamily="34" charset="0"/>
                <a:ea typeface="Calibri" pitchFamily="34" charset="-122"/>
                <a:cs typeface="Calibri" pitchFamily="34" charset="-120"/>
              </a:rPr>
              <a:t>PiDiNet's</a:t>
            </a:r>
            <a:r>
              <a:rPr lang="en-US" sz="1200" dirty="0">
                <a:solidFill>
                  <a:srgbClr val="1A1D26"/>
                </a:solidFill>
                <a:latin typeface="Calibri" pitchFamily="34" charset="0"/>
                <a:ea typeface="Calibri" pitchFamily="34" charset="-122"/>
                <a:cs typeface="Calibri" pitchFamily="34" charset="-120"/>
              </a:rPr>
              <a:t> edge width depends on the input resolution; for sharper maps, feed larger images.</a:t>
            </a:r>
          </a:p>
        </p:txBody>
      </p:sp>
      <p:pic>
        <p:nvPicPr>
          <p:cNvPr id="5" name="Image 0" descr="D:/PiDiNet/presentation/resolution_strip.jpg">
            <a:extLst>
              <a:ext uri="{FF2B5EF4-FFF2-40B4-BE49-F238E27FC236}">
                <a16:creationId xmlns:a16="http://schemas.microsoft.com/office/drawing/2014/main" id="{1AF442F1-163A-1BC6-0AB8-E246BA95FF9A}"/>
              </a:ext>
            </a:extLst>
          </p:cNvPr>
          <p:cNvPicPr>
            <a:picLocks noChangeAspect="1"/>
          </p:cNvPicPr>
          <p:nvPr/>
        </p:nvPicPr>
        <p:blipFill>
          <a:blip r:embed="rId5"/>
          <a:stretch>
            <a:fillRect/>
          </a:stretch>
        </p:blipFill>
        <p:spPr>
          <a:xfrm>
            <a:off x="1400286" y="1260972"/>
            <a:ext cx="9326880" cy="3877721"/>
          </a:xfrm>
          <a:prstGeom prst="rect">
            <a:avLst/>
          </a:prstGeom>
        </p:spPr>
      </p:pic>
    </p:spTree>
    <p:extLst>
      <p:ext uri="{BB962C8B-B14F-4D97-AF65-F5344CB8AC3E}">
        <p14:creationId xmlns:p14="http://schemas.microsoft.com/office/powerpoint/2010/main" val="1322999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8FDDD-E3FA-47E1-6F41-DE9EFACD50E9}"/>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77D75E44-162A-CA4D-E648-FA9869986B6A}"/>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FFBA9B8B-4C1C-46A6-6F59-6610F3FA50E4}"/>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2B119D7D-2FC9-34CA-45C8-14AEDD67243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F0B823C9-0096-D244-E6BE-793C8B55C01C}"/>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18</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B54E8E1E-0010-38B1-8E20-F2F0C833917E}"/>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84D4CB2B-82B3-483D-8528-FF596B96164D}"/>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E6913776-A9B0-448E-2848-276BB4FA43B1}"/>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E6FF9A32-48F2-648D-7826-C31F98AC28E7}"/>
              </a:ext>
            </a:extLst>
          </p:cNvPr>
          <p:cNvSpPr/>
          <p:nvPr/>
        </p:nvSpPr>
        <p:spPr>
          <a:xfrm>
            <a:off x="139680" y="129600"/>
            <a:ext cx="964872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Training loss over 60 epochs </a:t>
            </a:r>
            <a:r>
              <a:rPr lang="en-US" sz="1600" b="1" spc="-1" dirty="0">
                <a:solidFill>
                  <a:schemeClr val="dk1"/>
                </a:solidFill>
                <a:latin typeface="Aptos Display"/>
              </a:rPr>
              <a:t>(first run 200 images | 3 epochs)</a:t>
            </a:r>
            <a:endParaRPr lang="en-US" sz="2400" b="1" spc="-1" dirty="0">
              <a:solidFill>
                <a:schemeClr val="dk1"/>
              </a:solidFill>
              <a:latin typeface="Aptos Display"/>
            </a:endParaRPr>
          </a:p>
          <a:p>
            <a:pPr>
              <a:tabLst>
                <a:tab pos="0" algn="l"/>
              </a:tabLst>
            </a:pPr>
            <a:endParaRPr lang="en-US" sz="3200" b="1" spc="-1" dirty="0">
              <a:solidFill>
                <a:schemeClr val="dk1"/>
              </a:solidFill>
              <a:latin typeface="Aptos Display"/>
            </a:endParaRPr>
          </a:p>
        </p:txBody>
      </p:sp>
      <p:graphicFrame>
        <p:nvGraphicFramePr>
          <p:cNvPr id="5" name="Chart 0">
            <a:extLst>
              <a:ext uri="{FF2B5EF4-FFF2-40B4-BE49-F238E27FC236}">
                <a16:creationId xmlns:a16="http://schemas.microsoft.com/office/drawing/2014/main" id="{96CC745A-2019-8410-F1D3-53147E633447}"/>
              </a:ext>
            </a:extLst>
          </p:cNvPr>
          <p:cNvGraphicFramePr/>
          <p:nvPr>
            <p:extLst>
              <p:ext uri="{D42A27DB-BD31-4B8C-83A1-F6EECF244321}">
                <p14:modId xmlns:p14="http://schemas.microsoft.com/office/powerpoint/2010/main" val="1332320650"/>
              </p:ext>
            </p:extLst>
          </p:nvPr>
        </p:nvGraphicFramePr>
        <p:xfrm>
          <a:off x="548640" y="1154611"/>
          <a:ext cx="7498080" cy="448056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a:extLst>
              <a:ext uri="{FF2B5EF4-FFF2-40B4-BE49-F238E27FC236}">
                <a16:creationId xmlns:a16="http://schemas.microsoft.com/office/drawing/2014/main" id="{FEE68213-1343-A7A5-39B8-4FD6B8BEC628}"/>
              </a:ext>
            </a:extLst>
          </p:cNvPr>
          <p:cNvSpPr txBox="1"/>
          <p:nvPr/>
        </p:nvSpPr>
        <p:spPr>
          <a:xfrm>
            <a:off x="8321040" y="1291771"/>
            <a:ext cx="3108960" cy="320040"/>
          </a:xfrm>
          <a:prstGeom prst="rect">
            <a:avLst/>
          </a:prstGeom>
          <a:noFill/>
          <a:ln/>
        </p:spPr>
        <p:txBody>
          <a:bodyPr wrap="square" lIns="0" tIns="0" rIns="0" bIns="0" rtlCol="0" anchor="ctr"/>
          <a:lstStyle/>
          <a:p>
            <a:pPr marL="0" indent="0">
              <a:buNone/>
            </a:pPr>
            <a:r>
              <a:rPr lang="en-US" sz="1400" b="1" dirty="0">
                <a:solidFill>
                  <a:srgbClr val="14161F"/>
                </a:solidFill>
                <a:latin typeface="Cambria" pitchFamily="34" charset="0"/>
                <a:ea typeface="Cambria" pitchFamily="34" charset="-122"/>
                <a:cs typeface="Cambria" pitchFamily="34" charset="-120"/>
              </a:rPr>
              <a:t>17,938 → 6,527</a:t>
            </a:r>
            <a:endParaRPr lang="en-US" sz="1400" dirty="0"/>
          </a:p>
        </p:txBody>
      </p:sp>
      <p:sp>
        <p:nvSpPr>
          <p:cNvPr id="9" name="Text 3">
            <a:extLst>
              <a:ext uri="{FF2B5EF4-FFF2-40B4-BE49-F238E27FC236}">
                <a16:creationId xmlns:a16="http://schemas.microsoft.com/office/drawing/2014/main" id="{222D7710-9B54-F4B0-84C5-12D147760F65}"/>
              </a:ext>
            </a:extLst>
          </p:cNvPr>
          <p:cNvSpPr txBox="1"/>
          <p:nvPr/>
        </p:nvSpPr>
        <p:spPr>
          <a:xfrm>
            <a:off x="8321040" y="1611811"/>
            <a:ext cx="3108960" cy="64008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loss drop from epoch 0 to 59 (–63%)</a:t>
            </a:r>
            <a:endParaRPr lang="en-US" sz="1100" dirty="0"/>
          </a:p>
        </p:txBody>
      </p:sp>
      <p:sp>
        <p:nvSpPr>
          <p:cNvPr id="12" name="Text 4">
            <a:extLst>
              <a:ext uri="{FF2B5EF4-FFF2-40B4-BE49-F238E27FC236}">
                <a16:creationId xmlns:a16="http://schemas.microsoft.com/office/drawing/2014/main" id="{AEE89988-C3F2-EB87-64FC-D9C7C28D1DE3}"/>
              </a:ext>
            </a:extLst>
          </p:cNvPr>
          <p:cNvSpPr txBox="1"/>
          <p:nvPr/>
        </p:nvSpPr>
        <p:spPr>
          <a:xfrm>
            <a:off x="8321040" y="2434771"/>
            <a:ext cx="3108960" cy="320040"/>
          </a:xfrm>
          <a:prstGeom prst="rect">
            <a:avLst/>
          </a:prstGeom>
          <a:noFill/>
          <a:ln/>
        </p:spPr>
        <p:txBody>
          <a:bodyPr wrap="square" lIns="0" tIns="0" rIns="0" bIns="0" rtlCol="0" anchor="ctr"/>
          <a:lstStyle/>
          <a:p>
            <a:pPr marL="0" indent="0">
              <a:buNone/>
            </a:pPr>
            <a:r>
              <a:rPr lang="en-US" sz="1400" b="1" dirty="0">
                <a:solidFill>
                  <a:srgbClr val="14161F"/>
                </a:solidFill>
                <a:latin typeface="Cambria" pitchFamily="34" charset="0"/>
                <a:ea typeface="Cambria" pitchFamily="34" charset="-122"/>
                <a:cs typeface="Cambria" pitchFamily="34" charset="-120"/>
              </a:rPr>
              <a:t>Converges fast</a:t>
            </a:r>
            <a:endParaRPr lang="en-US" sz="1400" dirty="0"/>
          </a:p>
        </p:txBody>
      </p:sp>
      <p:sp>
        <p:nvSpPr>
          <p:cNvPr id="14" name="Text 5">
            <a:extLst>
              <a:ext uri="{FF2B5EF4-FFF2-40B4-BE49-F238E27FC236}">
                <a16:creationId xmlns:a16="http://schemas.microsoft.com/office/drawing/2014/main" id="{A9E79F56-58C2-471C-3B2D-C06F26BDE9C4}"/>
              </a:ext>
            </a:extLst>
          </p:cNvPr>
          <p:cNvSpPr txBox="1"/>
          <p:nvPr/>
        </p:nvSpPr>
        <p:spPr>
          <a:xfrm>
            <a:off x="8321040" y="2754811"/>
            <a:ext cx="3108960" cy="64008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by ~epoch 30, thanks to the small 200-image set</a:t>
            </a:r>
            <a:endParaRPr lang="en-US" sz="1100" dirty="0"/>
          </a:p>
        </p:txBody>
      </p:sp>
      <p:sp>
        <p:nvSpPr>
          <p:cNvPr id="16" name="Text 6">
            <a:extLst>
              <a:ext uri="{FF2B5EF4-FFF2-40B4-BE49-F238E27FC236}">
                <a16:creationId xmlns:a16="http://schemas.microsoft.com/office/drawing/2014/main" id="{991342EB-AE6F-66C4-EA7E-56DBFCBCC329}"/>
              </a:ext>
            </a:extLst>
          </p:cNvPr>
          <p:cNvSpPr txBox="1"/>
          <p:nvPr/>
        </p:nvSpPr>
        <p:spPr>
          <a:xfrm>
            <a:off x="8321040" y="3577771"/>
            <a:ext cx="3108960" cy="320040"/>
          </a:xfrm>
          <a:prstGeom prst="rect">
            <a:avLst/>
          </a:prstGeom>
          <a:noFill/>
          <a:ln/>
        </p:spPr>
        <p:txBody>
          <a:bodyPr wrap="square" lIns="0" tIns="0" rIns="0" bIns="0" rtlCol="0" anchor="ctr"/>
          <a:lstStyle/>
          <a:p>
            <a:pPr marL="0" indent="0">
              <a:buNone/>
            </a:pPr>
            <a:r>
              <a:rPr lang="en-US" sz="1400" b="1" dirty="0">
                <a:solidFill>
                  <a:srgbClr val="14161F"/>
                </a:solidFill>
                <a:latin typeface="Cambria" pitchFamily="34" charset="0"/>
                <a:ea typeface="Cambria" pitchFamily="34" charset="-122"/>
                <a:cs typeface="Cambria" pitchFamily="34" charset="-120"/>
              </a:rPr>
              <a:t>Caveat</a:t>
            </a:r>
            <a:endParaRPr lang="en-US" sz="1400" dirty="0"/>
          </a:p>
        </p:txBody>
      </p:sp>
      <p:sp>
        <p:nvSpPr>
          <p:cNvPr id="18" name="Text 7">
            <a:extLst>
              <a:ext uri="{FF2B5EF4-FFF2-40B4-BE49-F238E27FC236}">
                <a16:creationId xmlns:a16="http://schemas.microsoft.com/office/drawing/2014/main" id="{AD79DDEC-2582-2C3B-8606-F48DE9516335}"/>
              </a:ext>
            </a:extLst>
          </p:cNvPr>
          <p:cNvSpPr txBox="1"/>
          <p:nvPr/>
        </p:nvSpPr>
        <p:spPr>
          <a:xfrm>
            <a:off x="8321040" y="3897811"/>
            <a:ext cx="3108960" cy="64008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no PASCAL/flip/rotation augmentation → generalizes worse than the paper's checkpoint</a:t>
            </a:r>
            <a:endParaRPr lang="en-US" sz="1100" dirty="0"/>
          </a:p>
        </p:txBody>
      </p:sp>
    </p:spTree>
    <p:extLst>
      <p:ext uri="{BB962C8B-B14F-4D97-AF65-F5344CB8AC3E}">
        <p14:creationId xmlns:p14="http://schemas.microsoft.com/office/powerpoint/2010/main" val="2985539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6DC60-289B-B90E-BD7D-920FCCCDC877}"/>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BA7FDA86-D57B-771A-A512-D767147F2336}"/>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E43FA05B-D438-9168-5025-D5C29BC8D799}"/>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C0BC4504-9DA9-B063-710F-C2C5A302E198}"/>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1FAC35D4-E910-5128-4B49-9AB09F234FE1}"/>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19</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EF28ACD0-2131-440F-1613-003464875EAD}"/>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pic>
        <p:nvPicPr>
          <p:cNvPr id="99" name="Picture 2" descr="Nust Logo - CrystalPng">
            <a:extLst>
              <a:ext uri="{FF2B5EF4-FFF2-40B4-BE49-F238E27FC236}">
                <a16:creationId xmlns:a16="http://schemas.microsoft.com/office/drawing/2014/main" id="{EC34E6CE-91BF-58A3-1E22-EA0D796C4A88}"/>
              </a:ext>
            </a:extLst>
          </p:cNvPr>
          <p:cNvPicPr/>
          <p:nvPr/>
        </p:nvPicPr>
        <p:blipFill>
          <a:blip r:embed="rId3"/>
          <a:stretch/>
        </p:blipFill>
        <p:spPr>
          <a:xfrm>
            <a:off x="11068200" y="-11520"/>
            <a:ext cx="1123560" cy="1123560"/>
          </a:xfrm>
          <a:prstGeom prst="rect">
            <a:avLst/>
          </a:prstGeom>
          <a:ln w="0">
            <a:noFill/>
          </a:ln>
        </p:spPr>
      </p:pic>
      <p:sp>
        <p:nvSpPr>
          <p:cNvPr id="11" name="TextBox 10">
            <a:extLst>
              <a:ext uri="{FF2B5EF4-FFF2-40B4-BE49-F238E27FC236}">
                <a16:creationId xmlns:a16="http://schemas.microsoft.com/office/drawing/2014/main" id="{78B5B0CB-5BC1-618B-BF95-35F2B4C1EB84}"/>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sp>
        <p:nvSpPr>
          <p:cNvPr id="95" name="TextBox 9">
            <a:extLst>
              <a:ext uri="{FF2B5EF4-FFF2-40B4-BE49-F238E27FC236}">
                <a16:creationId xmlns:a16="http://schemas.microsoft.com/office/drawing/2014/main" id="{CF8AF8A0-4650-CF0A-3609-83DFDA22EB16}"/>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 </a:t>
            </a:r>
            <a:r>
              <a:rPr lang="en-US" sz="2400" b="1" spc="-1" dirty="0">
                <a:solidFill>
                  <a:schemeClr val="dk1"/>
                </a:solidFill>
                <a:latin typeface="Aptos Display"/>
              </a:rPr>
              <a:t>how one image becomes 11 results (compare_edges.ipynb) </a:t>
            </a:r>
          </a:p>
        </p:txBody>
      </p:sp>
      <p:sp>
        <p:nvSpPr>
          <p:cNvPr id="4" name="Shape 2">
            <a:extLst>
              <a:ext uri="{FF2B5EF4-FFF2-40B4-BE49-F238E27FC236}">
                <a16:creationId xmlns:a16="http://schemas.microsoft.com/office/drawing/2014/main" id="{8AEC781E-B47E-36B5-BDD8-DEDB52BF6AFE}"/>
              </a:ext>
            </a:extLst>
          </p:cNvPr>
          <p:cNvSpPr/>
          <p:nvPr/>
        </p:nvSpPr>
        <p:spPr>
          <a:xfrm>
            <a:off x="351000" y="1227067"/>
            <a:ext cx="1645920" cy="4343400"/>
          </a:xfrm>
          <a:prstGeom prst="roundRect">
            <a:avLst>
              <a:gd name="adj" fmla="val 4444"/>
            </a:avLst>
          </a:prstGeom>
          <a:solidFill>
            <a:srgbClr val="14161F"/>
          </a:solidFill>
          <a:ln/>
        </p:spPr>
        <p:txBody>
          <a:bodyPr/>
          <a:lstStyle/>
          <a:p>
            <a:endParaRPr lang="en-US"/>
          </a:p>
        </p:txBody>
      </p:sp>
      <p:sp>
        <p:nvSpPr>
          <p:cNvPr id="8" name="Text 3">
            <a:extLst>
              <a:ext uri="{FF2B5EF4-FFF2-40B4-BE49-F238E27FC236}">
                <a16:creationId xmlns:a16="http://schemas.microsoft.com/office/drawing/2014/main" id="{A8EEA738-CC5E-774D-FF82-EF282ECC1F58}"/>
              </a:ext>
            </a:extLst>
          </p:cNvPr>
          <p:cNvSpPr txBox="1"/>
          <p:nvPr/>
        </p:nvSpPr>
        <p:spPr>
          <a:xfrm>
            <a:off x="488160" y="2690107"/>
            <a:ext cx="1371600" cy="457200"/>
          </a:xfrm>
          <a:prstGeom prst="rect">
            <a:avLst/>
          </a:prstGeom>
          <a:noFill/>
          <a:ln/>
        </p:spPr>
        <p:txBody>
          <a:bodyPr wrap="square" lIns="0" tIns="0" rIns="0" bIns="0" rtlCol="0" anchor="ctr"/>
          <a:lstStyle/>
          <a:p>
            <a:pPr marL="0" indent="0" algn="ctr">
              <a:buNone/>
            </a:pPr>
            <a:r>
              <a:rPr lang="en-US" sz="1300" b="1" dirty="0">
                <a:solidFill>
                  <a:srgbClr val="35D0C6"/>
                </a:solidFill>
                <a:latin typeface="Cambria" pitchFamily="34" charset="0"/>
                <a:ea typeface="Cambria" pitchFamily="34" charset="-122"/>
                <a:cs typeface="Cambria" pitchFamily="34" charset="-120"/>
              </a:rPr>
              <a:t>Image</a:t>
            </a:r>
            <a:endParaRPr lang="en-US" sz="1300" dirty="0"/>
          </a:p>
        </p:txBody>
      </p:sp>
      <p:sp>
        <p:nvSpPr>
          <p:cNvPr id="13" name="Text 4">
            <a:extLst>
              <a:ext uri="{FF2B5EF4-FFF2-40B4-BE49-F238E27FC236}">
                <a16:creationId xmlns:a16="http://schemas.microsoft.com/office/drawing/2014/main" id="{71C647E6-0D86-8E38-D078-FB1BC2479156}"/>
              </a:ext>
            </a:extLst>
          </p:cNvPr>
          <p:cNvSpPr txBox="1"/>
          <p:nvPr/>
        </p:nvSpPr>
        <p:spPr>
          <a:xfrm>
            <a:off x="488160" y="3193027"/>
            <a:ext cx="1371600" cy="1463040"/>
          </a:xfrm>
          <a:prstGeom prst="rect">
            <a:avLst/>
          </a:prstGeom>
          <a:noFill/>
          <a:ln/>
        </p:spPr>
        <p:txBody>
          <a:bodyPr wrap="square" lIns="0" tIns="0" rIns="0" bIns="0" rtlCol="0" anchor="t"/>
          <a:lstStyle/>
          <a:p>
            <a:pPr marL="0" indent="0" algn="ctr">
              <a:lnSpc>
                <a:spcPct val="115000"/>
              </a:lnSpc>
              <a:buNone/>
            </a:pPr>
            <a:r>
              <a:rPr lang="en-US" sz="1050" dirty="0">
                <a:solidFill>
                  <a:srgbClr val="9AA0B4"/>
                </a:solidFill>
                <a:latin typeface="Calibri" pitchFamily="34" charset="0"/>
                <a:ea typeface="Calibri" pitchFamily="34" charset="-122"/>
                <a:cs typeface="Calibri" pitchFamily="34" charset="-120"/>
              </a:rPr>
              <a:t>cv2.imread gives BGR; RGB and grey copies are made once</a:t>
            </a:r>
            <a:endParaRPr lang="en-US" sz="1050" dirty="0"/>
          </a:p>
        </p:txBody>
      </p:sp>
      <p:sp>
        <p:nvSpPr>
          <p:cNvPr id="17" name="Shape 5">
            <a:extLst>
              <a:ext uri="{FF2B5EF4-FFF2-40B4-BE49-F238E27FC236}">
                <a16:creationId xmlns:a16="http://schemas.microsoft.com/office/drawing/2014/main" id="{03467059-A367-2BD4-BAE8-E054617BC9CC}"/>
              </a:ext>
            </a:extLst>
          </p:cNvPr>
          <p:cNvSpPr/>
          <p:nvPr/>
        </p:nvSpPr>
        <p:spPr>
          <a:xfrm>
            <a:off x="2499840" y="1227067"/>
            <a:ext cx="4206240" cy="1325880"/>
          </a:xfrm>
          <a:prstGeom prst="roundRect">
            <a:avLst>
              <a:gd name="adj" fmla="val 5517"/>
            </a:avLst>
          </a:prstGeom>
          <a:solidFill>
            <a:srgbClr val="1E2233"/>
          </a:solidFill>
          <a:ln/>
        </p:spPr>
        <p:txBody>
          <a:bodyPr/>
          <a:lstStyle/>
          <a:p>
            <a:endParaRPr lang="en-US"/>
          </a:p>
        </p:txBody>
      </p:sp>
      <p:sp>
        <p:nvSpPr>
          <p:cNvPr id="21" name="Text 6">
            <a:extLst>
              <a:ext uri="{FF2B5EF4-FFF2-40B4-BE49-F238E27FC236}">
                <a16:creationId xmlns:a16="http://schemas.microsoft.com/office/drawing/2014/main" id="{0975B383-DE1B-40BE-F002-A129A3530C36}"/>
              </a:ext>
            </a:extLst>
          </p:cNvPr>
          <p:cNvSpPr txBox="1"/>
          <p:nvPr/>
        </p:nvSpPr>
        <p:spPr>
          <a:xfrm>
            <a:off x="2682720" y="1364227"/>
            <a:ext cx="3840480" cy="310896"/>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Classical (CPU)</a:t>
            </a:r>
            <a:endParaRPr lang="en-US" sz="1300" dirty="0"/>
          </a:p>
        </p:txBody>
      </p:sp>
      <p:sp>
        <p:nvSpPr>
          <p:cNvPr id="25" name="Text 7">
            <a:extLst>
              <a:ext uri="{FF2B5EF4-FFF2-40B4-BE49-F238E27FC236}">
                <a16:creationId xmlns:a16="http://schemas.microsoft.com/office/drawing/2014/main" id="{2E3D2603-C319-7F90-2C24-97B796C2B9E2}"/>
              </a:ext>
            </a:extLst>
          </p:cNvPr>
          <p:cNvSpPr txBox="1"/>
          <p:nvPr/>
        </p:nvSpPr>
        <p:spPr>
          <a:xfrm>
            <a:off x="2682720" y="1729987"/>
            <a:ext cx="3840480" cy="731520"/>
          </a:xfrm>
          <a:prstGeom prst="rect">
            <a:avLst/>
          </a:prstGeom>
          <a:noFill/>
          <a:ln/>
        </p:spPr>
        <p:txBody>
          <a:bodyPr wrap="square" lIns="0" tIns="0" rIns="0" bIns="0" rtlCol="0" anchor="ctr"/>
          <a:lstStyle/>
          <a:p>
            <a:pPr marL="0" indent="0">
              <a:lnSpc>
                <a:spcPct val="115000"/>
              </a:lnSpc>
              <a:buNone/>
            </a:pPr>
            <a:r>
              <a:rPr lang="en-US" sz="1050" dirty="0">
                <a:solidFill>
                  <a:srgbClr val="9AA0B4"/>
                </a:solidFill>
                <a:latin typeface="Calibri" pitchFamily="34" charset="0"/>
                <a:ea typeface="Calibri" pitchFamily="34" charset="-122"/>
                <a:cs typeface="Calibri" pitchFamily="34" charset="-120"/>
              </a:rPr>
              <a:t>run_sobel, run_roberts, run_canny. OpenCV and scikit-image, nothing learned.</a:t>
            </a:r>
            <a:endParaRPr lang="en-US" sz="1050" dirty="0"/>
          </a:p>
        </p:txBody>
      </p:sp>
      <p:sp>
        <p:nvSpPr>
          <p:cNvPr id="29" name="Shape 8">
            <a:extLst>
              <a:ext uri="{FF2B5EF4-FFF2-40B4-BE49-F238E27FC236}">
                <a16:creationId xmlns:a16="http://schemas.microsoft.com/office/drawing/2014/main" id="{082960BF-010F-9350-7257-1C7145617020}"/>
              </a:ext>
            </a:extLst>
          </p:cNvPr>
          <p:cNvSpPr/>
          <p:nvPr/>
        </p:nvSpPr>
        <p:spPr>
          <a:xfrm>
            <a:off x="2024352" y="1793995"/>
            <a:ext cx="420624" cy="201168"/>
          </a:xfrm>
          <a:prstGeom prst="rightArrow">
            <a:avLst/>
          </a:prstGeom>
          <a:solidFill>
            <a:srgbClr val="6B7280"/>
          </a:solidFill>
          <a:ln/>
        </p:spPr>
        <p:txBody>
          <a:bodyPr/>
          <a:lstStyle/>
          <a:p>
            <a:endParaRPr lang="en-US"/>
          </a:p>
        </p:txBody>
      </p:sp>
      <p:sp>
        <p:nvSpPr>
          <p:cNvPr id="33" name="Shape 9">
            <a:extLst>
              <a:ext uri="{FF2B5EF4-FFF2-40B4-BE49-F238E27FC236}">
                <a16:creationId xmlns:a16="http://schemas.microsoft.com/office/drawing/2014/main" id="{D0D86C01-5F7C-24F9-BC60-C1F8685C4AFD}"/>
              </a:ext>
            </a:extLst>
          </p:cNvPr>
          <p:cNvSpPr/>
          <p:nvPr/>
        </p:nvSpPr>
        <p:spPr>
          <a:xfrm>
            <a:off x="6742656" y="1793995"/>
            <a:ext cx="420624" cy="201168"/>
          </a:xfrm>
          <a:prstGeom prst="rightArrow">
            <a:avLst/>
          </a:prstGeom>
          <a:solidFill>
            <a:srgbClr val="6B7280"/>
          </a:solidFill>
          <a:ln/>
        </p:spPr>
        <p:txBody>
          <a:bodyPr/>
          <a:lstStyle/>
          <a:p>
            <a:endParaRPr lang="en-US"/>
          </a:p>
        </p:txBody>
      </p:sp>
      <p:sp>
        <p:nvSpPr>
          <p:cNvPr id="37" name="Shape 10">
            <a:extLst>
              <a:ext uri="{FF2B5EF4-FFF2-40B4-BE49-F238E27FC236}">
                <a16:creationId xmlns:a16="http://schemas.microsoft.com/office/drawing/2014/main" id="{B87A186B-6192-B389-5187-0D3A84902BC6}"/>
              </a:ext>
            </a:extLst>
          </p:cNvPr>
          <p:cNvSpPr/>
          <p:nvPr/>
        </p:nvSpPr>
        <p:spPr>
          <a:xfrm>
            <a:off x="2499840" y="2735827"/>
            <a:ext cx="4206240" cy="1325880"/>
          </a:xfrm>
          <a:prstGeom prst="roundRect">
            <a:avLst>
              <a:gd name="adj" fmla="val 5517"/>
            </a:avLst>
          </a:prstGeom>
          <a:solidFill>
            <a:srgbClr val="1E2233"/>
          </a:solidFill>
          <a:ln/>
        </p:spPr>
        <p:txBody>
          <a:bodyPr/>
          <a:lstStyle/>
          <a:p>
            <a:endParaRPr lang="en-US"/>
          </a:p>
        </p:txBody>
      </p:sp>
      <p:sp>
        <p:nvSpPr>
          <p:cNvPr id="40" name="Text 11">
            <a:extLst>
              <a:ext uri="{FF2B5EF4-FFF2-40B4-BE49-F238E27FC236}">
                <a16:creationId xmlns:a16="http://schemas.microsoft.com/office/drawing/2014/main" id="{6BDB8DEE-BB25-BA90-9C6E-C7C5D8F2C959}"/>
              </a:ext>
            </a:extLst>
          </p:cNvPr>
          <p:cNvSpPr txBox="1"/>
          <p:nvPr/>
        </p:nvSpPr>
        <p:spPr>
          <a:xfrm>
            <a:off x="2682720" y="2872987"/>
            <a:ext cx="3840480" cy="310896"/>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HED (GPU)</a:t>
            </a:r>
            <a:endParaRPr lang="en-US" sz="1300" dirty="0"/>
          </a:p>
        </p:txBody>
      </p:sp>
      <p:sp>
        <p:nvSpPr>
          <p:cNvPr id="43" name="Text 12">
            <a:extLst>
              <a:ext uri="{FF2B5EF4-FFF2-40B4-BE49-F238E27FC236}">
                <a16:creationId xmlns:a16="http://schemas.microsoft.com/office/drawing/2014/main" id="{5FB90CD5-5DE2-84AD-299E-7897BA8682F3}"/>
              </a:ext>
            </a:extLst>
          </p:cNvPr>
          <p:cNvSpPr txBox="1"/>
          <p:nvPr/>
        </p:nvSpPr>
        <p:spPr>
          <a:xfrm>
            <a:off x="2682720" y="3238747"/>
            <a:ext cx="3840480" cy="731520"/>
          </a:xfrm>
          <a:prstGeom prst="rect">
            <a:avLst/>
          </a:prstGeom>
          <a:noFill/>
          <a:ln/>
        </p:spPr>
        <p:txBody>
          <a:bodyPr wrap="square" lIns="0" tIns="0" rIns="0" bIns="0" rtlCol="0" anchor="ctr"/>
          <a:lstStyle/>
          <a:p>
            <a:pPr marL="0" indent="0">
              <a:lnSpc>
                <a:spcPct val="115000"/>
              </a:lnSpc>
              <a:buNone/>
            </a:pPr>
            <a:r>
              <a:rPr lang="en-US" sz="1050" dirty="0">
                <a:solidFill>
                  <a:srgbClr val="9AA0B4"/>
                </a:solidFill>
                <a:latin typeface="Calibri" pitchFamily="34" charset="0"/>
                <a:ea typeface="Calibri" pitchFamily="34" charset="-122"/>
                <a:cs typeface="Calibri" pitchFamily="34" charset="-120"/>
              </a:rPr>
              <a:t>run_hed. The original Caffe weights copied into the repo's PyTorch HED.</a:t>
            </a:r>
            <a:endParaRPr lang="en-US" sz="1050" dirty="0"/>
          </a:p>
        </p:txBody>
      </p:sp>
      <p:sp>
        <p:nvSpPr>
          <p:cNvPr id="46" name="Shape 13">
            <a:extLst>
              <a:ext uri="{FF2B5EF4-FFF2-40B4-BE49-F238E27FC236}">
                <a16:creationId xmlns:a16="http://schemas.microsoft.com/office/drawing/2014/main" id="{B1F63AB7-0733-850D-E1A3-15462F50490E}"/>
              </a:ext>
            </a:extLst>
          </p:cNvPr>
          <p:cNvSpPr/>
          <p:nvPr/>
        </p:nvSpPr>
        <p:spPr>
          <a:xfrm>
            <a:off x="2024352" y="3302755"/>
            <a:ext cx="420624" cy="201168"/>
          </a:xfrm>
          <a:prstGeom prst="rightArrow">
            <a:avLst/>
          </a:prstGeom>
          <a:solidFill>
            <a:srgbClr val="6B7280"/>
          </a:solidFill>
          <a:ln/>
        </p:spPr>
        <p:txBody>
          <a:bodyPr/>
          <a:lstStyle/>
          <a:p>
            <a:endParaRPr lang="en-US"/>
          </a:p>
        </p:txBody>
      </p:sp>
      <p:sp>
        <p:nvSpPr>
          <p:cNvPr id="49" name="Shape 14">
            <a:extLst>
              <a:ext uri="{FF2B5EF4-FFF2-40B4-BE49-F238E27FC236}">
                <a16:creationId xmlns:a16="http://schemas.microsoft.com/office/drawing/2014/main" id="{13497560-5D6D-2683-34B9-A16D35364FE0}"/>
              </a:ext>
            </a:extLst>
          </p:cNvPr>
          <p:cNvSpPr/>
          <p:nvPr/>
        </p:nvSpPr>
        <p:spPr>
          <a:xfrm>
            <a:off x="6742656" y="3302755"/>
            <a:ext cx="420624" cy="201168"/>
          </a:xfrm>
          <a:prstGeom prst="rightArrow">
            <a:avLst/>
          </a:prstGeom>
          <a:solidFill>
            <a:srgbClr val="6B7280"/>
          </a:solidFill>
          <a:ln/>
        </p:spPr>
        <p:txBody>
          <a:bodyPr/>
          <a:lstStyle/>
          <a:p>
            <a:endParaRPr lang="en-US"/>
          </a:p>
        </p:txBody>
      </p:sp>
      <p:sp>
        <p:nvSpPr>
          <p:cNvPr id="52" name="Shape 15">
            <a:extLst>
              <a:ext uri="{FF2B5EF4-FFF2-40B4-BE49-F238E27FC236}">
                <a16:creationId xmlns:a16="http://schemas.microsoft.com/office/drawing/2014/main" id="{9D0CAFFE-EEDF-548B-0B4F-32133F7186A9}"/>
              </a:ext>
            </a:extLst>
          </p:cNvPr>
          <p:cNvSpPr/>
          <p:nvPr/>
        </p:nvSpPr>
        <p:spPr>
          <a:xfrm>
            <a:off x="2499840" y="4244587"/>
            <a:ext cx="4206240" cy="1325880"/>
          </a:xfrm>
          <a:prstGeom prst="roundRect">
            <a:avLst>
              <a:gd name="adj" fmla="val 5517"/>
            </a:avLst>
          </a:prstGeom>
          <a:solidFill>
            <a:srgbClr val="1E2233"/>
          </a:solidFill>
          <a:ln/>
        </p:spPr>
        <p:txBody>
          <a:bodyPr/>
          <a:lstStyle/>
          <a:p>
            <a:endParaRPr lang="en-US"/>
          </a:p>
        </p:txBody>
      </p:sp>
      <p:sp>
        <p:nvSpPr>
          <p:cNvPr id="55" name="Text 16">
            <a:extLst>
              <a:ext uri="{FF2B5EF4-FFF2-40B4-BE49-F238E27FC236}">
                <a16:creationId xmlns:a16="http://schemas.microsoft.com/office/drawing/2014/main" id="{BA506A6A-5AE4-6A93-C0B0-F4128D6FEB22}"/>
              </a:ext>
            </a:extLst>
          </p:cNvPr>
          <p:cNvSpPr txBox="1"/>
          <p:nvPr/>
        </p:nvSpPr>
        <p:spPr>
          <a:xfrm>
            <a:off x="2682720" y="4381747"/>
            <a:ext cx="3840480" cy="310896"/>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PiDiNet family (GPU)</a:t>
            </a:r>
            <a:endParaRPr lang="en-US" sz="1300" dirty="0"/>
          </a:p>
        </p:txBody>
      </p:sp>
      <p:sp>
        <p:nvSpPr>
          <p:cNvPr id="58" name="Text 17">
            <a:extLst>
              <a:ext uri="{FF2B5EF4-FFF2-40B4-BE49-F238E27FC236}">
                <a16:creationId xmlns:a16="http://schemas.microsoft.com/office/drawing/2014/main" id="{553E4A02-5F14-0644-D5DE-AC3D3361EA14}"/>
              </a:ext>
            </a:extLst>
          </p:cNvPr>
          <p:cNvSpPr txBox="1"/>
          <p:nvPr/>
        </p:nvSpPr>
        <p:spPr>
          <a:xfrm>
            <a:off x="2682720" y="4747507"/>
            <a:ext cx="3840480" cy="731520"/>
          </a:xfrm>
          <a:prstGeom prst="rect">
            <a:avLst/>
          </a:prstGeom>
          <a:noFill/>
          <a:ln/>
        </p:spPr>
        <p:txBody>
          <a:bodyPr wrap="square" lIns="0" tIns="0" rIns="0" bIns="0" rtlCol="0" anchor="ctr"/>
          <a:lstStyle/>
          <a:p>
            <a:pPr marL="0" indent="0">
              <a:lnSpc>
                <a:spcPct val="115000"/>
              </a:lnSpc>
              <a:buNone/>
            </a:pPr>
            <a:r>
              <a:rPr lang="en-US" sz="1050" dirty="0">
                <a:solidFill>
                  <a:srgbClr val="9AA0B4"/>
                </a:solidFill>
                <a:latin typeface="Calibri" pitchFamily="34" charset="0"/>
                <a:ea typeface="Calibri" pitchFamily="34" charset="-122"/>
                <a:cs typeface="Calibri" pitchFamily="34" charset="-120"/>
              </a:rPr>
              <a:t>run_pidinet x 6: paper Baseline, Tiny, Small, Full and our Baseline and Full.</a:t>
            </a:r>
            <a:endParaRPr lang="en-US" sz="1050" dirty="0"/>
          </a:p>
        </p:txBody>
      </p:sp>
      <p:sp>
        <p:nvSpPr>
          <p:cNvPr id="60" name="Shape 18">
            <a:extLst>
              <a:ext uri="{FF2B5EF4-FFF2-40B4-BE49-F238E27FC236}">
                <a16:creationId xmlns:a16="http://schemas.microsoft.com/office/drawing/2014/main" id="{4B8963FC-3937-ADF9-193A-439B280ED43A}"/>
              </a:ext>
            </a:extLst>
          </p:cNvPr>
          <p:cNvSpPr/>
          <p:nvPr/>
        </p:nvSpPr>
        <p:spPr>
          <a:xfrm>
            <a:off x="2024352" y="4811515"/>
            <a:ext cx="420624" cy="201168"/>
          </a:xfrm>
          <a:prstGeom prst="rightArrow">
            <a:avLst/>
          </a:prstGeom>
          <a:solidFill>
            <a:srgbClr val="6B7280"/>
          </a:solidFill>
          <a:ln/>
        </p:spPr>
        <p:txBody>
          <a:bodyPr/>
          <a:lstStyle/>
          <a:p>
            <a:endParaRPr lang="en-US"/>
          </a:p>
        </p:txBody>
      </p:sp>
      <p:sp>
        <p:nvSpPr>
          <p:cNvPr id="62" name="Shape 19">
            <a:extLst>
              <a:ext uri="{FF2B5EF4-FFF2-40B4-BE49-F238E27FC236}">
                <a16:creationId xmlns:a16="http://schemas.microsoft.com/office/drawing/2014/main" id="{426C3DBF-D3FC-B069-6E00-74D8F8EE80EE}"/>
              </a:ext>
            </a:extLst>
          </p:cNvPr>
          <p:cNvSpPr/>
          <p:nvPr/>
        </p:nvSpPr>
        <p:spPr>
          <a:xfrm>
            <a:off x="6742656" y="4811515"/>
            <a:ext cx="420624" cy="201168"/>
          </a:xfrm>
          <a:prstGeom prst="rightArrow">
            <a:avLst/>
          </a:prstGeom>
          <a:solidFill>
            <a:srgbClr val="6B7280"/>
          </a:solidFill>
          <a:ln/>
        </p:spPr>
        <p:txBody>
          <a:bodyPr/>
          <a:lstStyle/>
          <a:p>
            <a:endParaRPr lang="en-US"/>
          </a:p>
        </p:txBody>
      </p:sp>
      <p:sp>
        <p:nvSpPr>
          <p:cNvPr id="64" name="Shape 20">
            <a:extLst>
              <a:ext uri="{FF2B5EF4-FFF2-40B4-BE49-F238E27FC236}">
                <a16:creationId xmlns:a16="http://schemas.microsoft.com/office/drawing/2014/main" id="{B682E9ED-2B5C-67FD-783B-322A97737FA3}"/>
              </a:ext>
            </a:extLst>
          </p:cNvPr>
          <p:cNvSpPr/>
          <p:nvPr/>
        </p:nvSpPr>
        <p:spPr>
          <a:xfrm>
            <a:off x="7209000" y="1227067"/>
            <a:ext cx="2011680" cy="4343400"/>
          </a:xfrm>
          <a:prstGeom prst="roundRect">
            <a:avLst>
              <a:gd name="adj" fmla="val 3636"/>
            </a:avLst>
          </a:prstGeom>
          <a:solidFill>
            <a:srgbClr val="F4F5F7"/>
          </a:solidFill>
          <a:ln/>
        </p:spPr>
        <p:txBody>
          <a:bodyPr/>
          <a:lstStyle/>
          <a:p>
            <a:endParaRPr lang="en-US"/>
          </a:p>
        </p:txBody>
      </p:sp>
      <p:sp>
        <p:nvSpPr>
          <p:cNvPr id="66" name="Text 21">
            <a:extLst>
              <a:ext uri="{FF2B5EF4-FFF2-40B4-BE49-F238E27FC236}">
                <a16:creationId xmlns:a16="http://schemas.microsoft.com/office/drawing/2014/main" id="{79A1F09B-CAED-E131-279D-79A515BCCDC4}"/>
              </a:ext>
            </a:extLst>
          </p:cNvPr>
          <p:cNvSpPr txBox="1"/>
          <p:nvPr/>
        </p:nvSpPr>
        <p:spPr>
          <a:xfrm>
            <a:off x="7346160" y="2690107"/>
            <a:ext cx="1737360" cy="457200"/>
          </a:xfrm>
          <a:prstGeom prst="rect">
            <a:avLst/>
          </a:prstGeom>
          <a:noFill/>
          <a:ln/>
        </p:spPr>
        <p:txBody>
          <a:bodyPr wrap="square" lIns="0" tIns="0" rIns="0" bIns="0" rtlCol="0" anchor="ctr"/>
          <a:lstStyle/>
          <a:p>
            <a:pPr marL="0" indent="0" algn="ctr">
              <a:buNone/>
            </a:pPr>
            <a:r>
              <a:rPr lang="en-US" sz="1300" b="1" dirty="0">
                <a:solidFill>
                  <a:srgbClr val="1A1D26"/>
                </a:solidFill>
                <a:latin typeface="Cambria" pitchFamily="34" charset="0"/>
                <a:ea typeface="Cambria" pitchFamily="34" charset="-122"/>
                <a:cs typeface="Cambria" pitchFamily="34" charset="-120"/>
              </a:rPr>
              <a:t>timed(fn, input)</a:t>
            </a:r>
            <a:endParaRPr lang="en-US" sz="1300" dirty="0"/>
          </a:p>
        </p:txBody>
      </p:sp>
      <p:sp>
        <p:nvSpPr>
          <p:cNvPr id="68" name="Text 22">
            <a:extLst>
              <a:ext uri="{FF2B5EF4-FFF2-40B4-BE49-F238E27FC236}">
                <a16:creationId xmlns:a16="http://schemas.microsoft.com/office/drawing/2014/main" id="{171AF44C-DBD7-F76E-2807-690BE86CE130}"/>
              </a:ext>
            </a:extLst>
          </p:cNvPr>
          <p:cNvSpPr txBox="1"/>
          <p:nvPr/>
        </p:nvSpPr>
        <p:spPr>
          <a:xfrm>
            <a:off x="7346160" y="3193027"/>
            <a:ext cx="1737360" cy="1463040"/>
          </a:xfrm>
          <a:prstGeom prst="rect">
            <a:avLst/>
          </a:prstGeom>
          <a:noFill/>
          <a:ln/>
        </p:spPr>
        <p:txBody>
          <a:bodyPr wrap="square" lIns="0" tIns="0" rIns="0" bIns="0" rtlCol="0" anchor="t"/>
          <a:lstStyle/>
          <a:p>
            <a:pPr marL="0" indent="0" algn="ctr">
              <a:lnSpc>
                <a:spcPct val="115000"/>
              </a:lnSpc>
              <a:buNone/>
            </a:pPr>
            <a:r>
              <a:rPr lang="en-US" sz="1050" dirty="0">
                <a:solidFill>
                  <a:srgbClr val="6B7280"/>
                </a:solidFill>
                <a:latin typeface="Calibri" pitchFamily="34" charset="0"/>
                <a:ea typeface="Calibri" pitchFamily="34" charset="-122"/>
                <a:cs typeface="Calibri" pitchFamily="34" charset="-120"/>
              </a:rPr>
              <a:t>One warm-up call, then the average of 3 runs in ms. Outputs are copied to the CPU, so GPU work has finished.</a:t>
            </a:r>
            <a:endParaRPr lang="en-US" sz="1050" dirty="0"/>
          </a:p>
        </p:txBody>
      </p:sp>
      <p:sp>
        <p:nvSpPr>
          <p:cNvPr id="70" name="Shape 23">
            <a:extLst>
              <a:ext uri="{FF2B5EF4-FFF2-40B4-BE49-F238E27FC236}">
                <a16:creationId xmlns:a16="http://schemas.microsoft.com/office/drawing/2014/main" id="{E4205EDF-FA66-86C2-3DCB-2753781864D8}"/>
              </a:ext>
            </a:extLst>
          </p:cNvPr>
          <p:cNvSpPr/>
          <p:nvPr/>
        </p:nvSpPr>
        <p:spPr>
          <a:xfrm>
            <a:off x="9248112" y="3302755"/>
            <a:ext cx="365760" cy="201168"/>
          </a:xfrm>
          <a:prstGeom prst="rightArrow">
            <a:avLst/>
          </a:prstGeom>
          <a:solidFill>
            <a:srgbClr val="6B7280"/>
          </a:solidFill>
          <a:ln/>
        </p:spPr>
        <p:txBody>
          <a:bodyPr/>
          <a:lstStyle/>
          <a:p>
            <a:endParaRPr lang="en-US"/>
          </a:p>
        </p:txBody>
      </p:sp>
      <p:sp>
        <p:nvSpPr>
          <p:cNvPr id="72" name="Shape 24">
            <a:extLst>
              <a:ext uri="{FF2B5EF4-FFF2-40B4-BE49-F238E27FC236}">
                <a16:creationId xmlns:a16="http://schemas.microsoft.com/office/drawing/2014/main" id="{0B1E78EE-CE46-6AB2-3B99-548F67D2D7B1}"/>
              </a:ext>
            </a:extLst>
          </p:cNvPr>
          <p:cNvSpPr/>
          <p:nvPr/>
        </p:nvSpPr>
        <p:spPr>
          <a:xfrm>
            <a:off x="9632160" y="1227067"/>
            <a:ext cx="1828800" cy="4343400"/>
          </a:xfrm>
          <a:prstGeom prst="roundRect">
            <a:avLst>
              <a:gd name="adj" fmla="val 4000"/>
            </a:avLst>
          </a:prstGeom>
          <a:solidFill>
            <a:srgbClr val="14161F"/>
          </a:solidFill>
          <a:ln/>
        </p:spPr>
        <p:txBody>
          <a:bodyPr/>
          <a:lstStyle/>
          <a:p>
            <a:endParaRPr lang="en-US"/>
          </a:p>
        </p:txBody>
      </p:sp>
      <p:sp>
        <p:nvSpPr>
          <p:cNvPr id="74" name="Text 25">
            <a:extLst>
              <a:ext uri="{FF2B5EF4-FFF2-40B4-BE49-F238E27FC236}">
                <a16:creationId xmlns:a16="http://schemas.microsoft.com/office/drawing/2014/main" id="{37A8A87A-0C82-D654-E495-3A724D18D918}"/>
              </a:ext>
            </a:extLst>
          </p:cNvPr>
          <p:cNvSpPr txBox="1"/>
          <p:nvPr/>
        </p:nvSpPr>
        <p:spPr>
          <a:xfrm>
            <a:off x="9769320" y="2690107"/>
            <a:ext cx="1554480" cy="457200"/>
          </a:xfrm>
          <a:prstGeom prst="rect">
            <a:avLst/>
          </a:prstGeom>
          <a:noFill/>
          <a:ln/>
        </p:spPr>
        <p:txBody>
          <a:bodyPr wrap="square" lIns="0" tIns="0" rIns="0" bIns="0" rtlCol="0" anchor="ctr"/>
          <a:lstStyle/>
          <a:p>
            <a:pPr marL="0" indent="0" algn="ctr">
              <a:buNone/>
            </a:pPr>
            <a:r>
              <a:rPr lang="en-US" sz="1300" b="1" dirty="0">
                <a:solidFill>
                  <a:srgbClr val="35D0C6"/>
                </a:solidFill>
                <a:latin typeface="Cambria" pitchFamily="34" charset="0"/>
                <a:ea typeface="Cambria" pitchFamily="34" charset="-122"/>
                <a:cs typeface="Cambria" pitchFamily="34" charset="-120"/>
              </a:rPr>
              <a:t>Results</a:t>
            </a:r>
            <a:endParaRPr lang="en-US" sz="1300" dirty="0"/>
          </a:p>
        </p:txBody>
      </p:sp>
      <p:sp>
        <p:nvSpPr>
          <p:cNvPr id="76" name="Text 26">
            <a:extLst>
              <a:ext uri="{FF2B5EF4-FFF2-40B4-BE49-F238E27FC236}">
                <a16:creationId xmlns:a16="http://schemas.microsoft.com/office/drawing/2014/main" id="{988C16DC-B2AC-A176-4379-F4CE0AB7B540}"/>
              </a:ext>
            </a:extLst>
          </p:cNvPr>
          <p:cNvSpPr txBox="1"/>
          <p:nvPr/>
        </p:nvSpPr>
        <p:spPr>
          <a:xfrm>
            <a:off x="9769320" y="3193027"/>
            <a:ext cx="1554480" cy="1463040"/>
          </a:xfrm>
          <a:prstGeom prst="rect">
            <a:avLst/>
          </a:prstGeom>
          <a:noFill/>
          <a:ln/>
        </p:spPr>
        <p:txBody>
          <a:bodyPr wrap="square" lIns="0" tIns="0" rIns="0" bIns="0" rtlCol="0" anchor="t"/>
          <a:lstStyle/>
          <a:p>
            <a:pPr marL="0" indent="0" algn="ctr">
              <a:lnSpc>
                <a:spcPct val="115000"/>
              </a:lnSpc>
              <a:buNone/>
            </a:pPr>
            <a:r>
              <a:rPr lang="en-US" sz="1050" dirty="0">
                <a:solidFill>
                  <a:srgbClr val="9AA0B4"/>
                </a:solidFill>
                <a:latin typeface="Calibri" pitchFamily="34" charset="0"/>
                <a:ea typeface="Calibri" pitchFamily="34" charset="-122"/>
                <a:cs typeface="Calibri" pitchFamily="34" charset="-120"/>
              </a:rPr>
              <a:t>outs[name] = uint8 map. Saved as one PNG per method and one comparison grid with the ms in each title.</a:t>
            </a:r>
            <a:endParaRPr lang="en-US" sz="1050" dirty="0"/>
          </a:p>
        </p:txBody>
      </p:sp>
    </p:spTree>
    <p:extLst>
      <p:ext uri="{BB962C8B-B14F-4D97-AF65-F5344CB8AC3E}">
        <p14:creationId xmlns:p14="http://schemas.microsoft.com/office/powerpoint/2010/main" val="4060140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7E57A-6EBD-3575-1784-53847A6580A7}"/>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3DAC2B36-4A86-DF1C-1430-0EB494FC9B92}"/>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2DC30EBF-106A-DE46-8136-18E182691468}"/>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DB52A074-D140-CEDA-7F6C-2BEF9AD6051F}"/>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83AC031E-399D-647A-98C3-2453461695D3}"/>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20</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041A8A4D-0276-5B4D-3D3B-60337F62ED2A}"/>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88A2C849-4AE9-6ED4-72F3-E5976EB4C827}"/>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F0AA8E74-9317-67C4-D6D8-5E8929FAD7E0}"/>
              </a:ext>
            </a:extLst>
          </p:cNvPr>
          <p:cNvSpPr/>
          <p:nvPr/>
        </p:nvSpPr>
        <p:spPr>
          <a:xfrm>
            <a:off x="139680" y="129600"/>
            <a:ext cx="964872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DED60817-0652-2312-1A57-A0EA1F10B766}"/>
              </a:ext>
            </a:extLst>
          </p:cNvPr>
          <p:cNvPicPr/>
          <p:nvPr/>
        </p:nvPicPr>
        <p:blipFill>
          <a:blip r:embed="rId4"/>
          <a:stretch/>
        </p:blipFill>
        <p:spPr>
          <a:xfrm>
            <a:off x="11068200" y="-11520"/>
            <a:ext cx="1123560" cy="1123560"/>
          </a:xfrm>
          <a:prstGeom prst="rect">
            <a:avLst/>
          </a:prstGeom>
          <a:ln w="0">
            <a:noFill/>
          </a:ln>
        </p:spPr>
      </p:pic>
      <p:sp>
        <p:nvSpPr>
          <p:cNvPr id="3" name="Shape 2">
            <a:extLst>
              <a:ext uri="{FF2B5EF4-FFF2-40B4-BE49-F238E27FC236}">
                <a16:creationId xmlns:a16="http://schemas.microsoft.com/office/drawing/2014/main" id="{883333C5-F9F1-1867-A489-2510D0C8AC46}"/>
              </a:ext>
            </a:extLst>
          </p:cNvPr>
          <p:cNvSpPr/>
          <p:nvPr/>
        </p:nvSpPr>
        <p:spPr>
          <a:xfrm>
            <a:off x="548640" y="1348740"/>
            <a:ext cx="6400800" cy="3931920"/>
          </a:xfrm>
          <a:prstGeom prst="roundRect">
            <a:avLst>
              <a:gd name="adj" fmla="val 1860"/>
            </a:avLst>
          </a:prstGeom>
          <a:solidFill>
            <a:srgbClr val="14161F"/>
          </a:solidFill>
          <a:ln/>
        </p:spPr>
        <p:txBody>
          <a:bodyPr/>
          <a:lstStyle/>
          <a:p>
            <a:endParaRPr lang="en-US"/>
          </a:p>
        </p:txBody>
      </p:sp>
      <p:sp>
        <p:nvSpPr>
          <p:cNvPr id="6" name="Text 3">
            <a:extLst>
              <a:ext uri="{FF2B5EF4-FFF2-40B4-BE49-F238E27FC236}">
                <a16:creationId xmlns:a16="http://schemas.microsoft.com/office/drawing/2014/main" id="{6417B5A6-9EEA-458F-6DE9-13050FE1D625}"/>
              </a:ext>
            </a:extLst>
          </p:cNvPr>
          <p:cNvSpPr txBox="1"/>
          <p:nvPr/>
        </p:nvSpPr>
        <p:spPr>
          <a:xfrm>
            <a:off x="777240" y="1467612"/>
            <a:ext cx="5943600" cy="292608"/>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PiDiNet: load paper OR our own checkpoint (GPU)</a:t>
            </a:r>
            <a:endParaRPr lang="en-US" sz="1300" dirty="0"/>
          </a:p>
        </p:txBody>
      </p:sp>
      <p:sp>
        <p:nvSpPr>
          <p:cNvPr id="10" name="Text 4">
            <a:extLst>
              <a:ext uri="{FF2B5EF4-FFF2-40B4-BE49-F238E27FC236}">
                <a16:creationId xmlns:a16="http://schemas.microsoft.com/office/drawing/2014/main" id="{003B9140-6194-ABF7-28FE-4C126247F5CD}"/>
              </a:ext>
            </a:extLst>
          </p:cNvPr>
          <p:cNvSpPr txBox="1"/>
          <p:nvPr/>
        </p:nvSpPr>
        <p:spPr>
          <a:xfrm>
            <a:off x="777240" y="1851660"/>
            <a:ext cx="5943600" cy="3291840"/>
          </a:xfrm>
          <a:prstGeom prst="rect">
            <a:avLst/>
          </a:prstGeom>
          <a:noFill/>
          <a:ln/>
        </p:spPr>
        <p:txBody>
          <a:bodyPr wrap="square" lIns="0" tIns="0" rIns="0" bIns="0" rtlCol="0" anchor="t"/>
          <a:lstStyle/>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def load_pidinet(arch, config, ckpt, converted):</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args = SimpleNamespace(config=config, sa=True, dil=True)</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name = arch + ("_converted" if converted else "")</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model = getattr(models, name)(args)</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state = torch.load(ckpt, map_location="cpu",</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weights_only=False)["state_dict"]</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state = {k.replace("module.", "", 1): v</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for k, v in state.items()}</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if converted:</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state = convert_pidinet(state, config)  # PDC -&gt; conv</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model.load_state_dict(state)</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return model.to(device).eval()</a:t>
            </a:r>
            <a:endParaRPr lang="en-US" sz="1000" dirty="0"/>
          </a:p>
          <a:p>
            <a:pPr marL="0" indent="0">
              <a:lnSpc>
                <a:spcPct val="108000"/>
              </a:lnSpc>
              <a:buNone/>
            </a:pP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@torch.no_grad()</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def run_pidinet(model, rgb):</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x = ((rgb / 255.0 - MEAN) / STD).transpose(2, 0, 1)[None]</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y = model(torch.from_numpy(x).to(device))[-1]  # fused map</a:t>
            </a:r>
            <a:endParaRPr lang="en-US" sz="1000" dirty="0"/>
          </a:p>
          <a:p>
            <a:pPr marL="0" indent="0">
              <a:lnSpc>
                <a:spcPct val="108000"/>
              </a:lnSpc>
              <a:buNone/>
            </a:pPr>
            <a:r>
              <a:rPr lang="en-US" sz="1000" dirty="0">
                <a:solidFill>
                  <a:srgbClr val="EDEEF2"/>
                </a:solidFill>
                <a:latin typeface="Consolas" pitchFamily="34" charset="0"/>
                <a:ea typeface="Consolas" pitchFamily="34" charset="-122"/>
                <a:cs typeface="Consolas" pitchFamily="34" charset="-120"/>
              </a:rPr>
              <a:t>    return (255 * y[0, 0].cpu().numpy()).astype(np.uint8)</a:t>
            </a:r>
            <a:endParaRPr lang="en-US" sz="1000" dirty="0"/>
          </a:p>
        </p:txBody>
      </p:sp>
      <p:sp>
        <p:nvSpPr>
          <p:cNvPr id="15" name="Shape 5">
            <a:extLst>
              <a:ext uri="{FF2B5EF4-FFF2-40B4-BE49-F238E27FC236}">
                <a16:creationId xmlns:a16="http://schemas.microsoft.com/office/drawing/2014/main" id="{3185E116-38E9-106A-7C30-C27F4EA5996C}"/>
              </a:ext>
            </a:extLst>
          </p:cNvPr>
          <p:cNvSpPr/>
          <p:nvPr/>
        </p:nvSpPr>
        <p:spPr>
          <a:xfrm>
            <a:off x="7132320" y="1348740"/>
            <a:ext cx="4526280" cy="2011680"/>
          </a:xfrm>
          <a:prstGeom prst="roundRect">
            <a:avLst>
              <a:gd name="adj" fmla="val 3636"/>
            </a:avLst>
          </a:prstGeom>
          <a:solidFill>
            <a:srgbClr val="14161F"/>
          </a:solidFill>
          <a:ln/>
        </p:spPr>
        <p:txBody>
          <a:bodyPr/>
          <a:lstStyle/>
          <a:p>
            <a:endParaRPr lang="en-US"/>
          </a:p>
        </p:txBody>
      </p:sp>
      <p:sp>
        <p:nvSpPr>
          <p:cNvPr id="19" name="Text 6">
            <a:extLst>
              <a:ext uri="{FF2B5EF4-FFF2-40B4-BE49-F238E27FC236}">
                <a16:creationId xmlns:a16="http://schemas.microsoft.com/office/drawing/2014/main" id="{FC47E22A-5F68-9E43-5DDE-1E9C6EED1748}"/>
              </a:ext>
            </a:extLst>
          </p:cNvPr>
          <p:cNvSpPr txBox="1"/>
          <p:nvPr/>
        </p:nvSpPr>
        <p:spPr>
          <a:xfrm>
            <a:off x="7360920" y="1467612"/>
            <a:ext cx="4069080" cy="292608"/>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Classical (CPU) + HED (GPU)</a:t>
            </a:r>
            <a:endParaRPr lang="en-US" sz="1300" dirty="0"/>
          </a:p>
        </p:txBody>
      </p:sp>
      <p:sp>
        <p:nvSpPr>
          <p:cNvPr id="23" name="Text 7">
            <a:extLst>
              <a:ext uri="{FF2B5EF4-FFF2-40B4-BE49-F238E27FC236}">
                <a16:creationId xmlns:a16="http://schemas.microsoft.com/office/drawing/2014/main" id="{DE70AB2A-DF8E-40E3-9D77-521985AB9293}"/>
              </a:ext>
            </a:extLst>
          </p:cNvPr>
          <p:cNvSpPr txBox="1"/>
          <p:nvPr/>
        </p:nvSpPr>
        <p:spPr>
          <a:xfrm>
            <a:off x="7360920" y="1851660"/>
            <a:ext cx="4069080" cy="1371600"/>
          </a:xfrm>
          <a:prstGeom prst="rect">
            <a:avLst/>
          </a:prstGeom>
          <a:noFill/>
          <a:ln/>
        </p:spPr>
        <p:txBody>
          <a:bodyPr wrap="square" lIns="0" tIns="0" rIns="0" bIns="0" rtlCol="0" anchor="t"/>
          <a:lstStyle/>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Sobel    hypot(cv2.Sobel x, cv2.Sobel y)</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Roberts  skimage.filters.roberts(blur)</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Canny    cv2.Canny(blur, 0.4*hi, hi)</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hi = 95th pct of image gradient</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HED      Caffe weights copied into the</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repo's PyTorch HED, run on GPU</a:t>
            </a:r>
            <a:endParaRPr lang="en-US" sz="950" dirty="0"/>
          </a:p>
        </p:txBody>
      </p:sp>
      <p:sp>
        <p:nvSpPr>
          <p:cNvPr id="27" name="Shape 8">
            <a:extLst>
              <a:ext uri="{FF2B5EF4-FFF2-40B4-BE49-F238E27FC236}">
                <a16:creationId xmlns:a16="http://schemas.microsoft.com/office/drawing/2014/main" id="{C05A5E07-9EFA-426B-0788-84D5FD05F433}"/>
              </a:ext>
            </a:extLst>
          </p:cNvPr>
          <p:cNvSpPr/>
          <p:nvPr/>
        </p:nvSpPr>
        <p:spPr>
          <a:xfrm>
            <a:off x="7132320" y="3497580"/>
            <a:ext cx="4526280" cy="1783080"/>
          </a:xfrm>
          <a:prstGeom prst="roundRect">
            <a:avLst>
              <a:gd name="adj" fmla="val 4103"/>
            </a:avLst>
          </a:prstGeom>
          <a:solidFill>
            <a:srgbClr val="14161F"/>
          </a:solidFill>
          <a:ln/>
        </p:spPr>
        <p:txBody>
          <a:bodyPr/>
          <a:lstStyle/>
          <a:p>
            <a:endParaRPr lang="en-US"/>
          </a:p>
        </p:txBody>
      </p:sp>
      <p:sp>
        <p:nvSpPr>
          <p:cNvPr id="31" name="Text 9">
            <a:extLst>
              <a:ext uri="{FF2B5EF4-FFF2-40B4-BE49-F238E27FC236}">
                <a16:creationId xmlns:a16="http://schemas.microsoft.com/office/drawing/2014/main" id="{FB3E02E6-C53C-52B4-A5CC-125931932574}"/>
              </a:ext>
            </a:extLst>
          </p:cNvPr>
          <p:cNvSpPr txBox="1"/>
          <p:nvPr/>
        </p:nvSpPr>
        <p:spPr>
          <a:xfrm>
            <a:off x="7360920" y="3616452"/>
            <a:ext cx="4069080" cy="292608"/>
          </a:xfrm>
          <a:prstGeom prst="rect">
            <a:avLst/>
          </a:prstGeom>
          <a:noFill/>
          <a:ln/>
        </p:spPr>
        <p:txBody>
          <a:bodyPr wrap="square" lIns="0" tIns="0" rIns="0" bIns="0" rtlCol="0" anchor="ctr"/>
          <a:lstStyle/>
          <a:p>
            <a:pPr marL="0" indent="0">
              <a:buNone/>
            </a:pPr>
            <a:r>
              <a:rPr lang="en-US" sz="1300" b="1" dirty="0">
                <a:solidFill>
                  <a:srgbClr val="35D0C6"/>
                </a:solidFill>
                <a:latin typeface="Cambria" pitchFamily="34" charset="0"/>
                <a:ea typeface="Cambria" pitchFamily="34" charset="-122"/>
                <a:cs typeface="Cambria" pitchFamily="34" charset="-120"/>
              </a:rPr>
              <a:t>Run and compare</a:t>
            </a:r>
            <a:endParaRPr lang="en-US" sz="1300" dirty="0"/>
          </a:p>
        </p:txBody>
      </p:sp>
      <p:sp>
        <p:nvSpPr>
          <p:cNvPr id="35" name="Text 10">
            <a:extLst>
              <a:ext uri="{FF2B5EF4-FFF2-40B4-BE49-F238E27FC236}">
                <a16:creationId xmlns:a16="http://schemas.microsoft.com/office/drawing/2014/main" id="{2D3C074C-F106-D2D7-74EE-8D5D5962E87C}"/>
              </a:ext>
            </a:extLst>
          </p:cNvPr>
          <p:cNvSpPr txBox="1"/>
          <p:nvPr/>
        </p:nvSpPr>
        <p:spPr>
          <a:xfrm>
            <a:off x="7360920" y="4000500"/>
            <a:ext cx="4069080" cy="1143000"/>
          </a:xfrm>
          <a:prstGeom prst="rect">
            <a:avLst/>
          </a:prstGeom>
          <a:noFill/>
          <a:ln/>
        </p:spPr>
        <p:txBody>
          <a:bodyPr wrap="square" lIns="0" tIns="0" rIns="0" bIns="0" rtlCol="0" anchor="t"/>
          <a:lstStyle/>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LOADED = {label: load_pidinet(a, c, k, v)</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for label, a, c, k, v in PIDINET_MODELS}</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 4 paper + 2 ours (baseline, PiDiNet)</a:t>
            </a:r>
            <a:endParaRPr lang="en-US" sz="950" dirty="0"/>
          </a:p>
          <a:p>
            <a:pPr marL="0" indent="0">
              <a:lnSpc>
                <a:spcPct val="108000"/>
              </a:lnSpc>
              <a:buNone/>
            </a:pP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outs, ms = compare_image(IMAGE)</a:t>
            </a:r>
            <a:endParaRPr lang="en-US" sz="950" dirty="0"/>
          </a:p>
          <a:p>
            <a:pPr marL="0" indent="0">
              <a:lnSpc>
                <a:spcPct val="108000"/>
              </a:lnSpc>
              <a:buNone/>
            </a:pPr>
            <a:r>
              <a:rPr lang="en-US" sz="950" dirty="0">
                <a:solidFill>
                  <a:srgbClr val="EDEEF2"/>
                </a:solidFill>
                <a:latin typeface="Consolas" pitchFamily="34" charset="0"/>
                <a:ea typeface="Consolas" pitchFamily="34" charset="-122"/>
                <a:cs typeface="Consolas" pitchFamily="34" charset="-120"/>
              </a:rPr>
              <a:t>  # 11 methods -&gt; grid PNG + 1 PNG each</a:t>
            </a:r>
            <a:endParaRPr lang="en-US" sz="950" dirty="0"/>
          </a:p>
        </p:txBody>
      </p:sp>
    </p:spTree>
    <p:extLst>
      <p:ext uri="{BB962C8B-B14F-4D97-AF65-F5344CB8AC3E}">
        <p14:creationId xmlns:p14="http://schemas.microsoft.com/office/powerpoint/2010/main" val="1103535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23E31-7E72-E76E-F28C-8F293D504568}"/>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C3A8FABD-D186-061C-021B-600A5BE5B83B}"/>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CC2583CC-6D54-D302-78CE-841303367C3E}"/>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01CEC994-7526-61EC-B017-10341F388D53}"/>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60857E28-2269-3F71-2A2A-FBA77C4D907A}"/>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21</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91C15072-AFF1-409E-8FF5-0396D5189837}"/>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676BD178-71B1-A8D5-96FD-D733B9232DE5}"/>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15A8D7C1-6636-4C24-9B13-76B0281FB74D}"/>
              </a:ext>
            </a:extLst>
          </p:cNvPr>
          <p:cNvSpPr/>
          <p:nvPr/>
        </p:nvSpPr>
        <p:spPr>
          <a:xfrm>
            <a:off x="139680" y="129600"/>
            <a:ext cx="10833120" cy="10757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 </a:t>
            </a:r>
            <a:r>
              <a:rPr lang="en-US" sz="1400" b="1" spc="-1" dirty="0">
                <a:solidFill>
                  <a:schemeClr val="dk1"/>
                </a:solidFill>
                <a:latin typeface="Aptos Display"/>
              </a:rPr>
              <a:t>(</a:t>
            </a:r>
            <a:r>
              <a:rPr lang="en-US" sz="1400" b="1" dirty="0">
                <a:solidFill>
                  <a:srgbClr val="1A1D26"/>
                </a:solidFill>
                <a:latin typeface="Cambria" pitchFamily="34" charset="0"/>
                <a:ea typeface="Cambria" pitchFamily="34" charset="-122"/>
                <a:cs typeface="Cambria" pitchFamily="34" charset="-120"/>
              </a:rPr>
              <a:t>Paper's office photo</a:t>
            </a:r>
            <a:r>
              <a:rPr lang="en-US" sz="1400" b="1" spc="-1" dirty="0">
                <a:solidFill>
                  <a:schemeClr val="dk1"/>
                </a:solidFill>
                <a:latin typeface="Aptos Display"/>
              </a:rPr>
              <a:t>)</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EDCE87E3-22CF-FF8C-1A65-79BD5EE09389}"/>
              </a:ext>
            </a:extLst>
          </p:cNvPr>
          <p:cNvPicPr/>
          <p:nvPr/>
        </p:nvPicPr>
        <p:blipFill>
          <a:blip r:embed="rId4"/>
          <a:stretch/>
        </p:blipFill>
        <p:spPr>
          <a:xfrm>
            <a:off x="11068200" y="-11520"/>
            <a:ext cx="1123560" cy="1123560"/>
          </a:xfrm>
          <a:prstGeom prst="rect">
            <a:avLst/>
          </a:prstGeom>
          <a:ln w="0">
            <a:noFill/>
          </a:ln>
        </p:spPr>
      </p:pic>
      <p:pic>
        <p:nvPicPr>
          <p:cNvPr id="4" name="Image 0" descr="D:/PiDiNet/results/notebook_compare/compare_paper_office_desk_x3.png">
            <a:extLst>
              <a:ext uri="{FF2B5EF4-FFF2-40B4-BE49-F238E27FC236}">
                <a16:creationId xmlns:a16="http://schemas.microsoft.com/office/drawing/2014/main" id="{90B642DB-1C29-918A-BFC0-097AF23691D9}"/>
              </a:ext>
            </a:extLst>
          </p:cNvPr>
          <p:cNvPicPr>
            <a:picLocks noChangeAspect="1"/>
          </p:cNvPicPr>
          <p:nvPr/>
        </p:nvPicPr>
        <p:blipFill>
          <a:blip r:embed="rId5"/>
          <a:stretch>
            <a:fillRect/>
          </a:stretch>
        </p:blipFill>
        <p:spPr>
          <a:xfrm>
            <a:off x="393480" y="1237542"/>
            <a:ext cx="6958531" cy="4754880"/>
          </a:xfrm>
          <a:prstGeom prst="rect">
            <a:avLst/>
          </a:prstGeom>
        </p:spPr>
      </p:pic>
      <p:sp>
        <p:nvSpPr>
          <p:cNvPr id="7" name="Shape 2">
            <a:extLst>
              <a:ext uri="{FF2B5EF4-FFF2-40B4-BE49-F238E27FC236}">
                <a16:creationId xmlns:a16="http://schemas.microsoft.com/office/drawing/2014/main" id="{6519181D-A3A3-2EF8-17FB-BC3A51089941}"/>
              </a:ext>
            </a:extLst>
          </p:cNvPr>
          <p:cNvSpPr/>
          <p:nvPr/>
        </p:nvSpPr>
        <p:spPr>
          <a:xfrm>
            <a:off x="393480" y="1237542"/>
            <a:ext cx="6958531" cy="4754880"/>
          </a:xfrm>
          <a:prstGeom prst="roundRect">
            <a:avLst>
              <a:gd name="adj" fmla="val 577"/>
            </a:avLst>
          </a:prstGeom>
          <a:ln w="12700">
            <a:solidFill>
              <a:srgbClr val="E5E7EB"/>
            </a:solidFill>
            <a:prstDash val="solid"/>
          </a:ln>
        </p:spPr>
        <p:txBody>
          <a:bodyPr/>
          <a:lstStyle/>
          <a:p>
            <a:endParaRPr lang="en-US"/>
          </a:p>
        </p:txBody>
      </p:sp>
      <p:sp>
        <p:nvSpPr>
          <p:cNvPr id="9" name="Shape 3">
            <a:extLst>
              <a:ext uri="{FF2B5EF4-FFF2-40B4-BE49-F238E27FC236}">
                <a16:creationId xmlns:a16="http://schemas.microsoft.com/office/drawing/2014/main" id="{17360320-6D8A-1919-F0A9-92857E6EE314}"/>
              </a:ext>
            </a:extLst>
          </p:cNvPr>
          <p:cNvSpPr/>
          <p:nvPr/>
        </p:nvSpPr>
        <p:spPr>
          <a:xfrm>
            <a:off x="7626331" y="1237542"/>
            <a:ext cx="4059989" cy="4754880"/>
          </a:xfrm>
          <a:prstGeom prst="roundRect">
            <a:avLst>
              <a:gd name="adj" fmla="val 1802"/>
            </a:avLst>
          </a:prstGeom>
          <a:solidFill>
            <a:srgbClr val="F4F5F7"/>
          </a:solidFill>
          <a:ln/>
        </p:spPr>
        <p:txBody>
          <a:bodyPr/>
          <a:lstStyle/>
          <a:p>
            <a:endParaRPr lang="en-US"/>
          </a:p>
        </p:txBody>
      </p:sp>
      <p:sp>
        <p:nvSpPr>
          <p:cNvPr id="13" name="Text 4">
            <a:extLst>
              <a:ext uri="{FF2B5EF4-FFF2-40B4-BE49-F238E27FC236}">
                <a16:creationId xmlns:a16="http://schemas.microsoft.com/office/drawing/2014/main" id="{0D679293-1D79-FBD9-7225-A3A6681DBF7D}"/>
              </a:ext>
            </a:extLst>
          </p:cNvPr>
          <p:cNvSpPr txBox="1"/>
          <p:nvPr/>
        </p:nvSpPr>
        <p:spPr>
          <a:xfrm>
            <a:off x="7809211" y="1420422"/>
            <a:ext cx="3694229" cy="4389120"/>
          </a:xfrm>
          <a:prstGeom prst="rect">
            <a:avLst/>
          </a:prstGeom>
          <a:noFill/>
          <a:ln/>
        </p:spPr>
        <p:txBody>
          <a:bodyPr wrap="square" lIns="0" tIns="0" rIns="0" bIns="0" rtlCol="0" anchor="t"/>
          <a:lstStyle/>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Last panel:  </a:t>
            </a:r>
            <a:r>
              <a:rPr lang="en-US" sz="1100" dirty="0">
                <a:solidFill>
                  <a:srgbClr val="1A1D26"/>
                </a:solidFill>
                <a:latin typeface="Calibri" pitchFamily="34" charset="0"/>
                <a:ea typeface="Calibri" pitchFamily="34" charset="-122"/>
                <a:cs typeface="Calibri" pitchFamily="34" charset="-120"/>
              </a:rPr>
              <a:t>the authors' published map from the README figure.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Sobel / Roberts / Canny:  </a:t>
            </a:r>
            <a:r>
              <a:rPr lang="en-US" sz="1100" dirty="0">
                <a:solidFill>
                  <a:srgbClr val="1A1D26"/>
                </a:solidFill>
                <a:latin typeface="Calibri" pitchFamily="34" charset="0"/>
                <a:ea typeface="Calibri" pitchFamily="34" charset="-122"/>
                <a:cs typeface="Calibri" pitchFamily="34" charset="-120"/>
              </a:rPr>
              <a:t>main edges only, weak or sparse.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HED:  </a:t>
            </a:r>
            <a:r>
              <a:rPr lang="en-US" sz="1100" dirty="0">
                <a:solidFill>
                  <a:srgbClr val="1A1D26"/>
                </a:solidFill>
                <a:latin typeface="Calibri" pitchFamily="34" charset="0"/>
                <a:ea typeface="Calibri" pitchFamily="34" charset="-122"/>
                <a:cs typeface="Calibri" pitchFamily="34" charset="-120"/>
              </a:rPr>
              <a:t>clean but misses the small objects on the desk.</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PiDiNet (paper, ours):  </a:t>
            </a:r>
            <a:r>
              <a:rPr lang="en-US" sz="1100" dirty="0">
                <a:solidFill>
                  <a:srgbClr val="1A1D26"/>
                </a:solidFill>
                <a:latin typeface="Calibri" pitchFamily="34" charset="0"/>
                <a:ea typeface="Calibri" pitchFamily="34" charset="-122"/>
                <a:cs typeface="Calibri" pitchFamily="34" charset="-120"/>
              </a:rPr>
              <a:t>thin, crisp maps that closely match the authors' output. Input = README thumbnail upscaled x3</a:t>
            </a:r>
            <a:endParaRPr lang="en-US" sz="1150" dirty="0"/>
          </a:p>
          <a:p>
            <a:pPr marL="0" indent="0">
              <a:lnSpc>
                <a:spcPct val="115000"/>
              </a:lnSpc>
              <a:spcAft>
                <a:spcPts val="700"/>
              </a:spcAft>
              <a:buNone/>
            </a:pPr>
            <a:r>
              <a:rPr lang="en-US" sz="950" i="1" dirty="0">
                <a:solidFill>
                  <a:srgbClr val="6B7280"/>
                </a:solidFill>
                <a:latin typeface="Calibri" pitchFamily="34" charset="0"/>
                <a:ea typeface="Calibri" pitchFamily="34" charset="-122"/>
                <a:cs typeface="Calibri" pitchFamily="34" charset="-120"/>
              </a:rPr>
              <a:t>Times in the panel titles: Sobel/Roberts/Canny on CPU; HED and PiDiNet on the RTX 4050 GPU.</a:t>
            </a:r>
            <a:endParaRPr lang="en-US" sz="1150" dirty="0"/>
          </a:p>
        </p:txBody>
      </p:sp>
    </p:spTree>
    <p:extLst>
      <p:ext uri="{BB962C8B-B14F-4D97-AF65-F5344CB8AC3E}">
        <p14:creationId xmlns:p14="http://schemas.microsoft.com/office/powerpoint/2010/main" val="908416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B7DF-FC33-D7C7-AF3C-FC84D7D344F5}"/>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56E2CE28-1990-C8DE-ED39-30591A3517FC}"/>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BC2FF4FB-5DB4-20CD-D8BD-B8397B64A47C}"/>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3759DB5E-9637-7595-DF40-D3E93DBF100E}"/>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D575F9A9-7516-2F6C-6E3B-E562F61DBC54}"/>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22</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C3927F60-93B1-F216-B1E5-9BB07215DA15}"/>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18B180E4-5832-14F2-08D3-E01D092F0297}"/>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6E4B270C-CBE4-4602-FA62-01F262F7B032}"/>
              </a:ext>
            </a:extLst>
          </p:cNvPr>
          <p:cNvSpPr/>
          <p:nvPr/>
        </p:nvSpPr>
        <p:spPr>
          <a:xfrm>
            <a:off x="139680" y="129600"/>
            <a:ext cx="10833120" cy="10757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 </a:t>
            </a:r>
            <a:r>
              <a:rPr lang="en-US" sz="1400" b="1" spc="-1" dirty="0">
                <a:solidFill>
                  <a:schemeClr val="dk1"/>
                </a:solidFill>
                <a:latin typeface="Aptos Display"/>
              </a:rPr>
              <a:t>(</a:t>
            </a:r>
            <a:r>
              <a:rPr lang="en-US" sz="1400" b="1" dirty="0">
                <a:solidFill>
                  <a:srgbClr val="1A1D26"/>
                </a:solidFill>
                <a:latin typeface="Cambria" pitchFamily="34" charset="0"/>
                <a:ea typeface="Cambria" pitchFamily="34" charset="-122"/>
                <a:cs typeface="Cambria" pitchFamily="34" charset="-120"/>
              </a:rPr>
              <a:t>Paper’s lake photo</a:t>
            </a:r>
            <a:r>
              <a:rPr lang="en-US" sz="1400" b="1" spc="-1" dirty="0">
                <a:solidFill>
                  <a:schemeClr val="dk1"/>
                </a:solidFill>
                <a:latin typeface="Aptos Display"/>
              </a:rPr>
              <a:t>)</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8267343F-BAC8-9EAA-44ED-6A4448F160F0}"/>
              </a:ext>
            </a:extLst>
          </p:cNvPr>
          <p:cNvPicPr/>
          <p:nvPr/>
        </p:nvPicPr>
        <p:blipFill>
          <a:blip r:embed="rId4"/>
          <a:stretch/>
        </p:blipFill>
        <p:spPr>
          <a:xfrm>
            <a:off x="11068200" y="-11520"/>
            <a:ext cx="1123560" cy="1123560"/>
          </a:xfrm>
          <a:prstGeom prst="rect">
            <a:avLst/>
          </a:prstGeom>
          <a:ln w="0">
            <a:noFill/>
          </a:ln>
        </p:spPr>
      </p:pic>
      <p:pic>
        <p:nvPicPr>
          <p:cNvPr id="3" name="Image 0" descr="D:/PiDiNet/results/notebook_compare/compare_paper_lake_x3.png">
            <a:extLst>
              <a:ext uri="{FF2B5EF4-FFF2-40B4-BE49-F238E27FC236}">
                <a16:creationId xmlns:a16="http://schemas.microsoft.com/office/drawing/2014/main" id="{386AB400-BF07-28F3-FBFF-A80DA8402111}"/>
              </a:ext>
            </a:extLst>
          </p:cNvPr>
          <p:cNvPicPr>
            <a:picLocks noChangeAspect="1"/>
          </p:cNvPicPr>
          <p:nvPr/>
        </p:nvPicPr>
        <p:blipFill>
          <a:blip r:embed="rId5"/>
          <a:stretch>
            <a:fillRect/>
          </a:stretch>
        </p:blipFill>
        <p:spPr>
          <a:xfrm>
            <a:off x="368280" y="1220051"/>
            <a:ext cx="6958531" cy="4754880"/>
          </a:xfrm>
          <a:prstGeom prst="rect">
            <a:avLst/>
          </a:prstGeom>
        </p:spPr>
      </p:pic>
      <p:sp>
        <p:nvSpPr>
          <p:cNvPr id="6" name="Shape 2">
            <a:extLst>
              <a:ext uri="{FF2B5EF4-FFF2-40B4-BE49-F238E27FC236}">
                <a16:creationId xmlns:a16="http://schemas.microsoft.com/office/drawing/2014/main" id="{1E94B520-94FA-4663-25C3-A3CFB670D207}"/>
              </a:ext>
            </a:extLst>
          </p:cNvPr>
          <p:cNvSpPr/>
          <p:nvPr/>
        </p:nvSpPr>
        <p:spPr>
          <a:xfrm>
            <a:off x="368280" y="1220051"/>
            <a:ext cx="6958531" cy="4754880"/>
          </a:xfrm>
          <a:prstGeom prst="roundRect">
            <a:avLst>
              <a:gd name="adj" fmla="val 577"/>
            </a:avLst>
          </a:prstGeom>
          <a:ln w="12700">
            <a:solidFill>
              <a:srgbClr val="E5E7EB"/>
            </a:solidFill>
            <a:prstDash val="solid"/>
          </a:ln>
        </p:spPr>
        <p:txBody>
          <a:bodyPr/>
          <a:lstStyle/>
          <a:p>
            <a:endParaRPr lang="en-US"/>
          </a:p>
        </p:txBody>
      </p:sp>
      <p:sp>
        <p:nvSpPr>
          <p:cNvPr id="10" name="Shape 3">
            <a:extLst>
              <a:ext uri="{FF2B5EF4-FFF2-40B4-BE49-F238E27FC236}">
                <a16:creationId xmlns:a16="http://schemas.microsoft.com/office/drawing/2014/main" id="{73019875-B9B5-CB88-C7D9-CEE45DBF3F57}"/>
              </a:ext>
            </a:extLst>
          </p:cNvPr>
          <p:cNvSpPr/>
          <p:nvPr/>
        </p:nvSpPr>
        <p:spPr>
          <a:xfrm>
            <a:off x="7601131" y="1220051"/>
            <a:ext cx="4059989" cy="4754880"/>
          </a:xfrm>
          <a:prstGeom prst="roundRect">
            <a:avLst>
              <a:gd name="adj" fmla="val 1802"/>
            </a:avLst>
          </a:prstGeom>
          <a:solidFill>
            <a:srgbClr val="F4F5F7"/>
          </a:solidFill>
          <a:ln/>
        </p:spPr>
        <p:txBody>
          <a:bodyPr/>
          <a:lstStyle/>
          <a:p>
            <a:endParaRPr lang="en-US"/>
          </a:p>
        </p:txBody>
      </p:sp>
      <p:sp>
        <p:nvSpPr>
          <p:cNvPr id="14" name="Text 4">
            <a:extLst>
              <a:ext uri="{FF2B5EF4-FFF2-40B4-BE49-F238E27FC236}">
                <a16:creationId xmlns:a16="http://schemas.microsoft.com/office/drawing/2014/main" id="{6B875B4D-A36B-928D-85A4-31C26CE4F8B9}"/>
              </a:ext>
            </a:extLst>
          </p:cNvPr>
          <p:cNvSpPr txBox="1"/>
          <p:nvPr/>
        </p:nvSpPr>
        <p:spPr>
          <a:xfrm>
            <a:off x="7784011" y="1402931"/>
            <a:ext cx="3694229" cy="4389120"/>
          </a:xfrm>
          <a:prstGeom prst="rect">
            <a:avLst/>
          </a:prstGeom>
          <a:noFill/>
          <a:ln/>
        </p:spPr>
        <p:txBody>
          <a:bodyPr wrap="square" lIns="0" tIns="0" rIns="0" bIns="0" rtlCol="0" anchor="t"/>
          <a:lstStyle/>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Last panel:  </a:t>
            </a:r>
            <a:r>
              <a:rPr lang="en-US" sz="1100" dirty="0">
                <a:solidFill>
                  <a:srgbClr val="1A1D26"/>
                </a:solidFill>
                <a:latin typeface="Calibri" pitchFamily="34" charset="0"/>
                <a:ea typeface="Calibri" pitchFamily="34" charset="-122"/>
                <a:cs typeface="Calibri" pitchFamily="34" charset="-120"/>
              </a:rPr>
              <a:t>the authors' published map from the README figure.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Sobel / Roberts / Canny:  </a:t>
            </a:r>
            <a:r>
              <a:rPr lang="en-US" sz="1100" dirty="0">
                <a:solidFill>
                  <a:srgbClr val="1A1D26"/>
                </a:solidFill>
                <a:latin typeface="Calibri" pitchFamily="34" charset="0"/>
                <a:ea typeface="Calibri" pitchFamily="34" charset="-122"/>
                <a:cs typeface="Calibri" pitchFamily="34" charset="-120"/>
              </a:rPr>
              <a:t>drown in rock, ripple and foliage texture.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HED:  </a:t>
            </a:r>
            <a:r>
              <a:rPr lang="en-US" sz="1100" dirty="0">
                <a:solidFill>
                  <a:srgbClr val="1A1D26"/>
                </a:solidFill>
                <a:latin typeface="Calibri" pitchFamily="34" charset="0"/>
                <a:ea typeface="Calibri" pitchFamily="34" charset="-122"/>
                <a:cs typeface="Calibri" pitchFamily="34" charset="-120"/>
              </a:rPr>
              <a:t>keeps the coastline and trees, drops fine detail.</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PiDiNet (paper, ours):  </a:t>
            </a:r>
            <a:r>
              <a:rPr lang="en-US" sz="1100" dirty="0">
                <a:solidFill>
                  <a:srgbClr val="1A1D26"/>
                </a:solidFill>
                <a:latin typeface="Calibri" pitchFamily="34" charset="0"/>
                <a:ea typeface="Calibri" pitchFamily="34" charset="-122"/>
                <a:cs typeface="Calibri" pitchFamily="34" charset="-120"/>
              </a:rPr>
              <a:t>coastline, horizon and tree outlines match the authors' output closely. Input upscaled x3.</a:t>
            </a:r>
            <a:endParaRPr lang="en-US" sz="1150" dirty="0"/>
          </a:p>
          <a:p>
            <a:pPr marL="0" indent="0">
              <a:lnSpc>
                <a:spcPct val="115000"/>
              </a:lnSpc>
              <a:spcAft>
                <a:spcPts val="700"/>
              </a:spcAft>
              <a:buNone/>
            </a:pPr>
            <a:r>
              <a:rPr lang="en-US" sz="950" i="1" dirty="0">
                <a:solidFill>
                  <a:srgbClr val="6B7280"/>
                </a:solidFill>
                <a:latin typeface="Calibri" pitchFamily="34" charset="0"/>
                <a:ea typeface="Calibri" pitchFamily="34" charset="-122"/>
                <a:cs typeface="Calibri" pitchFamily="34" charset="-120"/>
              </a:rPr>
              <a:t>Times in the panel titles: Sobel/Roberts/Canny on CPU; HED and PiDiNet on the RTX 4050 GPU.</a:t>
            </a:r>
            <a:endParaRPr lang="en-US" sz="1150" dirty="0"/>
          </a:p>
        </p:txBody>
      </p:sp>
    </p:spTree>
    <p:extLst>
      <p:ext uri="{BB962C8B-B14F-4D97-AF65-F5344CB8AC3E}">
        <p14:creationId xmlns:p14="http://schemas.microsoft.com/office/powerpoint/2010/main" val="3750309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946E4-DB9A-DBAD-B652-C0FD92E7E877}"/>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76702A2F-96DE-71E3-D7C2-A3E729B988E0}"/>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4DC367D5-65F4-98E2-28A2-B5E433B0FED5}"/>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6C83B190-D8DF-2AA1-F18F-664462FCA1BD}"/>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7E467447-2CBD-F087-86A0-59011A597225}"/>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23</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414000CF-92AA-028C-EB68-8742AE057537}"/>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A94C8FBF-77FC-37B3-D2D5-A3C5D19C276E}"/>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090ADEEB-991E-CA5C-2CFE-7FC215EECA41}"/>
              </a:ext>
            </a:extLst>
          </p:cNvPr>
          <p:cNvSpPr/>
          <p:nvPr/>
        </p:nvSpPr>
        <p:spPr>
          <a:xfrm>
            <a:off x="139680" y="129600"/>
            <a:ext cx="10833120" cy="10757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 </a:t>
            </a:r>
            <a:r>
              <a:rPr lang="en-US" sz="1400" b="1" spc="-1" dirty="0">
                <a:solidFill>
                  <a:schemeClr val="dk1"/>
                </a:solidFill>
                <a:latin typeface="Aptos Display"/>
              </a:rPr>
              <a:t>(</a:t>
            </a:r>
            <a:r>
              <a:rPr lang="en-US" sz="1400" b="1" dirty="0">
                <a:solidFill>
                  <a:srgbClr val="1A1D26"/>
                </a:solidFill>
                <a:latin typeface="Cambria" pitchFamily="34" charset="0"/>
                <a:ea typeface="Cambria" pitchFamily="34" charset="-122"/>
                <a:cs typeface="Cambria" pitchFamily="34" charset="-120"/>
              </a:rPr>
              <a:t>Naruto photo</a:t>
            </a:r>
            <a:r>
              <a:rPr lang="en-US" sz="1400" b="1" spc="-1" dirty="0">
                <a:solidFill>
                  <a:schemeClr val="dk1"/>
                </a:solidFill>
                <a:latin typeface="Aptos Display"/>
              </a:rPr>
              <a:t>)</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E9E7062A-71DD-05A5-AC88-69AE2A23544E}"/>
              </a:ext>
            </a:extLst>
          </p:cNvPr>
          <p:cNvPicPr/>
          <p:nvPr/>
        </p:nvPicPr>
        <p:blipFill>
          <a:blip r:embed="rId4"/>
          <a:stretch/>
        </p:blipFill>
        <p:spPr>
          <a:xfrm>
            <a:off x="11068200" y="-11520"/>
            <a:ext cx="1123560" cy="1123560"/>
          </a:xfrm>
          <a:prstGeom prst="rect">
            <a:avLst/>
          </a:prstGeom>
          <a:ln w="0">
            <a:noFill/>
          </a:ln>
        </p:spPr>
      </p:pic>
      <p:pic>
        <p:nvPicPr>
          <p:cNvPr id="4" name="Image 0" descr="D:/PiDiNet/results/notebook_compare/compare_naruto.png">
            <a:extLst>
              <a:ext uri="{FF2B5EF4-FFF2-40B4-BE49-F238E27FC236}">
                <a16:creationId xmlns:a16="http://schemas.microsoft.com/office/drawing/2014/main" id="{DA3A9173-9C02-0E31-7C16-C11CC05197FA}"/>
              </a:ext>
            </a:extLst>
          </p:cNvPr>
          <p:cNvPicPr>
            <a:picLocks noChangeAspect="1"/>
          </p:cNvPicPr>
          <p:nvPr/>
        </p:nvPicPr>
        <p:blipFill>
          <a:blip r:embed="rId5"/>
          <a:stretch>
            <a:fillRect/>
          </a:stretch>
        </p:blipFill>
        <p:spPr>
          <a:xfrm>
            <a:off x="483615" y="1320391"/>
            <a:ext cx="7680960" cy="4331570"/>
          </a:xfrm>
          <a:prstGeom prst="rect">
            <a:avLst/>
          </a:prstGeom>
        </p:spPr>
      </p:pic>
      <p:sp>
        <p:nvSpPr>
          <p:cNvPr id="7" name="Shape 2">
            <a:extLst>
              <a:ext uri="{FF2B5EF4-FFF2-40B4-BE49-F238E27FC236}">
                <a16:creationId xmlns:a16="http://schemas.microsoft.com/office/drawing/2014/main" id="{03D92CC8-3F36-5D60-F2AF-8932717A9553}"/>
              </a:ext>
            </a:extLst>
          </p:cNvPr>
          <p:cNvSpPr/>
          <p:nvPr/>
        </p:nvSpPr>
        <p:spPr>
          <a:xfrm>
            <a:off x="483615" y="1320391"/>
            <a:ext cx="7680960" cy="4331570"/>
          </a:xfrm>
          <a:prstGeom prst="roundRect">
            <a:avLst>
              <a:gd name="adj" fmla="val 633"/>
            </a:avLst>
          </a:prstGeom>
          <a:ln w="12700">
            <a:solidFill>
              <a:srgbClr val="E5E7EB"/>
            </a:solidFill>
            <a:prstDash val="solid"/>
          </a:ln>
        </p:spPr>
        <p:txBody>
          <a:bodyPr/>
          <a:lstStyle/>
          <a:p>
            <a:endParaRPr lang="en-US"/>
          </a:p>
        </p:txBody>
      </p:sp>
      <p:sp>
        <p:nvSpPr>
          <p:cNvPr id="9" name="Shape 3">
            <a:extLst>
              <a:ext uri="{FF2B5EF4-FFF2-40B4-BE49-F238E27FC236}">
                <a16:creationId xmlns:a16="http://schemas.microsoft.com/office/drawing/2014/main" id="{C9E292F8-1EB1-1680-A0D0-13FC3F61C4DC}"/>
              </a:ext>
            </a:extLst>
          </p:cNvPr>
          <p:cNvSpPr/>
          <p:nvPr/>
        </p:nvSpPr>
        <p:spPr>
          <a:xfrm>
            <a:off x="8438895" y="1320391"/>
            <a:ext cx="3337560" cy="4331570"/>
          </a:xfrm>
          <a:prstGeom prst="roundRect">
            <a:avLst>
              <a:gd name="adj" fmla="val 2192"/>
            </a:avLst>
          </a:prstGeom>
          <a:solidFill>
            <a:srgbClr val="F4F5F7"/>
          </a:solidFill>
          <a:ln/>
        </p:spPr>
        <p:txBody>
          <a:bodyPr/>
          <a:lstStyle/>
          <a:p>
            <a:endParaRPr lang="en-US"/>
          </a:p>
        </p:txBody>
      </p:sp>
      <p:sp>
        <p:nvSpPr>
          <p:cNvPr id="13" name="Text 4">
            <a:extLst>
              <a:ext uri="{FF2B5EF4-FFF2-40B4-BE49-F238E27FC236}">
                <a16:creationId xmlns:a16="http://schemas.microsoft.com/office/drawing/2014/main" id="{FD681B4E-1682-2617-D4E3-475E05ABFF6A}"/>
              </a:ext>
            </a:extLst>
          </p:cNvPr>
          <p:cNvSpPr txBox="1"/>
          <p:nvPr/>
        </p:nvSpPr>
        <p:spPr>
          <a:xfrm>
            <a:off x="8621775" y="1503271"/>
            <a:ext cx="2971800" cy="3965810"/>
          </a:xfrm>
          <a:prstGeom prst="rect">
            <a:avLst/>
          </a:prstGeom>
          <a:noFill/>
          <a:ln/>
        </p:spPr>
        <p:txBody>
          <a:bodyPr wrap="square" lIns="0" tIns="0" rIns="0" bIns="0" rtlCol="0" anchor="t"/>
          <a:lstStyle/>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Sobel / Roberts / Canny:  </a:t>
            </a:r>
            <a:r>
              <a:rPr lang="en-US" sz="1100" dirty="0">
                <a:solidFill>
                  <a:srgbClr val="1A1D26"/>
                </a:solidFill>
                <a:latin typeface="Calibri" pitchFamily="34" charset="0"/>
                <a:ea typeface="Calibri" pitchFamily="34" charset="-122"/>
                <a:cs typeface="Calibri" pitchFamily="34" charset="-120"/>
              </a:rPr>
              <a:t>faint and sparse on the painted frame.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HED:  </a:t>
            </a:r>
            <a:r>
              <a:rPr lang="en-US" sz="1100" dirty="0">
                <a:solidFill>
                  <a:srgbClr val="1A1D26"/>
                </a:solidFill>
                <a:latin typeface="Calibri" pitchFamily="34" charset="0"/>
                <a:ea typeface="Calibri" pitchFamily="34" charset="-122"/>
                <a:cs typeface="Calibri" pitchFamily="34" charset="-120"/>
              </a:rPr>
              <a:t>clear faces, hair and clothing with a calmer background.</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PiDiNet / Baseline:  </a:t>
            </a:r>
            <a:r>
              <a:rPr lang="en-US" sz="1100" dirty="0">
                <a:solidFill>
                  <a:srgbClr val="1A1D26"/>
                </a:solidFill>
                <a:latin typeface="Calibri" pitchFamily="34" charset="0"/>
                <a:ea typeface="Calibri" pitchFamily="34" charset="-122"/>
                <a:cs typeface="Calibri" pitchFamily="34" charset="-120"/>
              </a:rPr>
              <a:t>same subjects, plus more foliage texture in the background.</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OURS (teal):  </a:t>
            </a:r>
            <a:r>
              <a:rPr lang="en-US" sz="1100" dirty="0">
                <a:solidFill>
                  <a:srgbClr val="1A1D26"/>
                </a:solidFill>
                <a:latin typeface="Calibri" pitchFamily="34" charset="0"/>
                <a:ea typeface="Calibri" pitchFamily="34" charset="-122"/>
                <a:cs typeface="Calibri" pitchFamily="34" charset="-120"/>
              </a:rPr>
              <a:t>match the paper checkpoints on this hardest photo.</a:t>
            </a:r>
            <a:endParaRPr lang="en-US" sz="1150" dirty="0"/>
          </a:p>
          <a:p>
            <a:pPr marL="0" indent="0">
              <a:lnSpc>
                <a:spcPct val="115000"/>
              </a:lnSpc>
              <a:spcAft>
                <a:spcPts val="700"/>
              </a:spcAft>
              <a:buNone/>
            </a:pPr>
            <a:r>
              <a:rPr lang="en-US" sz="950" i="1" dirty="0">
                <a:solidFill>
                  <a:srgbClr val="6B7280"/>
                </a:solidFill>
                <a:latin typeface="Calibri" pitchFamily="34" charset="0"/>
                <a:ea typeface="Calibri" pitchFamily="34" charset="-122"/>
                <a:cs typeface="Calibri" pitchFamily="34" charset="-120"/>
              </a:rPr>
              <a:t>Times in the panel titles: Sobel/Roberts/Canny on CPU; HED and PiDiNet on the RTX 4050 GPU.</a:t>
            </a:r>
            <a:endParaRPr lang="en-US" sz="1150" dirty="0"/>
          </a:p>
        </p:txBody>
      </p:sp>
    </p:spTree>
    <p:extLst>
      <p:ext uri="{BB962C8B-B14F-4D97-AF65-F5344CB8AC3E}">
        <p14:creationId xmlns:p14="http://schemas.microsoft.com/office/powerpoint/2010/main" val="4292957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9F8B7-3575-9F6A-84F4-6DA8BF37AADE}"/>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6F0DF4B0-4C66-CC8F-7BC0-3480F57D4D13}"/>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65574CAC-553E-25FA-12CE-03D80C05AD76}"/>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DE34A949-B3D5-3FE1-3F3D-46421891D8A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5FC92250-ACE3-FAE7-9D56-30EAF444272C}"/>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24</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D80E2925-1030-5A8E-DABC-E2DFB8C12776}"/>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D648F3D9-B825-D4AB-E4F3-98FF0F58ECD2}"/>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71D07F88-60AE-F9FF-0B0B-EB5790E1E840}"/>
              </a:ext>
            </a:extLst>
          </p:cNvPr>
          <p:cNvSpPr/>
          <p:nvPr/>
        </p:nvSpPr>
        <p:spPr>
          <a:xfrm>
            <a:off x="139680" y="129600"/>
            <a:ext cx="10833120" cy="10757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 </a:t>
            </a:r>
            <a:r>
              <a:rPr lang="en-US" sz="1400" b="1" spc="-1" dirty="0">
                <a:solidFill>
                  <a:schemeClr val="dk1"/>
                </a:solidFill>
                <a:latin typeface="Aptos Display"/>
              </a:rPr>
              <a:t>(</a:t>
            </a:r>
            <a:r>
              <a:rPr lang="en-US" sz="1400" b="1" dirty="0">
                <a:solidFill>
                  <a:srgbClr val="1A1D26"/>
                </a:solidFill>
                <a:latin typeface="Cambria" pitchFamily="34" charset="0"/>
                <a:ea typeface="Cambria" pitchFamily="34" charset="-122"/>
                <a:cs typeface="Cambria" pitchFamily="34" charset="-120"/>
              </a:rPr>
              <a:t>Labubu photo</a:t>
            </a:r>
            <a:r>
              <a:rPr lang="en-US" sz="1400" b="1" spc="-1" dirty="0">
                <a:solidFill>
                  <a:schemeClr val="dk1"/>
                </a:solidFill>
                <a:latin typeface="Aptos Display"/>
              </a:rPr>
              <a:t>)</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5669547A-678C-D0AF-99AE-671A0E44CA62}"/>
              </a:ext>
            </a:extLst>
          </p:cNvPr>
          <p:cNvPicPr/>
          <p:nvPr/>
        </p:nvPicPr>
        <p:blipFill>
          <a:blip r:embed="rId4"/>
          <a:stretch/>
        </p:blipFill>
        <p:spPr>
          <a:xfrm>
            <a:off x="11068200" y="-11520"/>
            <a:ext cx="1123560" cy="1123560"/>
          </a:xfrm>
          <a:prstGeom prst="rect">
            <a:avLst/>
          </a:prstGeom>
          <a:ln w="0">
            <a:noFill/>
          </a:ln>
        </p:spPr>
      </p:pic>
      <p:pic>
        <p:nvPicPr>
          <p:cNvPr id="3" name="Image 0" descr="D:/PiDiNet/results/notebook_compare/compare_labubu.png">
            <a:extLst>
              <a:ext uri="{FF2B5EF4-FFF2-40B4-BE49-F238E27FC236}">
                <a16:creationId xmlns:a16="http://schemas.microsoft.com/office/drawing/2014/main" id="{88245590-953A-DF6D-A395-E98446B24D29}"/>
              </a:ext>
            </a:extLst>
          </p:cNvPr>
          <p:cNvPicPr>
            <a:picLocks noChangeAspect="1"/>
          </p:cNvPicPr>
          <p:nvPr/>
        </p:nvPicPr>
        <p:blipFill>
          <a:blip r:embed="rId5"/>
          <a:stretch>
            <a:fillRect/>
          </a:stretch>
        </p:blipFill>
        <p:spPr>
          <a:xfrm>
            <a:off x="368280" y="1292240"/>
            <a:ext cx="7680960" cy="4273520"/>
          </a:xfrm>
          <a:prstGeom prst="rect">
            <a:avLst/>
          </a:prstGeom>
        </p:spPr>
      </p:pic>
      <p:sp>
        <p:nvSpPr>
          <p:cNvPr id="6" name="Shape 2">
            <a:extLst>
              <a:ext uri="{FF2B5EF4-FFF2-40B4-BE49-F238E27FC236}">
                <a16:creationId xmlns:a16="http://schemas.microsoft.com/office/drawing/2014/main" id="{E8FDE7EB-F8C8-9472-009C-CCCFC57237C8}"/>
              </a:ext>
            </a:extLst>
          </p:cNvPr>
          <p:cNvSpPr/>
          <p:nvPr/>
        </p:nvSpPr>
        <p:spPr>
          <a:xfrm>
            <a:off x="368280" y="1292240"/>
            <a:ext cx="7680960" cy="4273520"/>
          </a:xfrm>
          <a:prstGeom prst="roundRect">
            <a:avLst>
              <a:gd name="adj" fmla="val 642"/>
            </a:avLst>
          </a:prstGeom>
          <a:ln w="12700">
            <a:solidFill>
              <a:srgbClr val="E5E7EB"/>
            </a:solidFill>
            <a:prstDash val="solid"/>
          </a:ln>
        </p:spPr>
        <p:txBody>
          <a:bodyPr/>
          <a:lstStyle/>
          <a:p>
            <a:endParaRPr lang="en-US"/>
          </a:p>
        </p:txBody>
      </p:sp>
      <p:sp>
        <p:nvSpPr>
          <p:cNvPr id="10" name="Shape 3">
            <a:extLst>
              <a:ext uri="{FF2B5EF4-FFF2-40B4-BE49-F238E27FC236}">
                <a16:creationId xmlns:a16="http://schemas.microsoft.com/office/drawing/2014/main" id="{713CE49A-FAC8-13FC-9B47-A553205FFD16}"/>
              </a:ext>
            </a:extLst>
          </p:cNvPr>
          <p:cNvSpPr/>
          <p:nvPr/>
        </p:nvSpPr>
        <p:spPr>
          <a:xfrm>
            <a:off x="8323560" y="1292240"/>
            <a:ext cx="3337560" cy="4273520"/>
          </a:xfrm>
          <a:prstGeom prst="roundRect">
            <a:avLst>
              <a:gd name="adj" fmla="val 2192"/>
            </a:avLst>
          </a:prstGeom>
          <a:solidFill>
            <a:srgbClr val="F4F5F7"/>
          </a:solidFill>
          <a:ln/>
        </p:spPr>
        <p:txBody>
          <a:bodyPr/>
          <a:lstStyle/>
          <a:p>
            <a:endParaRPr lang="en-US"/>
          </a:p>
        </p:txBody>
      </p:sp>
      <p:sp>
        <p:nvSpPr>
          <p:cNvPr id="14" name="Text 4">
            <a:extLst>
              <a:ext uri="{FF2B5EF4-FFF2-40B4-BE49-F238E27FC236}">
                <a16:creationId xmlns:a16="http://schemas.microsoft.com/office/drawing/2014/main" id="{AD5C38D5-63E9-F702-ACA0-0420782916EA}"/>
              </a:ext>
            </a:extLst>
          </p:cNvPr>
          <p:cNvSpPr txBox="1"/>
          <p:nvPr/>
        </p:nvSpPr>
        <p:spPr>
          <a:xfrm>
            <a:off x="8506440" y="1475120"/>
            <a:ext cx="2971800" cy="3907760"/>
          </a:xfrm>
          <a:prstGeom prst="rect">
            <a:avLst/>
          </a:prstGeom>
          <a:noFill/>
          <a:ln/>
        </p:spPr>
        <p:txBody>
          <a:bodyPr wrap="square" lIns="0" tIns="0" rIns="0" bIns="0" rtlCol="0" anchor="t"/>
          <a:lstStyle/>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Sobel / Roberts / Canny:  </a:t>
            </a:r>
            <a:r>
              <a:rPr lang="en-US" sz="1100" dirty="0">
                <a:solidFill>
                  <a:srgbClr val="1A1D26"/>
                </a:solidFill>
                <a:latin typeface="Calibri" pitchFamily="34" charset="0"/>
                <a:ea typeface="Calibri" pitchFamily="34" charset="-122"/>
                <a:cs typeface="Calibri" pitchFamily="34" charset="-120"/>
              </a:rPr>
              <a:t>on clean cartoon line art they give sharp, thin outlines - competitive here.</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HED:  </a:t>
            </a:r>
            <a:r>
              <a:rPr lang="en-US" sz="1100" dirty="0">
                <a:solidFill>
                  <a:srgbClr val="1A1D26"/>
                </a:solidFill>
                <a:latin typeface="Calibri" pitchFamily="34" charset="0"/>
                <a:ea typeface="Calibri" pitchFamily="34" charset="-122"/>
                <a:cs typeface="Calibri" pitchFamily="34" charset="-120"/>
              </a:rPr>
              <a:t>bold, continuous outlines.</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PiDiNet / Baseline:  </a:t>
            </a:r>
            <a:r>
              <a:rPr lang="en-US" sz="1100" dirty="0">
                <a:solidFill>
                  <a:srgbClr val="1A1D26"/>
                </a:solidFill>
                <a:latin typeface="Calibri" pitchFamily="34" charset="0"/>
                <a:ea typeface="Calibri" pitchFamily="34" charset="-122"/>
                <a:cs typeface="Calibri" pitchFamily="34" charset="-120"/>
              </a:rPr>
              <a:t>thicker, softer double outlines. </a:t>
            </a:r>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OURS (teal):  </a:t>
            </a:r>
            <a:r>
              <a:rPr lang="en-US" sz="1100" dirty="0">
                <a:solidFill>
                  <a:srgbClr val="1A1D26"/>
                </a:solidFill>
                <a:latin typeface="Calibri" pitchFamily="34" charset="0"/>
                <a:ea typeface="Calibri" pitchFamily="34" charset="-122"/>
                <a:cs typeface="Calibri" pitchFamily="34" charset="-120"/>
              </a:rPr>
              <a:t>match the paper checkpoints.</a:t>
            </a:r>
            <a:endParaRPr lang="en-US" sz="1150" dirty="0"/>
          </a:p>
          <a:p>
            <a:pPr marL="0" indent="0">
              <a:lnSpc>
                <a:spcPct val="115000"/>
              </a:lnSpc>
              <a:spcAft>
                <a:spcPts val="700"/>
              </a:spcAft>
              <a:buNone/>
            </a:pPr>
            <a:r>
              <a:rPr lang="en-US" sz="950" i="1" dirty="0">
                <a:solidFill>
                  <a:srgbClr val="6B7280"/>
                </a:solidFill>
                <a:latin typeface="Calibri" pitchFamily="34" charset="0"/>
                <a:ea typeface="Calibri" pitchFamily="34" charset="-122"/>
                <a:cs typeface="Calibri" pitchFamily="34" charset="-120"/>
              </a:rPr>
              <a:t>Times in the panel titles: Sobel/Roberts/Canny on CPU; HED and PiDiNet on the RTX 4050 GPU.</a:t>
            </a:r>
            <a:endParaRPr lang="en-US" sz="1150" dirty="0"/>
          </a:p>
        </p:txBody>
      </p:sp>
    </p:spTree>
    <p:extLst>
      <p:ext uri="{BB962C8B-B14F-4D97-AF65-F5344CB8AC3E}">
        <p14:creationId xmlns:p14="http://schemas.microsoft.com/office/powerpoint/2010/main" val="3334241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43E7-F078-A909-24CF-06E9D82A7D79}"/>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1B1BD7B7-DD2C-B5F2-EBE4-F12E269CD69E}"/>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6FF2834B-E8F9-C954-3D65-13AF61354475}"/>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1924F0DD-9E86-A154-54CC-658BE81EBE8A}"/>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35AB6BC4-4927-848C-949E-42591C3A8786}"/>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25</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BE314A34-3726-8BD2-1CEF-57242E4AFF5F}"/>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CFE8E3D8-4B6E-ECCD-BA72-D17AC184049A}"/>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7DA09BF8-A909-86BE-7F4D-ECD76B5B50CF}"/>
              </a:ext>
            </a:extLst>
          </p:cNvPr>
          <p:cNvSpPr/>
          <p:nvPr/>
        </p:nvSpPr>
        <p:spPr>
          <a:xfrm>
            <a:off x="139680" y="129600"/>
            <a:ext cx="10833120" cy="107576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 </a:t>
            </a:r>
            <a:r>
              <a:rPr lang="en-US" sz="1400" b="1" spc="-1" dirty="0">
                <a:solidFill>
                  <a:schemeClr val="dk1"/>
                </a:solidFill>
                <a:latin typeface="Aptos Display"/>
              </a:rPr>
              <a:t>(</a:t>
            </a:r>
            <a:r>
              <a:rPr lang="en-US" sz="1400" b="1" dirty="0">
                <a:solidFill>
                  <a:srgbClr val="1A1D26"/>
                </a:solidFill>
                <a:latin typeface="Cambria" pitchFamily="34" charset="0"/>
                <a:ea typeface="Cambria" pitchFamily="34" charset="-122"/>
                <a:cs typeface="Cambria" pitchFamily="34" charset="-120"/>
              </a:rPr>
              <a:t>Handwritten note photo</a:t>
            </a:r>
            <a:r>
              <a:rPr lang="en-US" sz="1400" b="1" spc="-1" dirty="0">
                <a:solidFill>
                  <a:schemeClr val="dk1"/>
                </a:solidFill>
                <a:latin typeface="Aptos Display"/>
              </a:rPr>
              <a:t>)</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8206ACC2-D04A-6D6B-F65C-BDF29233CAD7}"/>
              </a:ext>
            </a:extLst>
          </p:cNvPr>
          <p:cNvPicPr/>
          <p:nvPr/>
        </p:nvPicPr>
        <p:blipFill>
          <a:blip r:embed="rId4"/>
          <a:stretch/>
        </p:blipFill>
        <p:spPr>
          <a:xfrm>
            <a:off x="11068200" y="-11520"/>
            <a:ext cx="1123560" cy="1123560"/>
          </a:xfrm>
          <a:prstGeom prst="rect">
            <a:avLst/>
          </a:prstGeom>
          <a:ln w="0">
            <a:noFill/>
          </a:ln>
        </p:spPr>
      </p:pic>
      <p:pic>
        <p:nvPicPr>
          <p:cNvPr id="4" name="Image 0" descr="D:/PiDiNet/results/notebook_compare/compare_20260919103052.png">
            <a:extLst>
              <a:ext uri="{FF2B5EF4-FFF2-40B4-BE49-F238E27FC236}">
                <a16:creationId xmlns:a16="http://schemas.microsoft.com/office/drawing/2014/main" id="{A1226C5E-7A85-A97D-A313-BBE1CCDDB9CD}"/>
              </a:ext>
            </a:extLst>
          </p:cNvPr>
          <p:cNvPicPr>
            <a:picLocks noChangeAspect="1"/>
          </p:cNvPicPr>
          <p:nvPr/>
        </p:nvPicPr>
        <p:blipFill>
          <a:blip r:embed="rId5"/>
          <a:stretch>
            <a:fillRect/>
          </a:stretch>
        </p:blipFill>
        <p:spPr>
          <a:xfrm>
            <a:off x="483615" y="1273614"/>
            <a:ext cx="6775281" cy="4754880"/>
          </a:xfrm>
          <a:prstGeom prst="rect">
            <a:avLst/>
          </a:prstGeom>
        </p:spPr>
      </p:pic>
      <p:sp>
        <p:nvSpPr>
          <p:cNvPr id="7" name="Shape 2">
            <a:extLst>
              <a:ext uri="{FF2B5EF4-FFF2-40B4-BE49-F238E27FC236}">
                <a16:creationId xmlns:a16="http://schemas.microsoft.com/office/drawing/2014/main" id="{35F7111D-B86E-36BE-5E74-F5F8DDC34C1A}"/>
              </a:ext>
            </a:extLst>
          </p:cNvPr>
          <p:cNvSpPr/>
          <p:nvPr/>
        </p:nvSpPr>
        <p:spPr>
          <a:xfrm>
            <a:off x="483615" y="1273614"/>
            <a:ext cx="6775281" cy="4754880"/>
          </a:xfrm>
          <a:prstGeom prst="roundRect">
            <a:avLst>
              <a:gd name="adj" fmla="val 577"/>
            </a:avLst>
          </a:prstGeom>
          <a:ln w="12700">
            <a:solidFill>
              <a:srgbClr val="E5E7EB"/>
            </a:solidFill>
            <a:prstDash val="solid"/>
          </a:ln>
        </p:spPr>
        <p:txBody>
          <a:bodyPr/>
          <a:lstStyle/>
          <a:p>
            <a:endParaRPr lang="en-US"/>
          </a:p>
        </p:txBody>
      </p:sp>
      <p:sp>
        <p:nvSpPr>
          <p:cNvPr id="9" name="Shape 3">
            <a:extLst>
              <a:ext uri="{FF2B5EF4-FFF2-40B4-BE49-F238E27FC236}">
                <a16:creationId xmlns:a16="http://schemas.microsoft.com/office/drawing/2014/main" id="{50BC33A7-DA56-01DD-C001-82F0BA351A75}"/>
              </a:ext>
            </a:extLst>
          </p:cNvPr>
          <p:cNvSpPr/>
          <p:nvPr/>
        </p:nvSpPr>
        <p:spPr>
          <a:xfrm>
            <a:off x="7533216" y="1273614"/>
            <a:ext cx="4243239" cy="4754880"/>
          </a:xfrm>
          <a:prstGeom prst="roundRect">
            <a:avLst>
              <a:gd name="adj" fmla="val 1724"/>
            </a:avLst>
          </a:prstGeom>
          <a:solidFill>
            <a:srgbClr val="F4F5F7"/>
          </a:solidFill>
          <a:ln/>
        </p:spPr>
        <p:txBody>
          <a:bodyPr/>
          <a:lstStyle/>
          <a:p>
            <a:endParaRPr lang="en-US"/>
          </a:p>
        </p:txBody>
      </p:sp>
      <p:sp>
        <p:nvSpPr>
          <p:cNvPr id="13" name="Text 4">
            <a:extLst>
              <a:ext uri="{FF2B5EF4-FFF2-40B4-BE49-F238E27FC236}">
                <a16:creationId xmlns:a16="http://schemas.microsoft.com/office/drawing/2014/main" id="{2BE392F4-CF8F-43E6-3A1A-D86A84A0469D}"/>
              </a:ext>
            </a:extLst>
          </p:cNvPr>
          <p:cNvSpPr txBox="1"/>
          <p:nvPr/>
        </p:nvSpPr>
        <p:spPr>
          <a:xfrm>
            <a:off x="7716096" y="1456494"/>
            <a:ext cx="3877479" cy="4389120"/>
          </a:xfrm>
          <a:prstGeom prst="rect">
            <a:avLst/>
          </a:prstGeom>
          <a:noFill/>
          <a:ln/>
        </p:spPr>
        <p:txBody>
          <a:bodyPr wrap="square" lIns="0" tIns="0" rIns="0" bIns="0" rtlCol="0" anchor="t"/>
          <a:lstStyle/>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Sobel / Roberts:  </a:t>
            </a:r>
            <a:r>
              <a:rPr lang="en-US" sz="1100" dirty="0">
                <a:solidFill>
                  <a:srgbClr val="1A1D26"/>
                </a:solidFill>
                <a:latin typeface="Calibri" pitchFamily="34" charset="0"/>
                <a:ea typeface="Calibri" pitchFamily="34" charset="-122"/>
                <a:cs typeface="Calibri" pitchFamily="34" charset="-120"/>
              </a:rPr>
              <a:t>show the strokes but also light up the noisy background.</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Canny:  </a:t>
            </a:r>
            <a:r>
              <a:rPr lang="en-US" sz="1100" dirty="0">
                <a:solidFill>
                  <a:srgbClr val="1A1D26"/>
                </a:solidFill>
                <a:latin typeface="Calibri" pitchFamily="34" charset="0"/>
                <a:ea typeface="Calibri" pitchFamily="34" charset="-122"/>
                <a:cs typeface="Calibri" pitchFamily="34" charset="-120"/>
              </a:rPr>
              <a:t>clean 1px lines yet fragments faint handwriting; much of the text is lost.</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HED:  </a:t>
            </a:r>
            <a:r>
              <a:rPr lang="en-US" sz="1100" dirty="0">
                <a:solidFill>
                  <a:srgbClr val="1A1D26"/>
                </a:solidFill>
                <a:latin typeface="Calibri" pitchFamily="34" charset="0"/>
                <a:ea typeface="Calibri" pitchFamily="34" charset="-122"/>
                <a:cs typeface="Calibri" pitchFamily="34" charset="-120"/>
              </a:rPr>
              <a:t>smooth but dim on faint strokes.</a:t>
            </a:r>
            <a:endParaRPr lang="en-US" sz="1150" dirty="0"/>
          </a:p>
          <a:p>
            <a:pPr marL="0" indent="0">
              <a:lnSpc>
                <a:spcPct val="115000"/>
              </a:lnSpc>
              <a:spcAft>
                <a:spcPts val="700"/>
              </a:spcAft>
              <a:buNone/>
            </a:pPr>
            <a:r>
              <a:rPr lang="en-US" sz="1150" b="1" dirty="0">
                <a:solidFill>
                  <a:srgbClr val="14161F"/>
                </a:solidFill>
                <a:latin typeface="Cambria" pitchFamily="34" charset="0"/>
                <a:ea typeface="Cambria" pitchFamily="34" charset="-122"/>
                <a:cs typeface="Cambria" pitchFamily="34" charset="-120"/>
              </a:rPr>
              <a:t>PiDiNet (paper and ours):  </a:t>
            </a:r>
            <a:r>
              <a:rPr lang="en-US" sz="1100" dirty="0">
                <a:solidFill>
                  <a:srgbClr val="1A1D26"/>
                </a:solidFill>
                <a:latin typeface="Calibri" pitchFamily="34" charset="0"/>
                <a:ea typeface="Calibri" pitchFamily="34" charset="-122"/>
                <a:cs typeface="Calibri" pitchFamily="34" charset="-120"/>
              </a:rPr>
              <a:t>most complete: spiral binding and letters both sharp, background clean.</a:t>
            </a:r>
            <a:endParaRPr lang="en-US" sz="1150" dirty="0"/>
          </a:p>
          <a:p>
            <a:pPr marL="0" indent="0">
              <a:lnSpc>
                <a:spcPct val="115000"/>
              </a:lnSpc>
              <a:spcAft>
                <a:spcPts val="700"/>
              </a:spcAft>
              <a:buNone/>
            </a:pPr>
            <a:r>
              <a:rPr lang="en-US" sz="950" i="1" dirty="0">
                <a:solidFill>
                  <a:srgbClr val="6B7280"/>
                </a:solidFill>
                <a:latin typeface="Calibri" pitchFamily="34" charset="0"/>
                <a:ea typeface="Calibri" pitchFamily="34" charset="-122"/>
                <a:cs typeface="Calibri" pitchFamily="34" charset="-120"/>
              </a:rPr>
              <a:t>Times in the panel titles: Sobel/Roberts/Canny on CPU; HED and PiDiNet on the RTX 4050 GPU.</a:t>
            </a:r>
            <a:endParaRPr lang="en-US" sz="1150" dirty="0"/>
          </a:p>
        </p:txBody>
      </p:sp>
    </p:spTree>
    <p:extLst>
      <p:ext uri="{BB962C8B-B14F-4D97-AF65-F5344CB8AC3E}">
        <p14:creationId xmlns:p14="http://schemas.microsoft.com/office/powerpoint/2010/main" val="1819204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BDEBF-CF14-B70A-45C9-8F21E20C971D}"/>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F822738B-FFA9-7125-45A1-D59ABB835C79}"/>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488A1169-F651-BAB8-BD59-E80A74F1DB96}"/>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D83D2AE1-A58F-287B-5B78-5B80B1A3C21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6002A2FA-415B-BBA9-E119-C489F03840B5}"/>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26</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F00705AD-346D-B9BC-BD6C-B134A11717D5}"/>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C3262543-25FC-CCC6-505B-AD2613C5D9DA}"/>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F63EDB86-9B08-C758-6FD9-540D9FEBBD7B}"/>
              </a:ext>
            </a:extLst>
          </p:cNvPr>
          <p:cNvSpPr/>
          <p:nvPr/>
        </p:nvSpPr>
        <p:spPr>
          <a:xfrm>
            <a:off x="139680" y="129600"/>
            <a:ext cx="964872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References</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AAA84DF5-37F4-8A2C-E1D0-45DD7892A3E5}"/>
              </a:ext>
            </a:extLst>
          </p:cNvPr>
          <p:cNvPicPr/>
          <p:nvPr/>
        </p:nvPicPr>
        <p:blipFill>
          <a:blip r:embed="rId4"/>
          <a:stretch/>
        </p:blipFill>
        <p:spPr>
          <a:xfrm>
            <a:off x="11068200" y="-11520"/>
            <a:ext cx="1123560" cy="1123560"/>
          </a:xfrm>
          <a:prstGeom prst="rect">
            <a:avLst/>
          </a:prstGeom>
          <a:ln w="0">
            <a:noFill/>
          </a:ln>
        </p:spPr>
      </p:pic>
      <p:sp>
        <p:nvSpPr>
          <p:cNvPr id="6" name="Text 2">
            <a:extLst>
              <a:ext uri="{FF2B5EF4-FFF2-40B4-BE49-F238E27FC236}">
                <a16:creationId xmlns:a16="http://schemas.microsoft.com/office/drawing/2014/main" id="{F1E6F755-0B5A-2BE0-647A-03A9837E0085}"/>
              </a:ext>
            </a:extLst>
          </p:cNvPr>
          <p:cNvSpPr txBox="1"/>
          <p:nvPr/>
        </p:nvSpPr>
        <p:spPr>
          <a:xfrm>
            <a:off x="2035247" y="1463079"/>
            <a:ext cx="2743200" cy="5486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Paper</a:t>
            </a:r>
            <a:endParaRPr lang="en-US" sz="1300" dirty="0"/>
          </a:p>
        </p:txBody>
      </p:sp>
      <p:sp>
        <p:nvSpPr>
          <p:cNvPr id="10" name="Text 3">
            <a:extLst>
              <a:ext uri="{FF2B5EF4-FFF2-40B4-BE49-F238E27FC236}">
                <a16:creationId xmlns:a16="http://schemas.microsoft.com/office/drawing/2014/main" id="{2298E25B-9186-A7E8-A3A8-C48B94952393}"/>
              </a:ext>
            </a:extLst>
          </p:cNvPr>
          <p:cNvSpPr txBox="1"/>
          <p:nvPr/>
        </p:nvSpPr>
        <p:spPr>
          <a:xfrm>
            <a:off x="2035247" y="1737399"/>
            <a:ext cx="7955280" cy="5486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Su et al., “Pixel Difference Networks for Efficient Edge Detection,” ICCV 2021 — arXiv:2108.07009</a:t>
            </a:r>
            <a:endParaRPr lang="en-US" sz="1200" b="1" dirty="0">
              <a:solidFill>
                <a:schemeClr val="tx1">
                  <a:lumMod val="85000"/>
                  <a:lumOff val="15000"/>
                </a:schemeClr>
              </a:solidFill>
              <a:effectLst>
                <a:outerShdw blurRad="38100" dist="38100" dir="2700000" algn="tl">
                  <a:srgbClr val="000000">
                    <a:alpha val="43137"/>
                  </a:srgbClr>
                </a:outerShdw>
              </a:effectLst>
            </a:endParaRPr>
          </a:p>
        </p:txBody>
      </p:sp>
      <p:sp>
        <p:nvSpPr>
          <p:cNvPr id="15" name="Text 4">
            <a:extLst>
              <a:ext uri="{FF2B5EF4-FFF2-40B4-BE49-F238E27FC236}">
                <a16:creationId xmlns:a16="http://schemas.microsoft.com/office/drawing/2014/main" id="{54A9164F-4A9C-760E-1918-9BE9EF720C62}"/>
              </a:ext>
            </a:extLst>
          </p:cNvPr>
          <p:cNvSpPr txBox="1"/>
          <p:nvPr/>
        </p:nvSpPr>
        <p:spPr>
          <a:xfrm>
            <a:off x="2035247" y="2240319"/>
            <a:ext cx="2743200" cy="5486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Journal extension</a:t>
            </a:r>
            <a:endParaRPr lang="en-US" sz="1300" dirty="0"/>
          </a:p>
        </p:txBody>
      </p:sp>
      <p:sp>
        <p:nvSpPr>
          <p:cNvPr id="19" name="Text 5">
            <a:extLst>
              <a:ext uri="{FF2B5EF4-FFF2-40B4-BE49-F238E27FC236}">
                <a16:creationId xmlns:a16="http://schemas.microsoft.com/office/drawing/2014/main" id="{D739820D-A242-688E-C834-ECCB2776FB76}"/>
              </a:ext>
            </a:extLst>
          </p:cNvPr>
          <p:cNvSpPr txBox="1"/>
          <p:nvPr/>
        </p:nvSpPr>
        <p:spPr>
          <a:xfrm>
            <a:off x="2035247" y="2514639"/>
            <a:ext cx="7955280" cy="5486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Su et al., “Lightweight Pixel Difference Networks for Efficient Visual Representation Learning,” IEEE TPAMI 2023</a:t>
            </a:r>
            <a:endParaRPr lang="en-US" sz="1200" b="1" dirty="0">
              <a:solidFill>
                <a:schemeClr val="tx1">
                  <a:lumMod val="85000"/>
                  <a:lumOff val="15000"/>
                </a:schemeClr>
              </a:solidFill>
              <a:effectLst>
                <a:outerShdw blurRad="38100" dist="38100" dir="2700000" algn="tl">
                  <a:srgbClr val="000000">
                    <a:alpha val="43137"/>
                  </a:srgbClr>
                </a:outerShdw>
              </a:effectLst>
            </a:endParaRPr>
          </a:p>
        </p:txBody>
      </p:sp>
      <p:sp>
        <p:nvSpPr>
          <p:cNvPr id="23" name="Text 6">
            <a:extLst>
              <a:ext uri="{FF2B5EF4-FFF2-40B4-BE49-F238E27FC236}">
                <a16:creationId xmlns:a16="http://schemas.microsoft.com/office/drawing/2014/main" id="{40BCD389-E763-3BDD-B294-4AA3D5AB7812}"/>
              </a:ext>
            </a:extLst>
          </p:cNvPr>
          <p:cNvSpPr txBox="1"/>
          <p:nvPr/>
        </p:nvSpPr>
        <p:spPr>
          <a:xfrm>
            <a:off x="2035247" y="3017559"/>
            <a:ext cx="2743200" cy="5486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Code</a:t>
            </a:r>
            <a:endParaRPr lang="en-US" sz="1300" dirty="0"/>
          </a:p>
        </p:txBody>
      </p:sp>
      <p:sp>
        <p:nvSpPr>
          <p:cNvPr id="27" name="Text 7">
            <a:extLst>
              <a:ext uri="{FF2B5EF4-FFF2-40B4-BE49-F238E27FC236}">
                <a16:creationId xmlns:a16="http://schemas.microsoft.com/office/drawing/2014/main" id="{D2A81CA2-1E53-86E1-E191-7EC9D39C149C}"/>
              </a:ext>
            </a:extLst>
          </p:cNvPr>
          <p:cNvSpPr txBox="1"/>
          <p:nvPr/>
        </p:nvSpPr>
        <p:spPr>
          <a:xfrm>
            <a:off x="2035247" y="3291879"/>
            <a:ext cx="7955280" cy="5486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github.com/hellozhuo/pidinet — official PyTorch implementation, used as-is for this work</a:t>
            </a:r>
            <a:endParaRPr lang="en-US" sz="1200" b="1" dirty="0">
              <a:solidFill>
                <a:schemeClr val="tx1">
                  <a:lumMod val="85000"/>
                  <a:lumOff val="15000"/>
                </a:schemeClr>
              </a:solidFill>
              <a:effectLst>
                <a:outerShdw blurRad="38100" dist="38100" dir="2700000" algn="tl">
                  <a:srgbClr val="000000">
                    <a:alpha val="43137"/>
                  </a:srgbClr>
                </a:outerShdw>
              </a:effectLst>
            </a:endParaRPr>
          </a:p>
        </p:txBody>
      </p:sp>
      <p:sp>
        <p:nvSpPr>
          <p:cNvPr id="31" name="Text 8">
            <a:extLst>
              <a:ext uri="{FF2B5EF4-FFF2-40B4-BE49-F238E27FC236}">
                <a16:creationId xmlns:a16="http://schemas.microsoft.com/office/drawing/2014/main" id="{4A86CA8A-7792-484E-53A0-419822FA4AFC}"/>
              </a:ext>
            </a:extLst>
          </p:cNvPr>
          <p:cNvSpPr txBox="1"/>
          <p:nvPr/>
        </p:nvSpPr>
        <p:spPr>
          <a:xfrm>
            <a:off x="2035247" y="3794799"/>
            <a:ext cx="2743200" cy="5486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Dataset (raw)</a:t>
            </a:r>
            <a:endParaRPr lang="en-US" sz="1300" dirty="0"/>
          </a:p>
        </p:txBody>
      </p:sp>
      <p:sp>
        <p:nvSpPr>
          <p:cNvPr id="35" name="Text 9">
            <a:extLst>
              <a:ext uri="{FF2B5EF4-FFF2-40B4-BE49-F238E27FC236}">
                <a16:creationId xmlns:a16="http://schemas.microsoft.com/office/drawing/2014/main" id="{EDE30747-C951-AC8D-A212-F2BA71FA314F}"/>
              </a:ext>
            </a:extLst>
          </p:cNvPr>
          <p:cNvSpPr txBox="1"/>
          <p:nvPr/>
        </p:nvSpPr>
        <p:spPr>
          <a:xfrm>
            <a:off x="2035247" y="4069119"/>
            <a:ext cx="7955280" cy="5486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Berkeley BSDS500 (raw release) - www2.eecs.berkeley.edu/Research/Projects/CS/vision/grouping</a:t>
            </a:r>
            <a:endParaRPr lang="en-US" sz="1200" b="1" dirty="0">
              <a:solidFill>
                <a:schemeClr val="tx1">
                  <a:lumMod val="85000"/>
                  <a:lumOff val="15000"/>
                </a:schemeClr>
              </a:solidFill>
              <a:effectLst>
                <a:outerShdw blurRad="38100" dist="38100" dir="2700000" algn="tl">
                  <a:srgbClr val="000000">
                    <a:alpha val="43137"/>
                  </a:srgbClr>
                </a:outerShdw>
              </a:effectLst>
            </a:endParaRPr>
          </a:p>
        </p:txBody>
      </p:sp>
      <p:sp>
        <p:nvSpPr>
          <p:cNvPr id="38" name="Text 10">
            <a:extLst>
              <a:ext uri="{FF2B5EF4-FFF2-40B4-BE49-F238E27FC236}">
                <a16:creationId xmlns:a16="http://schemas.microsoft.com/office/drawing/2014/main" id="{DE715DA9-CB4B-1B0D-6D07-E641E6FFF55A}"/>
              </a:ext>
            </a:extLst>
          </p:cNvPr>
          <p:cNvSpPr txBox="1"/>
          <p:nvPr/>
        </p:nvSpPr>
        <p:spPr>
          <a:xfrm>
            <a:off x="2035247" y="4572039"/>
            <a:ext cx="2743200" cy="5486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Dataset (augmented, real)</a:t>
            </a:r>
            <a:endParaRPr lang="en-US" sz="1300" dirty="0"/>
          </a:p>
        </p:txBody>
      </p:sp>
      <p:sp>
        <p:nvSpPr>
          <p:cNvPr id="40" name="Text 11">
            <a:extLst>
              <a:ext uri="{FF2B5EF4-FFF2-40B4-BE49-F238E27FC236}">
                <a16:creationId xmlns:a16="http://schemas.microsoft.com/office/drawing/2014/main" id="{3E10321E-44A1-7A02-2EA5-2E6DED1A0D16}"/>
              </a:ext>
            </a:extLst>
          </p:cNvPr>
          <p:cNvSpPr txBox="1"/>
          <p:nvPr/>
        </p:nvSpPr>
        <p:spPr>
          <a:xfrm>
            <a:off x="2035247" y="4846359"/>
            <a:ext cx="7955280" cy="5486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ffectLst>
                  <a:outerShdw blurRad="38100" dist="38100" dir="2700000" algn="tl">
                    <a:srgbClr val="000000">
                      <a:alpha val="43137"/>
                    </a:srgbClr>
                  </a:outerShdw>
                </a:effectLst>
                <a:latin typeface="Calibri" pitchFamily="34" charset="0"/>
                <a:ea typeface="Calibri" pitchFamily="34" charset="-122"/>
                <a:cs typeface="Calibri" pitchFamily="34" charset="-120"/>
              </a:rPr>
              <a:t>HED-BSDS.tar (28,800 pairs) - vcl.ucsd.edu/hed/HED-BSDS.tar. mmcheng.net mirror is dead;</a:t>
            </a:r>
            <a:endParaRPr lang="en-US" sz="1200" b="1" dirty="0">
              <a:solidFill>
                <a:schemeClr val="tx1">
                  <a:lumMod val="85000"/>
                  <a:lumOff val="1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90599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099A-5303-9722-7D76-B02198C77CAE}"/>
            </a:ext>
          </a:extLst>
        </p:cNvPr>
        <p:cNvGrpSpPr/>
        <p:nvPr/>
      </p:nvGrpSpPr>
      <p:grpSpPr>
        <a:xfrm>
          <a:off x="0" y="0"/>
          <a:ext cx="0" cy="0"/>
          <a:chOff x="0" y="0"/>
          <a:chExt cx="0" cy="0"/>
        </a:xfrm>
      </p:grpSpPr>
      <p:pic>
        <p:nvPicPr>
          <p:cNvPr id="330" name="Picture 1">
            <a:extLst>
              <a:ext uri="{FF2B5EF4-FFF2-40B4-BE49-F238E27FC236}">
                <a16:creationId xmlns:a16="http://schemas.microsoft.com/office/drawing/2014/main" id="{866D39C8-C244-AED8-EA62-793EED811564}"/>
              </a:ext>
            </a:extLst>
          </p:cNvPr>
          <p:cNvPicPr/>
          <p:nvPr/>
        </p:nvPicPr>
        <p:blipFill>
          <a:blip r:embed="rId3"/>
          <a:stretch/>
        </p:blipFill>
        <p:spPr>
          <a:xfrm>
            <a:off x="4290480" y="1698120"/>
            <a:ext cx="3610800" cy="3461760"/>
          </a:xfrm>
          <a:prstGeom prst="rect">
            <a:avLst/>
          </a:prstGeom>
          <a:ln w="0">
            <a:noFill/>
          </a:ln>
        </p:spPr>
      </p:pic>
    </p:spTree>
    <p:extLst>
      <p:ext uri="{BB962C8B-B14F-4D97-AF65-F5344CB8AC3E}">
        <p14:creationId xmlns:p14="http://schemas.microsoft.com/office/powerpoint/2010/main" val="11374003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E3714-CF44-F3B0-7934-683D1F5ECE7C}"/>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EDBBCBA3-33C7-4511-EE84-E710D63E59EF}"/>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3220D1B4-5717-F0E6-764B-13966A7EA520}"/>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FF82F9C2-D1BB-79B5-EE31-C3AABA815F9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43C40B0F-3238-F709-A824-E81611127AA0}"/>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28</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08F16AE7-5DEA-C77E-189D-A66B4F8EA380}"/>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4BDC117F-5525-1651-F24C-7B76E68E84B2}"/>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9CE0D4BA-B528-6424-3359-EB82F8C33AEF}"/>
              </a:ext>
            </a:extLst>
          </p:cNvPr>
          <p:cNvSpPr/>
          <p:nvPr/>
        </p:nvSpPr>
        <p:spPr>
          <a:xfrm>
            <a:off x="139680" y="129600"/>
            <a:ext cx="9648720" cy="107576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Paper checkpoint vs our retrain, same photos</a:t>
            </a:r>
          </a:p>
          <a:p>
            <a:pPr>
              <a:tabLst>
                <a:tab pos="0" algn="l"/>
              </a:tabLst>
            </a:pPr>
            <a:endParaRPr lang="en-US" sz="3200" b="1" spc="-1" dirty="0">
              <a:solidFill>
                <a:schemeClr val="dk1"/>
              </a:solidFill>
              <a:latin typeface="Aptos Display"/>
            </a:endParaRPr>
          </a:p>
        </p:txBody>
      </p:sp>
      <p:pic>
        <p:nvPicPr>
          <p:cNvPr id="13" name="Image 0" descr="D:/PiDiNet/presentation/grid5_naruto.jpg">
            <a:extLst>
              <a:ext uri="{FF2B5EF4-FFF2-40B4-BE49-F238E27FC236}">
                <a16:creationId xmlns:a16="http://schemas.microsoft.com/office/drawing/2014/main" id="{BF889665-7AB5-0947-1F54-3F8B310BB5B8}"/>
              </a:ext>
            </a:extLst>
          </p:cNvPr>
          <p:cNvPicPr>
            <a:picLocks noChangeAspect="1"/>
          </p:cNvPicPr>
          <p:nvPr/>
        </p:nvPicPr>
        <p:blipFill>
          <a:blip r:embed="rId4"/>
          <a:stretch>
            <a:fillRect/>
          </a:stretch>
        </p:blipFill>
        <p:spPr>
          <a:xfrm>
            <a:off x="5496351" y="723900"/>
            <a:ext cx="6082902" cy="5356112"/>
          </a:xfrm>
          <a:prstGeom prst="rect">
            <a:avLst/>
          </a:prstGeom>
        </p:spPr>
      </p:pic>
      <p:pic>
        <p:nvPicPr>
          <p:cNvPr id="99" name="Picture 2" descr="Nust Logo - CrystalPng">
            <a:extLst>
              <a:ext uri="{FF2B5EF4-FFF2-40B4-BE49-F238E27FC236}">
                <a16:creationId xmlns:a16="http://schemas.microsoft.com/office/drawing/2014/main" id="{B25DCADB-7531-860A-C057-57EF43570769}"/>
              </a:ext>
            </a:extLst>
          </p:cNvPr>
          <p:cNvPicPr/>
          <p:nvPr/>
        </p:nvPicPr>
        <p:blipFill>
          <a:blip r:embed="rId5"/>
          <a:stretch/>
        </p:blipFill>
        <p:spPr>
          <a:xfrm>
            <a:off x="11068200" y="-11520"/>
            <a:ext cx="1123560" cy="1123560"/>
          </a:xfrm>
          <a:prstGeom prst="rect">
            <a:avLst/>
          </a:prstGeom>
          <a:ln w="0">
            <a:noFill/>
          </a:ln>
        </p:spPr>
      </p:pic>
      <p:pic>
        <p:nvPicPr>
          <p:cNvPr id="17" name="Image 0" descr="D:/PiDiNet/presentation/grid5_lcd4inch.jpg">
            <a:extLst>
              <a:ext uri="{FF2B5EF4-FFF2-40B4-BE49-F238E27FC236}">
                <a16:creationId xmlns:a16="http://schemas.microsoft.com/office/drawing/2014/main" id="{A34884BB-2D6C-8D41-DED8-4A582A73D3F2}"/>
              </a:ext>
            </a:extLst>
          </p:cNvPr>
          <p:cNvPicPr>
            <a:picLocks noChangeAspect="1"/>
          </p:cNvPicPr>
          <p:nvPr/>
        </p:nvPicPr>
        <p:blipFill>
          <a:blip r:embed="rId6"/>
          <a:stretch>
            <a:fillRect/>
          </a:stretch>
        </p:blipFill>
        <p:spPr>
          <a:xfrm>
            <a:off x="139680" y="723900"/>
            <a:ext cx="5230606" cy="5356112"/>
          </a:xfrm>
          <a:prstGeom prst="rect">
            <a:avLst/>
          </a:prstGeom>
        </p:spPr>
      </p:pic>
    </p:spTree>
    <p:extLst>
      <p:ext uri="{BB962C8B-B14F-4D97-AF65-F5344CB8AC3E}">
        <p14:creationId xmlns:p14="http://schemas.microsoft.com/office/powerpoint/2010/main" val="1320338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0392C-21A4-A102-085B-1FC6DF1E71C7}"/>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FDE15403-1B3A-170F-5B9A-CF35A077F754}"/>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3F343F79-6245-08CB-851B-2860B14464BD}"/>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8ED89C1F-A639-1E23-84BC-2CF773A4C312}"/>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33BC2465-68E3-E8AF-76C4-B725CE94497B}"/>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29</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EB1C79FA-251C-6F5E-3126-8316EAB38FF8}"/>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5AD2F3D4-903C-33B5-FF48-F93B982ACAF8}"/>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E153667E-FE8D-C577-B2CC-8E7E942E94F3}"/>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Paper checkpoint vs our retrain, same photos</a:t>
            </a:r>
          </a:p>
        </p:txBody>
      </p:sp>
      <p:pic>
        <p:nvPicPr>
          <p:cNvPr id="3" name="Image 0" descr="D:/PiDiNet/presentation/grid5_20260919103052.jpg">
            <a:extLst>
              <a:ext uri="{FF2B5EF4-FFF2-40B4-BE49-F238E27FC236}">
                <a16:creationId xmlns:a16="http://schemas.microsoft.com/office/drawing/2014/main" id="{ED5179C3-FBF8-FE04-B948-15F2307FEB8E}"/>
              </a:ext>
            </a:extLst>
          </p:cNvPr>
          <p:cNvPicPr>
            <a:picLocks noChangeAspect="1"/>
          </p:cNvPicPr>
          <p:nvPr/>
        </p:nvPicPr>
        <p:blipFill>
          <a:blip r:embed="rId4"/>
          <a:stretch>
            <a:fillRect/>
          </a:stretch>
        </p:blipFill>
        <p:spPr>
          <a:xfrm>
            <a:off x="274800" y="896130"/>
            <a:ext cx="5879574" cy="5177078"/>
          </a:xfrm>
          <a:prstGeom prst="rect">
            <a:avLst/>
          </a:prstGeom>
        </p:spPr>
      </p:pic>
      <p:pic>
        <p:nvPicPr>
          <p:cNvPr id="5" name="Image 0" descr="D:/PiDiNet/presentation/grid5_labubu.jpg">
            <a:extLst>
              <a:ext uri="{FF2B5EF4-FFF2-40B4-BE49-F238E27FC236}">
                <a16:creationId xmlns:a16="http://schemas.microsoft.com/office/drawing/2014/main" id="{DD10EE3B-604B-214F-53A0-1DA7E09C5447}"/>
              </a:ext>
            </a:extLst>
          </p:cNvPr>
          <p:cNvPicPr>
            <a:picLocks noChangeAspect="1"/>
          </p:cNvPicPr>
          <p:nvPr/>
        </p:nvPicPr>
        <p:blipFill>
          <a:blip r:embed="rId5"/>
          <a:stretch>
            <a:fillRect/>
          </a:stretch>
        </p:blipFill>
        <p:spPr>
          <a:xfrm>
            <a:off x="6289494" y="890025"/>
            <a:ext cx="5766996" cy="5177078"/>
          </a:xfrm>
          <a:prstGeom prst="rect">
            <a:avLst/>
          </a:prstGeom>
        </p:spPr>
      </p:pic>
      <p:pic>
        <p:nvPicPr>
          <p:cNvPr id="99" name="Picture 2" descr="Nust Logo - CrystalPng">
            <a:extLst>
              <a:ext uri="{FF2B5EF4-FFF2-40B4-BE49-F238E27FC236}">
                <a16:creationId xmlns:a16="http://schemas.microsoft.com/office/drawing/2014/main" id="{EA3359CD-32F4-2529-55E5-047C751A8C3A}"/>
              </a:ext>
            </a:extLst>
          </p:cNvPr>
          <p:cNvPicPr/>
          <p:nvPr/>
        </p:nvPicPr>
        <p:blipFill>
          <a:blip r:embed="rId6"/>
          <a:stretch/>
        </p:blipFill>
        <p:spPr>
          <a:xfrm>
            <a:off x="11068200" y="-11520"/>
            <a:ext cx="1123560" cy="1123560"/>
          </a:xfrm>
          <a:prstGeom prst="rect">
            <a:avLst/>
          </a:prstGeom>
          <a:ln w="0">
            <a:noFill/>
          </a:ln>
        </p:spPr>
      </p:pic>
    </p:spTree>
    <p:extLst>
      <p:ext uri="{BB962C8B-B14F-4D97-AF65-F5344CB8AC3E}">
        <p14:creationId xmlns:p14="http://schemas.microsoft.com/office/powerpoint/2010/main" val="1343002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5D933-1517-4F12-C402-BE476FE5D82F}"/>
            </a:ext>
          </a:extLst>
        </p:cNvPr>
        <p:cNvGrpSpPr/>
        <p:nvPr/>
      </p:nvGrpSpPr>
      <p:grpSpPr>
        <a:xfrm>
          <a:off x="0" y="0"/>
          <a:ext cx="0" cy="0"/>
          <a:chOff x="0" y="0"/>
          <a:chExt cx="0" cy="0"/>
        </a:xfrm>
      </p:grpSpPr>
      <p:sp>
        <p:nvSpPr>
          <p:cNvPr id="90" name="Oval 74">
            <a:extLst>
              <a:ext uri="{FF2B5EF4-FFF2-40B4-BE49-F238E27FC236}">
                <a16:creationId xmlns:a16="http://schemas.microsoft.com/office/drawing/2014/main" id="{530D9D7B-3624-982C-0D8D-A89DE6CAE16B}"/>
              </a:ext>
            </a:extLst>
          </p:cNvPr>
          <p:cNvSpPr/>
          <p:nvPr/>
        </p:nvSpPr>
        <p:spPr>
          <a:xfrm>
            <a:off x="3435960" y="-5775071"/>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15F70A0F-E5B1-DDA6-3B06-20BD81EF4B5B}"/>
              </a:ext>
            </a:extLst>
          </p:cNvPr>
          <p:cNvGrpSpPr/>
          <p:nvPr/>
        </p:nvGrpSpPr>
        <p:grpSpPr>
          <a:xfrm>
            <a:off x="0" y="6390360"/>
            <a:ext cx="12191760" cy="577211"/>
            <a:chOff x="0" y="6390360"/>
            <a:chExt cx="12191760" cy="577211"/>
          </a:xfrm>
        </p:grpSpPr>
        <p:sp>
          <p:nvSpPr>
            <p:cNvPr id="92" name="Rectangle 111">
              <a:extLst>
                <a:ext uri="{FF2B5EF4-FFF2-40B4-BE49-F238E27FC236}">
                  <a16:creationId xmlns:a16="http://schemas.microsoft.com/office/drawing/2014/main" id="{F13CF27F-AB88-A043-A4FE-42B58C9639B0}"/>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CC1576FA-EC84-6608-8479-FE99A8DA8DE7}"/>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30</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DA5EF8D1-F66C-4AD5-35CB-50275CB770AD}"/>
                </a:ext>
              </a:extLst>
            </p:cNvPr>
            <p:cNvSpPr/>
            <p:nvPr/>
          </p:nvSpPr>
          <p:spPr>
            <a:xfrm>
              <a:off x="351000" y="6507360"/>
              <a:ext cx="778781" cy="460211"/>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tabLst>
                  <a:tab pos="0" algn="l"/>
                </a:tabLst>
              </a:pPr>
              <a:r>
                <a:rPr lang="en-US" sz="1200" b="1" strike="noStrike" spc="-1" dirty="0">
                  <a:solidFill>
                    <a:srgbClr val="215F9A"/>
                  </a:solidFill>
                  <a:latin typeface="Rockwell"/>
                </a:rPr>
                <a:t>PiDiNet</a:t>
              </a:r>
            </a:p>
            <a:p>
              <a:pPr defTabSz="914400">
                <a:lnSpc>
                  <a:spcPct val="100000"/>
                </a:lnSpc>
                <a:tabLst>
                  <a:tab pos="0" algn="l"/>
                </a:tabLst>
              </a:pPr>
              <a:endParaRPr lang="en-US" sz="1200" b="0" strike="noStrike" spc="-1" dirty="0">
                <a:solidFill>
                  <a:srgbClr val="000000"/>
                </a:solidFill>
                <a:latin typeface="Arial"/>
              </a:endParaRPr>
            </a:p>
          </p:txBody>
        </p:sp>
      </p:grpSp>
      <p:sp>
        <p:nvSpPr>
          <p:cNvPr id="11" name="TextBox 10">
            <a:extLst>
              <a:ext uri="{FF2B5EF4-FFF2-40B4-BE49-F238E27FC236}">
                <a16:creationId xmlns:a16="http://schemas.microsoft.com/office/drawing/2014/main" id="{7B1BAB50-620C-35D4-2C80-E73CEB27F7C9}"/>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3"/>
              </a:rPr>
              <a:t>10.1109/ICCV48922.2021.00507</a:t>
            </a:r>
            <a:endParaRPr lang="en-US" sz="1100" dirty="0">
              <a:latin typeface="+mj-lt"/>
            </a:endParaRPr>
          </a:p>
        </p:txBody>
      </p:sp>
      <p:sp>
        <p:nvSpPr>
          <p:cNvPr id="95" name="TextBox 9">
            <a:extLst>
              <a:ext uri="{FF2B5EF4-FFF2-40B4-BE49-F238E27FC236}">
                <a16:creationId xmlns:a16="http://schemas.microsoft.com/office/drawing/2014/main" id="{EBECC0EA-7FC8-864A-7221-45A73159F4EB}"/>
              </a:ext>
            </a:extLst>
          </p:cNvPr>
          <p:cNvSpPr/>
          <p:nvPr/>
        </p:nvSpPr>
        <p:spPr>
          <a:xfrm>
            <a:off x="139680" y="129600"/>
            <a:ext cx="9648720" cy="144509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tabLst>
                <a:tab pos="0" algn="l"/>
              </a:tabLst>
            </a:pPr>
            <a:r>
              <a:rPr lang="en-US" sz="3200" b="1" strike="noStrike" spc="-1" dirty="0">
                <a:solidFill>
                  <a:schemeClr val="dk1"/>
                </a:solidFill>
                <a:latin typeface="Aptos Display"/>
              </a:rPr>
              <a:t>PiDiNet –</a:t>
            </a:r>
            <a:r>
              <a:rPr lang="en-US" sz="3200" spc="-1" dirty="0">
                <a:solidFill>
                  <a:srgbClr val="000000"/>
                </a:solidFill>
                <a:latin typeface="Arial"/>
              </a:rPr>
              <a:t> </a:t>
            </a:r>
            <a:r>
              <a:rPr lang="en-US" sz="2400" b="1" spc="-1" dirty="0">
                <a:solidFill>
                  <a:schemeClr val="dk1"/>
                </a:solidFill>
                <a:latin typeface="Aptos Display"/>
              </a:rPr>
              <a:t>Code: one notebook, 11 edge detectors</a:t>
            </a:r>
          </a:p>
          <a:p>
            <a:pPr>
              <a:tabLst>
                <a:tab pos="0" algn="l"/>
              </a:tabLst>
            </a:pPr>
            <a:r>
              <a:rPr lang="en-US" sz="2400" b="1" spc="-1" dirty="0">
                <a:solidFill>
                  <a:schemeClr val="dk1"/>
                </a:solidFill>
                <a:latin typeface="Aptos Display"/>
              </a:rPr>
              <a:t>The four ideas that make the comparison work</a:t>
            </a:r>
          </a:p>
          <a:p>
            <a:pPr>
              <a:tabLst>
                <a:tab pos="0" algn="l"/>
              </a:tabLst>
            </a:pPr>
            <a:endParaRPr lang="en-US" sz="3200" b="1" spc="-1" dirty="0">
              <a:solidFill>
                <a:schemeClr val="dk1"/>
              </a:solidFill>
              <a:latin typeface="Aptos Display"/>
            </a:endParaRPr>
          </a:p>
        </p:txBody>
      </p:sp>
      <p:pic>
        <p:nvPicPr>
          <p:cNvPr id="99" name="Picture 2" descr="Nust Logo - CrystalPng">
            <a:extLst>
              <a:ext uri="{FF2B5EF4-FFF2-40B4-BE49-F238E27FC236}">
                <a16:creationId xmlns:a16="http://schemas.microsoft.com/office/drawing/2014/main" id="{CE76D830-EEF2-570F-C0E3-67897BEE32EE}"/>
              </a:ext>
            </a:extLst>
          </p:cNvPr>
          <p:cNvPicPr/>
          <p:nvPr/>
        </p:nvPicPr>
        <p:blipFill>
          <a:blip r:embed="rId4"/>
          <a:stretch/>
        </p:blipFill>
        <p:spPr>
          <a:xfrm>
            <a:off x="11068200" y="-11520"/>
            <a:ext cx="1123560" cy="1123560"/>
          </a:xfrm>
          <a:prstGeom prst="rect">
            <a:avLst/>
          </a:prstGeom>
          <a:ln w="0">
            <a:noFill/>
          </a:ln>
        </p:spPr>
      </p:pic>
      <p:sp>
        <p:nvSpPr>
          <p:cNvPr id="4" name="Shape 2">
            <a:extLst>
              <a:ext uri="{FF2B5EF4-FFF2-40B4-BE49-F238E27FC236}">
                <a16:creationId xmlns:a16="http://schemas.microsoft.com/office/drawing/2014/main" id="{C2BA26AD-7D07-6F7F-9CDE-0B2F6ADD9050}"/>
              </a:ext>
            </a:extLst>
          </p:cNvPr>
          <p:cNvSpPr/>
          <p:nvPr/>
        </p:nvSpPr>
        <p:spPr>
          <a:xfrm>
            <a:off x="472440" y="1355704"/>
            <a:ext cx="5486400" cy="2240280"/>
          </a:xfrm>
          <a:prstGeom prst="roundRect">
            <a:avLst>
              <a:gd name="adj" fmla="val 3265"/>
            </a:avLst>
          </a:prstGeom>
          <a:solidFill>
            <a:srgbClr val="14161F"/>
          </a:solidFill>
          <a:ln/>
        </p:spPr>
        <p:txBody>
          <a:bodyPr/>
          <a:lstStyle/>
          <a:p>
            <a:endParaRPr lang="en-US"/>
          </a:p>
        </p:txBody>
      </p:sp>
      <p:sp>
        <p:nvSpPr>
          <p:cNvPr id="7" name="Text 3">
            <a:extLst>
              <a:ext uri="{FF2B5EF4-FFF2-40B4-BE49-F238E27FC236}">
                <a16:creationId xmlns:a16="http://schemas.microsoft.com/office/drawing/2014/main" id="{12F097DF-6378-BE2B-FED5-C9BC335ACF64}"/>
              </a:ext>
            </a:extLst>
          </p:cNvPr>
          <p:cNvSpPr txBox="1"/>
          <p:nvPr/>
        </p:nvSpPr>
        <p:spPr>
          <a:xfrm>
            <a:off x="701040" y="1474576"/>
            <a:ext cx="502920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1. A registry, loaded once</a:t>
            </a:r>
            <a:endParaRPr lang="en-US" sz="1250" dirty="0"/>
          </a:p>
        </p:txBody>
      </p:sp>
      <p:sp>
        <p:nvSpPr>
          <p:cNvPr id="9" name="Text 4">
            <a:extLst>
              <a:ext uri="{FF2B5EF4-FFF2-40B4-BE49-F238E27FC236}">
                <a16:creationId xmlns:a16="http://schemas.microsoft.com/office/drawing/2014/main" id="{6928527A-9E31-EC5D-F569-A64292A789CA}"/>
              </a:ext>
            </a:extLst>
          </p:cNvPr>
          <p:cNvSpPr txBox="1"/>
          <p:nvPr/>
        </p:nvSpPr>
        <p:spPr>
          <a:xfrm>
            <a:off x="701040" y="1858624"/>
            <a:ext cx="5029200" cy="1600200"/>
          </a:xfrm>
          <a:prstGeom prst="rect">
            <a:avLst/>
          </a:prstGeom>
          <a:noFill/>
          <a:ln/>
        </p:spPr>
        <p:txBody>
          <a:bodyPr wrap="square" lIns="0" tIns="0" rIns="0" bIns="0" rtlCol="0" anchor="t"/>
          <a:lstStyle/>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PIDINET_MODELS = [</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("Baseline (paper)", "pidinet", "baseline", ckpt, False),</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("PiDiNet-Full (paper)", "pidinet", "carv4", ckpt, True),</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("OURS PiDiNet-Full", "pidinet", "carv4", our_ckpt, True)]</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LOADED = {lbl: load_pidinet(a, c, k, v) ...}  # once</a:t>
            </a:r>
            <a:endParaRPr lang="en-US" sz="900" dirty="0"/>
          </a:p>
        </p:txBody>
      </p:sp>
      <p:sp>
        <p:nvSpPr>
          <p:cNvPr id="13" name="Shape 5">
            <a:extLst>
              <a:ext uri="{FF2B5EF4-FFF2-40B4-BE49-F238E27FC236}">
                <a16:creationId xmlns:a16="http://schemas.microsoft.com/office/drawing/2014/main" id="{CFDA832A-FE31-4E33-9DE4-D2DA5061457F}"/>
              </a:ext>
            </a:extLst>
          </p:cNvPr>
          <p:cNvSpPr/>
          <p:nvPr/>
        </p:nvSpPr>
        <p:spPr>
          <a:xfrm>
            <a:off x="6096000" y="1355704"/>
            <a:ext cx="5486400" cy="2240280"/>
          </a:xfrm>
          <a:prstGeom prst="roundRect">
            <a:avLst>
              <a:gd name="adj" fmla="val 3265"/>
            </a:avLst>
          </a:prstGeom>
          <a:solidFill>
            <a:srgbClr val="14161F"/>
          </a:solidFill>
          <a:ln/>
        </p:spPr>
        <p:txBody>
          <a:bodyPr/>
          <a:lstStyle/>
          <a:p>
            <a:endParaRPr lang="en-US"/>
          </a:p>
        </p:txBody>
      </p:sp>
      <p:sp>
        <p:nvSpPr>
          <p:cNvPr id="16" name="Text 6">
            <a:extLst>
              <a:ext uri="{FF2B5EF4-FFF2-40B4-BE49-F238E27FC236}">
                <a16:creationId xmlns:a16="http://schemas.microsoft.com/office/drawing/2014/main" id="{D0BA513B-1192-BC26-02A8-65F7A111A057}"/>
              </a:ext>
            </a:extLst>
          </p:cNvPr>
          <p:cNvSpPr txBox="1"/>
          <p:nvPr/>
        </p:nvSpPr>
        <p:spPr>
          <a:xfrm>
            <a:off x="6324600" y="1474576"/>
            <a:ext cx="502920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2. Same timing for every method</a:t>
            </a:r>
            <a:endParaRPr lang="en-US" sz="1250" dirty="0"/>
          </a:p>
        </p:txBody>
      </p:sp>
      <p:sp>
        <p:nvSpPr>
          <p:cNvPr id="18" name="Text 7">
            <a:extLst>
              <a:ext uri="{FF2B5EF4-FFF2-40B4-BE49-F238E27FC236}">
                <a16:creationId xmlns:a16="http://schemas.microsoft.com/office/drawing/2014/main" id="{9C97FF00-1F72-78E5-D013-7795EBF681B7}"/>
              </a:ext>
            </a:extLst>
          </p:cNvPr>
          <p:cNvSpPr txBox="1"/>
          <p:nvPr/>
        </p:nvSpPr>
        <p:spPr>
          <a:xfrm>
            <a:off x="6324600" y="1858624"/>
            <a:ext cx="5029200" cy="1600200"/>
          </a:xfrm>
          <a:prstGeom prst="rect">
            <a:avLst/>
          </a:prstGeom>
          <a:noFill/>
          <a:ln/>
        </p:spPr>
        <p:txBody>
          <a:bodyPr wrap="square" lIns="0" tIns="0" rIns="0" bIns="0" rtlCol="0" anchor="t"/>
          <a:lstStyle/>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def timed(fn, *a, n=3):</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fn(*a)                      # warm-up (CUDA start-up)</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t = time.perf_counter()</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for _ in range(n): out = fn(*a)</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return out, (time.perf_counter() - t) / n * 1000</a:t>
            </a:r>
            <a:endParaRPr lang="en-US" sz="900" dirty="0"/>
          </a:p>
          <a:p>
            <a:pPr marL="0" indent="0">
              <a:lnSpc>
                <a:spcPct val="108000"/>
              </a:lnSpc>
              <a:buNone/>
            </a:pP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outs[name], ms[name] = timed(fn, arg)</a:t>
            </a:r>
            <a:endParaRPr lang="en-US" sz="900" dirty="0"/>
          </a:p>
        </p:txBody>
      </p:sp>
      <p:sp>
        <p:nvSpPr>
          <p:cNvPr id="21" name="Shape 8">
            <a:extLst>
              <a:ext uri="{FF2B5EF4-FFF2-40B4-BE49-F238E27FC236}">
                <a16:creationId xmlns:a16="http://schemas.microsoft.com/office/drawing/2014/main" id="{CC8F6D43-D960-3BC2-46C2-FE0488D364BB}"/>
              </a:ext>
            </a:extLst>
          </p:cNvPr>
          <p:cNvSpPr/>
          <p:nvPr/>
        </p:nvSpPr>
        <p:spPr>
          <a:xfrm>
            <a:off x="472440" y="3733144"/>
            <a:ext cx="5486400" cy="2194560"/>
          </a:xfrm>
          <a:prstGeom prst="roundRect">
            <a:avLst>
              <a:gd name="adj" fmla="val 3333"/>
            </a:avLst>
          </a:prstGeom>
          <a:solidFill>
            <a:srgbClr val="14161F"/>
          </a:solidFill>
          <a:ln/>
        </p:spPr>
        <p:txBody>
          <a:bodyPr/>
          <a:lstStyle/>
          <a:p>
            <a:endParaRPr lang="en-US"/>
          </a:p>
        </p:txBody>
      </p:sp>
      <p:sp>
        <p:nvSpPr>
          <p:cNvPr id="24" name="Text 9">
            <a:extLst>
              <a:ext uri="{FF2B5EF4-FFF2-40B4-BE49-F238E27FC236}">
                <a16:creationId xmlns:a16="http://schemas.microsoft.com/office/drawing/2014/main" id="{D7D14035-B621-96A3-7D84-4BA4A007C608}"/>
              </a:ext>
            </a:extLst>
          </p:cNvPr>
          <p:cNvSpPr txBox="1"/>
          <p:nvPr/>
        </p:nvSpPr>
        <p:spPr>
          <a:xfrm>
            <a:off x="701040" y="3852016"/>
            <a:ext cx="5029200" cy="292608"/>
          </a:xfrm>
          <a:prstGeom prst="rect">
            <a:avLst/>
          </a:prstGeom>
          <a:noFill/>
          <a:ln/>
        </p:spPr>
        <p:txBody>
          <a:bodyPr wrap="square" lIns="0" tIns="0" rIns="0" bIns="0" rtlCol="0" anchor="ctr"/>
          <a:lstStyle/>
          <a:p>
            <a:pPr marL="0" indent="0">
              <a:buNone/>
            </a:pPr>
            <a:r>
              <a:rPr lang="en-US" sz="1250" b="1" dirty="0">
                <a:solidFill>
                  <a:srgbClr val="35D0C6"/>
                </a:solidFill>
                <a:latin typeface="Cambria" pitchFamily="34" charset="0"/>
                <a:ea typeface="Cambria" pitchFamily="34" charset="-122"/>
                <a:cs typeface="Cambria" pitchFamily="34" charset="-120"/>
              </a:rPr>
              <a:t>3. HED on the GPU</a:t>
            </a:r>
            <a:endParaRPr lang="en-US" sz="1250" dirty="0"/>
          </a:p>
        </p:txBody>
      </p:sp>
      <p:sp>
        <p:nvSpPr>
          <p:cNvPr id="26" name="Text 10">
            <a:extLst>
              <a:ext uri="{FF2B5EF4-FFF2-40B4-BE49-F238E27FC236}">
                <a16:creationId xmlns:a16="http://schemas.microsoft.com/office/drawing/2014/main" id="{86DA48AE-06EA-7534-0E4D-D64181C0DB31}"/>
              </a:ext>
            </a:extLst>
          </p:cNvPr>
          <p:cNvSpPr txBox="1"/>
          <p:nvPr/>
        </p:nvSpPr>
        <p:spPr>
          <a:xfrm>
            <a:off x="701040" y="4236064"/>
            <a:ext cx="5029200" cy="1554480"/>
          </a:xfrm>
          <a:prstGeom prst="rect">
            <a:avLst/>
          </a:prstGeom>
          <a:noFill/>
          <a:ln/>
        </p:spPr>
        <p:txBody>
          <a:bodyPr wrap="square" lIns="0" tIns="0" rIns="0" bIns="0" rtlCol="0" anchor="t"/>
          <a:lstStyle/>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CAFFE_NAME = {"conv1_1": "conv1_1", ...,</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"score_dsn1": "score-dsn1-up",</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"score_final": "upscore-fuse"}</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w, b = hed_net.getLayer(id).blobs        # Caffe weights</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layer.weight.data.copy_(torch.from_numpy(w))  # PyTorch HED</a:t>
            </a:r>
            <a:endParaRPr lang="en-US" sz="900" dirty="0"/>
          </a:p>
          <a:p>
            <a:pPr marL="0" indent="0">
              <a:lnSpc>
                <a:spcPct val="108000"/>
              </a:lnSpc>
              <a:buNone/>
            </a:pPr>
            <a:r>
              <a:rPr lang="en-US" sz="900" dirty="0">
                <a:solidFill>
                  <a:srgbClr val="EDEEF2"/>
                </a:solidFill>
                <a:latin typeface="Consolas" pitchFamily="34" charset="0"/>
                <a:ea typeface="Consolas" pitchFamily="34" charset="-122"/>
                <a:cs typeface="Consolas" pitchFamily="34" charset="-120"/>
              </a:rPr>
              <a:t># GPU vs OpenCV output: correlation 0.93-0.97</a:t>
            </a:r>
            <a:endParaRPr lang="en-US" sz="900" dirty="0"/>
          </a:p>
        </p:txBody>
      </p:sp>
      <p:sp>
        <p:nvSpPr>
          <p:cNvPr id="29" name="Shape 11">
            <a:extLst>
              <a:ext uri="{FF2B5EF4-FFF2-40B4-BE49-F238E27FC236}">
                <a16:creationId xmlns:a16="http://schemas.microsoft.com/office/drawing/2014/main" id="{B04FE80C-91E1-5363-7204-FD30D496D6B7}"/>
              </a:ext>
            </a:extLst>
          </p:cNvPr>
          <p:cNvSpPr/>
          <p:nvPr/>
        </p:nvSpPr>
        <p:spPr>
          <a:xfrm>
            <a:off x="6096000" y="3733144"/>
            <a:ext cx="5486400" cy="2194560"/>
          </a:xfrm>
          <a:prstGeom prst="roundRect">
            <a:avLst>
              <a:gd name="adj" fmla="val 3333"/>
            </a:avLst>
          </a:prstGeom>
          <a:solidFill>
            <a:srgbClr val="F4F5F7"/>
          </a:solidFill>
          <a:ln/>
        </p:spPr>
        <p:txBody>
          <a:bodyPr/>
          <a:lstStyle/>
          <a:p>
            <a:endParaRPr lang="en-US"/>
          </a:p>
        </p:txBody>
      </p:sp>
      <p:sp>
        <p:nvSpPr>
          <p:cNvPr id="32" name="Text 12">
            <a:extLst>
              <a:ext uri="{FF2B5EF4-FFF2-40B4-BE49-F238E27FC236}">
                <a16:creationId xmlns:a16="http://schemas.microsoft.com/office/drawing/2014/main" id="{35CA05D7-9863-219D-927D-8CECF25F315A}"/>
              </a:ext>
            </a:extLst>
          </p:cNvPr>
          <p:cNvSpPr txBox="1"/>
          <p:nvPr/>
        </p:nvSpPr>
        <p:spPr>
          <a:xfrm>
            <a:off x="6324600" y="3861160"/>
            <a:ext cx="5074920" cy="310896"/>
          </a:xfrm>
          <a:prstGeom prst="rect">
            <a:avLst/>
          </a:prstGeom>
          <a:noFill/>
          <a:ln/>
        </p:spPr>
        <p:txBody>
          <a:bodyPr wrap="square" lIns="0" tIns="0" rIns="0" bIns="0" rtlCol="0" anchor="ctr"/>
          <a:lstStyle/>
          <a:p>
            <a:pPr marL="0" indent="0">
              <a:buNone/>
            </a:pPr>
            <a:r>
              <a:rPr lang="en-US" sz="1250" b="1" dirty="0">
                <a:solidFill>
                  <a:srgbClr val="1A1D26"/>
                </a:solidFill>
                <a:latin typeface="Cambria" pitchFamily="34" charset="0"/>
                <a:ea typeface="Cambria" pitchFamily="34" charset="-122"/>
                <a:cs typeface="Cambria" pitchFamily="34" charset="-120"/>
              </a:rPr>
              <a:t>4. Fairness choices</a:t>
            </a:r>
            <a:endParaRPr lang="en-US" sz="1250" dirty="0"/>
          </a:p>
        </p:txBody>
      </p:sp>
      <p:sp>
        <p:nvSpPr>
          <p:cNvPr id="34" name="Text 13">
            <a:extLst>
              <a:ext uri="{FF2B5EF4-FFF2-40B4-BE49-F238E27FC236}">
                <a16:creationId xmlns:a16="http://schemas.microsoft.com/office/drawing/2014/main" id="{A6770427-A210-07D7-89C1-8316CFD7B121}"/>
              </a:ext>
            </a:extLst>
          </p:cNvPr>
          <p:cNvSpPr txBox="1"/>
          <p:nvPr/>
        </p:nvSpPr>
        <p:spPr>
          <a:xfrm>
            <a:off x="6324600" y="4190344"/>
            <a:ext cx="5074920" cy="1645920"/>
          </a:xfrm>
          <a:prstGeom prst="rect">
            <a:avLst/>
          </a:prstGeom>
          <a:noFill/>
          <a:ln/>
        </p:spPr>
        <p:txBody>
          <a:bodyPr wrap="square" lIns="0" tIns="0" rIns="0" bIns="0" rtlCol="0" anchor="t"/>
          <a:lstStyle/>
          <a:p>
            <a:pPr marL="0" indent="0">
              <a:lnSpc>
                <a:spcPct val="115000"/>
              </a:lnSpc>
              <a:buNone/>
            </a:pPr>
            <a:r>
              <a:rPr lang="en-US" sz="1050" dirty="0">
                <a:solidFill>
                  <a:srgbClr val="1A1D26"/>
                </a:solidFill>
                <a:latin typeface="Calibri" pitchFamily="34" charset="0"/>
                <a:ea typeface="Calibri" pitchFamily="34" charset="-122"/>
                <a:cs typeface="Calibri" pitchFamily="34" charset="-120"/>
              </a:rPr>
              <a:t>Canny's thresholds come from each image's own gradient (95th percentile), because fixed 50/150 gave a blank map on the low-contrast photo. Sobel and Roberts are clipped at the 99th percentile so faint edges show. PiDiNet uses the last of its 5 outputs (the fused map). Classical filters run on CPU and the deep models on GPU, so compare speeds within a group.</a:t>
            </a:r>
            <a:endParaRPr lang="en-US" sz="1050" dirty="0"/>
          </a:p>
        </p:txBody>
      </p:sp>
    </p:spTree>
    <p:extLst>
      <p:ext uri="{BB962C8B-B14F-4D97-AF65-F5344CB8AC3E}">
        <p14:creationId xmlns:p14="http://schemas.microsoft.com/office/powerpoint/2010/main" val="1740519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23465-16E4-7D76-7E03-55EDDB3EB209}"/>
            </a:ext>
          </a:extLst>
        </p:cNvPr>
        <p:cNvGrpSpPr/>
        <p:nvPr/>
      </p:nvGrpSpPr>
      <p:grpSpPr>
        <a:xfrm>
          <a:off x="0" y="0"/>
          <a:ext cx="0" cy="0"/>
          <a:chOff x="0" y="0"/>
          <a:chExt cx="0" cy="0"/>
        </a:xfrm>
      </p:grpSpPr>
      <p:sp>
        <p:nvSpPr>
          <p:cNvPr id="10" name="Oval 74">
            <a:extLst>
              <a:ext uri="{FF2B5EF4-FFF2-40B4-BE49-F238E27FC236}">
                <a16:creationId xmlns:a16="http://schemas.microsoft.com/office/drawing/2014/main" id="{1E15D025-0DC8-3FAA-1AC3-E76B4D09DA3F}"/>
              </a:ext>
            </a:extLst>
          </p:cNvPr>
          <p:cNvSpPr/>
          <p:nvPr/>
        </p:nvSpPr>
        <p:spPr>
          <a:xfrm>
            <a:off x="3404061" y="-5806970"/>
            <a:ext cx="18519480" cy="18519480"/>
          </a:xfrm>
          <a:prstGeom prst="ellipse">
            <a:avLst/>
          </a:prstGeom>
          <a:solidFill>
            <a:schemeClr val="accent3">
              <a:lumMod val="50000"/>
              <a:alpha val="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ts val="1400"/>
              </a:lnSpc>
              <a:tabLst>
                <a:tab pos="0" algn="l"/>
              </a:tabLst>
            </a:pPr>
            <a:endParaRPr lang="en-US" sz="1800" b="0" strike="noStrike" spc="-1">
              <a:solidFill>
                <a:srgbClr val="1F828F"/>
              </a:solidFill>
              <a:latin typeface="Rockwell"/>
            </a:endParaRPr>
          </a:p>
        </p:txBody>
      </p:sp>
      <p:grpSp>
        <p:nvGrpSpPr>
          <p:cNvPr id="91" name="Group 110">
            <a:extLst>
              <a:ext uri="{FF2B5EF4-FFF2-40B4-BE49-F238E27FC236}">
                <a16:creationId xmlns:a16="http://schemas.microsoft.com/office/drawing/2014/main" id="{50222926-CC20-4B4E-83D8-F0F86A4FE429}"/>
              </a:ext>
            </a:extLst>
          </p:cNvPr>
          <p:cNvGrpSpPr/>
          <p:nvPr/>
        </p:nvGrpSpPr>
        <p:grpSpPr>
          <a:xfrm>
            <a:off x="0" y="6390360"/>
            <a:ext cx="12191760" cy="467280"/>
            <a:chOff x="0" y="6390360"/>
            <a:chExt cx="12191760" cy="467280"/>
          </a:xfrm>
        </p:grpSpPr>
        <p:sp>
          <p:nvSpPr>
            <p:cNvPr id="92" name="Rectangle 111">
              <a:extLst>
                <a:ext uri="{FF2B5EF4-FFF2-40B4-BE49-F238E27FC236}">
                  <a16:creationId xmlns:a16="http://schemas.microsoft.com/office/drawing/2014/main" id="{F9A7F262-A5A8-E1BB-7888-F87B57C79B96}"/>
                </a:ext>
              </a:extLst>
            </p:cNvPr>
            <p:cNvSpPr/>
            <p:nvPr/>
          </p:nvSpPr>
          <p:spPr>
            <a:xfrm>
              <a:off x="0" y="6390360"/>
              <a:ext cx="12191760" cy="467280"/>
            </a:xfrm>
            <a:prstGeom prst="rect">
              <a:avLst/>
            </a:prstGeom>
            <a:solidFill>
              <a:srgbClr val="C9D5E4"/>
            </a:solidFill>
            <a:ln w="635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Rockwell"/>
              </a:endParaRPr>
            </a:p>
          </p:txBody>
        </p:sp>
        <p:sp>
          <p:nvSpPr>
            <p:cNvPr id="93" name="Slide Number Placeholder 5">
              <a:extLst>
                <a:ext uri="{FF2B5EF4-FFF2-40B4-BE49-F238E27FC236}">
                  <a16:creationId xmlns:a16="http://schemas.microsoft.com/office/drawing/2014/main" id="{EEA7C238-A35D-5CC7-687B-6F11B960BC22}"/>
                </a:ext>
              </a:extLst>
            </p:cNvPr>
            <p:cNvSpPr/>
            <p:nvPr/>
          </p:nvSpPr>
          <p:spPr>
            <a:xfrm>
              <a:off x="11661120" y="6464520"/>
              <a:ext cx="390960" cy="31860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defTabSz="914400">
                <a:lnSpc>
                  <a:spcPct val="100000"/>
                </a:lnSpc>
                <a:tabLst>
                  <a:tab pos="0" algn="l"/>
                </a:tabLst>
              </a:pPr>
              <a:fld id="{EF2C6E3F-2F51-4637-AD14-B6B4574751AA}" type="slidenum">
                <a:rPr lang="en-US" sz="1200" b="1" strike="noStrike" spc="-1">
                  <a:solidFill>
                    <a:srgbClr val="0E2841"/>
                  </a:solidFill>
                  <a:latin typeface="Rockwell"/>
                </a:rPr>
                <a:t>31</a:t>
              </a:fld>
              <a:endParaRPr lang="en-US" sz="1200" b="0" strike="noStrike" spc="-1">
                <a:solidFill>
                  <a:srgbClr val="000000"/>
                </a:solidFill>
                <a:latin typeface="Arial"/>
              </a:endParaRPr>
            </a:p>
          </p:txBody>
        </p:sp>
        <p:sp>
          <p:nvSpPr>
            <p:cNvPr id="94" name="TextBox 113">
              <a:extLst>
                <a:ext uri="{FF2B5EF4-FFF2-40B4-BE49-F238E27FC236}">
                  <a16:creationId xmlns:a16="http://schemas.microsoft.com/office/drawing/2014/main" id="{41594D98-FC58-E6C8-F45F-48C0CEB820C7}"/>
                </a:ext>
              </a:extLst>
            </p:cNvPr>
            <p:cNvSpPr/>
            <p:nvPr/>
          </p:nvSpPr>
          <p:spPr>
            <a:xfrm>
              <a:off x="351000" y="6507360"/>
              <a:ext cx="778781" cy="27554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tabLst>
                  <a:tab pos="0" algn="l"/>
                </a:tabLst>
              </a:pPr>
              <a:r>
                <a:rPr lang="en-US" sz="1200" b="1" spc="-1" dirty="0">
                  <a:solidFill>
                    <a:srgbClr val="215F9A"/>
                  </a:solidFill>
                  <a:latin typeface="Rockwell"/>
                </a:rPr>
                <a:t>PiDiNet</a:t>
              </a:r>
              <a:endParaRPr lang="en-US" sz="1200" b="0" strike="noStrike" spc="-1" dirty="0">
                <a:solidFill>
                  <a:srgbClr val="000000"/>
                </a:solidFill>
                <a:latin typeface="Arial"/>
              </a:endParaRPr>
            </a:p>
          </p:txBody>
        </p:sp>
      </p:grpSp>
      <p:sp>
        <p:nvSpPr>
          <p:cNvPr id="95" name="TextBox 9">
            <a:extLst>
              <a:ext uri="{FF2B5EF4-FFF2-40B4-BE49-F238E27FC236}">
                <a16:creationId xmlns:a16="http://schemas.microsoft.com/office/drawing/2014/main" id="{8F655759-365B-6B0A-4E3B-5273C15A153B}"/>
              </a:ext>
            </a:extLst>
          </p:cNvPr>
          <p:cNvSpPr/>
          <p:nvPr/>
        </p:nvSpPr>
        <p:spPr>
          <a:xfrm>
            <a:off x="139680" y="129600"/>
            <a:ext cx="9648720" cy="58332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3200" b="1" i="0" u="none" strike="noStrike" kern="1200" cap="none" spc="-1" normalizeH="0" baseline="0" noProof="0" dirty="0">
                <a:ln>
                  <a:noFill/>
                </a:ln>
                <a:solidFill>
                  <a:srgbClr val="000000"/>
                </a:solidFill>
                <a:effectLst/>
                <a:uLnTx/>
                <a:uFillTx/>
                <a:latin typeface="Aptos Display"/>
                <a:ea typeface="+mn-ea"/>
                <a:cs typeface="+mn-cs"/>
              </a:rPr>
              <a:t>PiDiNet –</a:t>
            </a:r>
            <a:r>
              <a:rPr kumimoji="0" lang="en-US" sz="3200" b="0" i="0" u="none" strike="noStrike" kern="1200" cap="none" spc="-1" normalizeH="0" baseline="0" noProof="0" dirty="0">
                <a:ln>
                  <a:noFill/>
                </a:ln>
                <a:solidFill>
                  <a:srgbClr val="000000"/>
                </a:solidFill>
                <a:effectLst/>
                <a:uLnTx/>
                <a:uFillTx/>
                <a:latin typeface="Arial"/>
                <a:ea typeface="+mn-ea"/>
                <a:cs typeface="+mn-cs"/>
              </a:rPr>
              <a:t> </a:t>
            </a:r>
            <a:r>
              <a:rPr kumimoji="0" lang="en-US" sz="2400" b="1" i="0" u="none" strike="noStrike" kern="1200" cap="none" spc="-1" normalizeH="0" baseline="0" noProof="0" dirty="0">
                <a:ln>
                  <a:noFill/>
                </a:ln>
                <a:solidFill>
                  <a:srgbClr val="000000"/>
                </a:solidFill>
                <a:effectLst/>
                <a:uLnTx/>
                <a:uFillTx/>
                <a:latin typeface="Aptos Display"/>
                <a:ea typeface="+mn-ea"/>
                <a:cs typeface="+mn-cs"/>
              </a:rPr>
              <a:t>Architecture</a:t>
            </a:r>
            <a:endParaRPr kumimoji="0" lang="en-US" sz="3200" b="1" i="0" u="none" strike="noStrike" kern="1200" cap="none" spc="-1" normalizeH="0" baseline="0" noProof="0" dirty="0">
              <a:ln>
                <a:noFill/>
              </a:ln>
              <a:solidFill>
                <a:srgbClr val="000000"/>
              </a:solidFill>
              <a:effectLst/>
              <a:uLnTx/>
              <a:uFillTx/>
              <a:latin typeface="Aptos Display"/>
              <a:ea typeface="+mn-ea"/>
              <a:cs typeface="+mn-cs"/>
            </a:endParaRPr>
          </a:p>
        </p:txBody>
      </p:sp>
      <p:pic>
        <p:nvPicPr>
          <p:cNvPr id="99" name="Picture 2" descr="Nust Logo - CrystalPng">
            <a:extLst>
              <a:ext uri="{FF2B5EF4-FFF2-40B4-BE49-F238E27FC236}">
                <a16:creationId xmlns:a16="http://schemas.microsoft.com/office/drawing/2014/main" id="{930A4F7C-054E-C0A6-E682-69E16D1C492C}"/>
              </a:ext>
            </a:extLst>
          </p:cNvPr>
          <p:cNvPicPr/>
          <p:nvPr/>
        </p:nvPicPr>
        <p:blipFill>
          <a:blip r:embed="rId3"/>
          <a:stretch/>
        </p:blipFill>
        <p:spPr>
          <a:xfrm>
            <a:off x="11068200" y="-11520"/>
            <a:ext cx="1123560" cy="1123560"/>
          </a:xfrm>
          <a:prstGeom prst="rect">
            <a:avLst/>
          </a:prstGeom>
          <a:ln w="0">
            <a:noFill/>
          </a:ln>
        </p:spPr>
      </p:pic>
      <p:sp>
        <p:nvSpPr>
          <p:cNvPr id="45" name="TextBox 44">
            <a:extLst>
              <a:ext uri="{FF2B5EF4-FFF2-40B4-BE49-F238E27FC236}">
                <a16:creationId xmlns:a16="http://schemas.microsoft.com/office/drawing/2014/main" id="{4BFFCE72-8988-01F0-93C4-E84EC8128DA4}"/>
              </a:ext>
            </a:extLst>
          </p:cNvPr>
          <p:cNvSpPr txBox="1"/>
          <p:nvPr/>
        </p:nvSpPr>
        <p:spPr>
          <a:xfrm>
            <a:off x="9080145" y="6505387"/>
            <a:ext cx="2696310" cy="261610"/>
          </a:xfrm>
          <a:prstGeom prst="rect">
            <a:avLst/>
          </a:prstGeom>
          <a:noFill/>
        </p:spPr>
        <p:txBody>
          <a:bodyPr wrap="square">
            <a:spAutoFit/>
          </a:bodyPr>
          <a:lstStyle/>
          <a:p>
            <a:r>
              <a:rPr lang="en-US" sz="1100" b="1" i="0" dirty="0">
                <a:solidFill>
                  <a:srgbClr val="333333"/>
                </a:solidFill>
                <a:effectLst/>
                <a:latin typeface="+mj-lt"/>
              </a:rPr>
              <a:t>DOI: </a:t>
            </a:r>
            <a:r>
              <a:rPr lang="en-US" sz="1100" b="0" i="0" u="none" strike="noStrike" dirty="0">
                <a:solidFill>
                  <a:srgbClr val="006699"/>
                </a:solidFill>
                <a:effectLst/>
                <a:latin typeface="+mj-lt"/>
                <a:hlinkClick r:id="rId4"/>
              </a:rPr>
              <a:t>10.1109/ICCV48922.2021.00507</a:t>
            </a:r>
            <a:endParaRPr lang="en-US" sz="1100" dirty="0">
              <a:latin typeface="+mj-lt"/>
            </a:endParaRPr>
          </a:p>
        </p:txBody>
      </p:sp>
      <p:pic>
        <p:nvPicPr>
          <p:cNvPr id="7" name="Picture 6">
            <a:extLst>
              <a:ext uri="{FF2B5EF4-FFF2-40B4-BE49-F238E27FC236}">
                <a16:creationId xmlns:a16="http://schemas.microsoft.com/office/drawing/2014/main" id="{FA35F76F-3266-9E95-4577-FA61011B971F}"/>
              </a:ext>
            </a:extLst>
          </p:cNvPr>
          <p:cNvPicPr>
            <a:picLocks noChangeAspect="1"/>
          </p:cNvPicPr>
          <p:nvPr/>
        </p:nvPicPr>
        <p:blipFill>
          <a:blip r:embed="rId5"/>
          <a:stretch>
            <a:fillRect/>
          </a:stretch>
        </p:blipFill>
        <p:spPr>
          <a:xfrm>
            <a:off x="277536" y="933451"/>
            <a:ext cx="10790664" cy="4991098"/>
          </a:xfrm>
          <a:prstGeom prst="rect">
            <a:avLst/>
          </a:prstGeom>
        </p:spPr>
      </p:pic>
    </p:spTree>
    <p:extLst>
      <p:ext uri="{BB962C8B-B14F-4D97-AF65-F5344CB8AC3E}">
        <p14:creationId xmlns:p14="http://schemas.microsoft.com/office/powerpoint/2010/main" val="41644650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2_Office Theme">
  <a:themeElements>
    <a:clrScheme name="YouExec">
      <a:dk1>
        <a:srgbClr val="000000"/>
      </a:dk1>
      <a:lt1>
        <a:srgbClr val="FFFFFF"/>
      </a:lt1>
      <a:dk2>
        <a:srgbClr val="0E2841"/>
      </a:dk2>
      <a:lt2>
        <a:srgbClr val="E8E8E8"/>
      </a:lt2>
      <a:accent1>
        <a:srgbClr val="E9EEF4"/>
      </a:accent1>
      <a:accent2>
        <a:srgbClr val="37A6FA"/>
      </a:accent2>
      <a:accent3>
        <a:srgbClr val="215F9A"/>
      </a:accent3>
      <a:accent4>
        <a:srgbClr val="8CA8CA"/>
      </a:accent4>
      <a:accent5>
        <a:srgbClr val="3CABA1"/>
      </a:accent5>
      <a:accent6>
        <a:srgbClr val="D27779"/>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2_Office Theme">
  <a:themeElements>
    <a:clrScheme name="YouExec">
      <a:dk1>
        <a:srgbClr val="000000"/>
      </a:dk1>
      <a:lt1>
        <a:srgbClr val="FFFFFF"/>
      </a:lt1>
      <a:dk2>
        <a:srgbClr val="0E2841"/>
      </a:dk2>
      <a:lt2>
        <a:srgbClr val="E8E8E8"/>
      </a:lt2>
      <a:accent1>
        <a:srgbClr val="E9EEF4"/>
      </a:accent1>
      <a:accent2>
        <a:srgbClr val="37A6FA"/>
      </a:accent2>
      <a:accent3>
        <a:srgbClr val="215F9A"/>
      </a:accent3>
      <a:accent4>
        <a:srgbClr val="8CA8CA"/>
      </a:accent4>
      <a:accent5>
        <a:srgbClr val="3CABA1"/>
      </a:accent5>
      <a:accent6>
        <a:srgbClr val="D27779"/>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3856</TotalTime>
  <Words>4223</Words>
  <Application>Microsoft Office PowerPoint</Application>
  <PresentationFormat>Widescreen</PresentationFormat>
  <Paragraphs>517</Paragraphs>
  <Slides>31</Slides>
  <Notes>30</Notes>
  <HiddenSlides>0</HiddenSlides>
  <MMClips>0</MMClips>
  <ScaleCrop>false</ScaleCrop>
  <HeadingPairs>
    <vt:vector size="6" baseType="variant">
      <vt:variant>
        <vt:lpstr>Fonts Used</vt:lpstr>
      </vt:variant>
      <vt:variant>
        <vt:i4>14</vt:i4>
      </vt:variant>
      <vt:variant>
        <vt:lpstr>Theme</vt:lpstr>
      </vt:variant>
      <vt:variant>
        <vt:i4>13</vt:i4>
      </vt:variant>
      <vt:variant>
        <vt:lpstr>Slide Titles</vt:lpstr>
      </vt:variant>
      <vt:variant>
        <vt:i4>31</vt:i4>
      </vt:variant>
    </vt:vector>
  </HeadingPairs>
  <TitlesOfParts>
    <vt:vector size="58" baseType="lpstr">
      <vt:lpstr>Aptos</vt:lpstr>
      <vt:lpstr>Aptos Display</vt:lpstr>
      <vt:lpstr>Arial</vt:lpstr>
      <vt:lpstr>Calibri</vt:lpstr>
      <vt:lpstr>Cambria</vt:lpstr>
      <vt:lpstr>Cambria Math</vt:lpstr>
      <vt:lpstr>Consolas</vt:lpstr>
      <vt:lpstr>DM Sans</vt:lpstr>
      <vt:lpstr>Montserrat</vt:lpstr>
      <vt:lpstr>Montserrat SemiBold</vt:lpstr>
      <vt:lpstr>Rockwell</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2_Office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Salman Ahmad</dc:creator>
  <dc:description/>
  <cp:lastModifiedBy>Salman  Ahmad</cp:lastModifiedBy>
  <cp:revision>34</cp:revision>
  <dcterms:created xsi:type="dcterms:W3CDTF">2025-04-23T07:11:04Z</dcterms:created>
  <dcterms:modified xsi:type="dcterms:W3CDTF">2026-10-05T13:56:55Z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Widescreen</vt:lpwstr>
  </property>
  <property fmtid="{D5CDD505-2E9C-101B-9397-08002B2CF9AE}" pid="4" name="Slides">
    <vt:i4>15</vt:i4>
  </property>
</Properties>
</file>